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d7ba88b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d7ba88b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d7ba88bb0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7d7ba88bb0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de860b1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de860b1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de860b10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de860b1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de860b10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de860b10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a6e3c8a60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a6e3c8a60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a6e3c8a60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a6e3c8a60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a6e3c8a60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a6e3c8a60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a6e3c8a60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a6e3c8a60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a6e3c8a60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a6e3c8a60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a6e3c8a60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a6e3c8a60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de860b10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7de860b10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de860b10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de860b10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e6d9ed7b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e6d9ed7b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9da7303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9da7303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e6d9ed7b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e6d9ed7b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e6d9ed7b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7e6d9ed7b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e6d9ed7b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e6d9ed7b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995d25b4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8995d25b4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719125"/>
            <a:ext cx="8520600" cy="10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/>
              <a:t>Dissertation Project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/>
              <a:t>Lecture</a:t>
            </a:r>
            <a:r>
              <a:rPr lang="en-GB"/>
              <a:t> 2: </a:t>
            </a:r>
            <a:r>
              <a:rPr lang="en-GB"/>
              <a:t>Literature Review 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05875" y="2057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Mark Stevenson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(mark.stevenson@sheffield.ac.uk)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Decorative image"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6976" y="2849976"/>
            <a:ext cx="4798376" cy="21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GB" sz="2000">
                <a:solidFill>
                  <a:schemeClr val="dk1"/>
                </a:solidFill>
              </a:rPr>
              <a:t>Writing a Literature Review 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Char char="●"/>
            </a:pPr>
            <a:r>
              <a:rPr lang="en-GB" sz="2000">
                <a:solidFill>
                  <a:schemeClr val="dk1"/>
                </a:solidFill>
              </a:rPr>
              <a:t>Avoiding academic misconduct 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Role of Literature Review / Background 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Why include a literature review / background chapter?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Demonstrates understanding of your topic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Helps the reader place what you are doing within a wider context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Clarify which parts of your project are original and which are already known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to Include   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>
                <a:solidFill>
                  <a:schemeClr val="dk1"/>
                </a:solidFill>
              </a:rPr>
              <a:t>A good literature review/background should cover the background necessary for a reader to understand your project</a:t>
            </a:r>
            <a:endParaRPr>
              <a:solidFill>
                <a:schemeClr val="dk1"/>
              </a:solidFill>
            </a:endParaRPr>
          </a:p>
          <a:p>
            <a:pPr indent="-325755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1800">
                <a:solidFill>
                  <a:schemeClr val="dk1"/>
                </a:solidFill>
              </a:rPr>
              <a:t>You can assume that the reader has a </a:t>
            </a:r>
            <a:r>
              <a:rPr lang="en-GB" sz="1800">
                <a:solidFill>
                  <a:schemeClr val="dk1"/>
                </a:solidFill>
              </a:rPr>
              <a:t>general</a:t>
            </a:r>
            <a:r>
              <a:rPr lang="en-GB" sz="1800">
                <a:solidFill>
                  <a:schemeClr val="dk1"/>
                </a:solidFill>
              </a:rPr>
              <a:t> background in Computer Science so you don’t need to explain every concept</a:t>
            </a:r>
            <a:endParaRPr sz="1800">
              <a:solidFill>
                <a:schemeClr val="dk1"/>
              </a:solidFill>
            </a:endParaRPr>
          </a:p>
          <a:p>
            <a:pPr indent="-325755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1800">
                <a:solidFill>
                  <a:schemeClr val="dk1"/>
                </a:solidFill>
              </a:rPr>
              <a:t>A good level to aim for would be someone else on your course</a:t>
            </a:r>
            <a:endParaRPr sz="1800">
              <a:solidFill>
                <a:schemeClr val="dk1"/>
              </a:solidFill>
            </a:endParaRPr>
          </a:p>
          <a:p>
            <a:pPr indent="-325755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1800">
                <a:solidFill>
                  <a:schemeClr val="dk1"/>
                </a:solidFill>
              </a:rPr>
              <a:t>An important reader (from your point of view) is the second marker. They will be a member of staff but probably with different research interests to your supervisor</a:t>
            </a:r>
            <a:endParaRPr sz="1800"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>
                <a:solidFill>
                  <a:schemeClr val="dk1"/>
                </a:solidFill>
              </a:rPr>
              <a:t>Only </a:t>
            </a:r>
            <a:r>
              <a:rPr lang="en-GB">
                <a:solidFill>
                  <a:schemeClr val="dk1"/>
                </a:solidFill>
              </a:rPr>
              <a:t>include background information</a:t>
            </a:r>
            <a:endParaRPr>
              <a:solidFill>
                <a:schemeClr val="dk1"/>
              </a:solidFill>
            </a:endParaRPr>
          </a:p>
          <a:p>
            <a:pPr indent="-325755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ct val="100000"/>
              <a:buChar char="○"/>
            </a:pPr>
            <a:r>
              <a:rPr b="1" lang="en-GB" sz="1800">
                <a:solidFill>
                  <a:schemeClr val="dk1"/>
                </a:solidFill>
              </a:rPr>
              <a:t>Do not</a:t>
            </a:r>
            <a:r>
              <a:rPr lang="en-GB" sz="1800">
                <a:solidFill>
                  <a:schemeClr val="dk1"/>
                </a:solidFill>
              </a:rPr>
              <a:t> include requirements, choice of approaches etc. There are better places for these.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Background Information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Start with suggestions from your supervisor, but don’t just rely on them to provide everything 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 web makes it easy to find potentially useful background information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This is both a </a:t>
            </a:r>
            <a:r>
              <a:rPr b="1" lang="en-GB" sz="1800">
                <a:solidFill>
                  <a:schemeClr val="dk1"/>
                </a:solidFill>
              </a:rPr>
              <a:t>blessing</a:t>
            </a:r>
            <a:r>
              <a:rPr lang="en-GB" sz="1800">
                <a:solidFill>
                  <a:schemeClr val="dk1"/>
                </a:solidFill>
              </a:rPr>
              <a:t> and a </a:t>
            </a:r>
            <a:r>
              <a:rPr b="1" lang="en-GB" sz="1800">
                <a:solidFill>
                  <a:schemeClr val="dk1"/>
                </a:solidFill>
              </a:rPr>
              <a:t>curse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Be </a:t>
            </a:r>
            <a:r>
              <a:rPr b="1" lang="en-GB" sz="1800">
                <a:solidFill>
                  <a:schemeClr val="dk1"/>
                </a:solidFill>
              </a:rPr>
              <a:t>realistic</a:t>
            </a:r>
            <a:r>
              <a:rPr lang="en-GB" sz="1800">
                <a:solidFill>
                  <a:schemeClr val="dk1"/>
                </a:solidFill>
              </a:rPr>
              <a:t> about how much you can read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Aim to focus on material that is both </a:t>
            </a:r>
            <a:r>
              <a:rPr b="1" lang="en-GB">
                <a:solidFill>
                  <a:schemeClr val="dk1"/>
                </a:solidFill>
              </a:rPr>
              <a:t>high-quality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b="1" lang="en-GB">
                <a:solidFill>
                  <a:schemeClr val="dk1"/>
                </a:solidFill>
              </a:rPr>
              <a:t>and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b="1" lang="en-GB">
                <a:solidFill>
                  <a:schemeClr val="dk1"/>
                </a:solidFill>
              </a:rPr>
              <a:t>relevant to your project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Keep a note of </a:t>
            </a:r>
            <a:r>
              <a:rPr b="1" lang="en-GB">
                <a:solidFill>
                  <a:schemeClr val="dk1"/>
                </a:solidFill>
              </a:rPr>
              <a:t>everything</a:t>
            </a:r>
            <a:r>
              <a:rPr lang="en-GB">
                <a:solidFill>
                  <a:schemeClr val="dk1"/>
                </a:solidFill>
              </a:rPr>
              <a:t> you read, even if you don’t think it will be useful.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1018"/>
              <a:buNone/>
            </a:pPr>
            <a:r>
              <a:t/>
            </a:r>
            <a:endParaRPr sz="166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Academic Publication Types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612400" cy="3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-34480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5631">
                <a:solidFill>
                  <a:schemeClr val="dk1"/>
                </a:solidFill>
              </a:rPr>
              <a:t>Conference Paper</a:t>
            </a:r>
            <a:endParaRPr b="1" sz="5631">
              <a:solidFill>
                <a:schemeClr val="dk1"/>
              </a:solidFill>
            </a:endParaRPr>
          </a:p>
          <a:p>
            <a:pPr indent="-31940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4400">
                <a:solidFill>
                  <a:schemeClr val="dk1"/>
                </a:solidFill>
              </a:rPr>
              <a:t>Normally short (&lt; 10 pages)</a:t>
            </a:r>
            <a:endParaRPr sz="4400">
              <a:solidFill>
                <a:schemeClr val="dk1"/>
              </a:solidFill>
            </a:endParaRPr>
          </a:p>
          <a:p>
            <a:pPr indent="-31940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4400">
                <a:solidFill>
                  <a:schemeClr val="dk1"/>
                </a:solidFill>
              </a:rPr>
              <a:t>Often first publication of results (publication often driven by conference deadline)</a:t>
            </a:r>
            <a:endParaRPr sz="4400">
              <a:solidFill>
                <a:schemeClr val="dk1"/>
              </a:solidFill>
            </a:endParaRPr>
          </a:p>
          <a:p>
            <a:pPr indent="-31940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4400">
                <a:solidFill>
                  <a:schemeClr val="dk1"/>
                </a:solidFill>
              </a:rPr>
              <a:t>Often highly condensed</a:t>
            </a:r>
            <a:endParaRPr sz="4400">
              <a:solidFill>
                <a:schemeClr val="dk1"/>
              </a:solidFill>
            </a:endParaRPr>
          </a:p>
          <a:p>
            <a:pPr indent="-342106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5500">
                <a:solidFill>
                  <a:schemeClr val="dk1"/>
                </a:solidFill>
              </a:rPr>
              <a:t>Journal Paper</a:t>
            </a:r>
            <a:endParaRPr b="1" sz="5500">
              <a:solidFill>
                <a:schemeClr val="dk1"/>
              </a:solidFill>
            </a:endParaRPr>
          </a:p>
          <a:p>
            <a:pPr indent="-31940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4400">
                <a:solidFill>
                  <a:schemeClr val="dk1"/>
                </a:solidFill>
              </a:rPr>
              <a:t>Normally longer (may be &gt; 20 pages) </a:t>
            </a:r>
            <a:endParaRPr sz="4400">
              <a:solidFill>
                <a:schemeClr val="dk1"/>
              </a:solidFill>
            </a:endParaRPr>
          </a:p>
          <a:p>
            <a:pPr indent="-31940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4400">
                <a:solidFill>
                  <a:schemeClr val="dk1"/>
                </a:solidFill>
              </a:rPr>
              <a:t>Often summarise results / findings of one or more previous papers</a:t>
            </a:r>
            <a:endParaRPr sz="4400">
              <a:solidFill>
                <a:schemeClr val="dk1"/>
              </a:solidFill>
            </a:endParaRPr>
          </a:p>
          <a:p>
            <a:pPr indent="-31940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4400">
                <a:solidFill>
                  <a:schemeClr val="dk1"/>
                </a:solidFill>
              </a:rPr>
              <a:t>More detailed but still condensed</a:t>
            </a:r>
            <a:endParaRPr sz="4400">
              <a:solidFill>
                <a:schemeClr val="dk1"/>
              </a:solidFill>
            </a:endParaRPr>
          </a:p>
          <a:p>
            <a:pPr indent="-342106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5500">
                <a:solidFill>
                  <a:schemeClr val="dk1"/>
                </a:solidFill>
              </a:rPr>
              <a:t>Book</a:t>
            </a:r>
            <a:endParaRPr b="1" sz="5500">
              <a:solidFill>
                <a:schemeClr val="dk1"/>
              </a:solidFill>
            </a:endParaRPr>
          </a:p>
          <a:p>
            <a:pPr indent="-31940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4400">
                <a:solidFill>
                  <a:schemeClr val="dk1"/>
                </a:solidFill>
              </a:rPr>
              <a:t>Often background material aimed towards students and researchers </a:t>
            </a:r>
            <a:endParaRPr sz="4400">
              <a:solidFill>
                <a:schemeClr val="dk1"/>
              </a:solidFill>
            </a:endParaRPr>
          </a:p>
          <a:p>
            <a:pPr indent="-342106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5500">
                <a:solidFill>
                  <a:schemeClr val="dk1"/>
                </a:solidFill>
              </a:rPr>
              <a:t>Book Chapter</a:t>
            </a:r>
            <a:endParaRPr b="1" sz="5500">
              <a:solidFill>
                <a:schemeClr val="dk1"/>
              </a:solidFill>
            </a:endParaRPr>
          </a:p>
          <a:p>
            <a:pPr indent="-31940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4400">
                <a:solidFill>
                  <a:schemeClr val="dk1"/>
                </a:solidFill>
              </a:rPr>
              <a:t>Often teaching material for practising scientists</a:t>
            </a:r>
            <a:endParaRPr sz="4400">
              <a:solidFill>
                <a:schemeClr val="dk1"/>
              </a:solidFill>
            </a:endParaRPr>
          </a:p>
          <a:p>
            <a:pPr indent="-31940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4400">
                <a:solidFill>
                  <a:schemeClr val="dk1"/>
                </a:solidFill>
              </a:rPr>
              <a:t>Not a common format in many areas of Computer Science </a:t>
            </a:r>
            <a:endParaRPr sz="4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you know if something</a:t>
            </a:r>
            <a:r>
              <a:rPr lang="en-GB"/>
              <a:t> is worth reading?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Difficult to give a clear guide over whether a paper will be worth the time you will need to invest to read it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Supervisor may be able to give advice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Some (quite noisy) indicators of quality: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Venue (good conference/journal? </a:t>
            </a:r>
            <a:r>
              <a:rPr lang="en-GB" sz="1600">
                <a:solidFill>
                  <a:schemeClr val="dk1"/>
                </a:solidFill>
              </a:rPr>
              <a:t>p</a:t>
            </a:r>
            <a:r>
              <a:rPr lang="en-GB" sz="1600">
                <a:solidFill>
                  <a:schemeClr val="dk1"/>
                </a:solidFill>
              </a:rPr>
              <a:t>eer-reviewed?)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Authors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Citation count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But these won’t tell you whether the paper is </a:t>
            </a:r>
            <a:r>
              <a:rPr b="1" lang="en-GB">
                <a:solidFill>
                  <a:schemeClr val="dk1"/>
                </a:solidFill>
              </a:rPr>
              <a:t>relevant</a:t>
            </a:r>
            <a:r>
              <a:rPr lang="en-GB">
                <a:solidFill>
                  <a:schemeClr val="dk1"/>
                </a:solidFill>
              </a:rPr>
              <a:t> to your project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a Paper: </a:t>
            </a:r>
            <a:r>
              <a:rPr lang="en-GB"/>
              <a:t>The Three Pass Approach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Keshav, Srinivasan. "How to read a paper." </a:t>
            </a:r>
            <a:r>
              <a:rPr i="1" lang="en-GB">
                <a:solidFill>
                  <a:schemeClr val="dk1"/>
                </a:solidFill>
              </a:rPr>
              <a:t>ACM SIGCOMM Computer Communication Review </a:t>
            </a:r>
            <a:r>
              <a:rPr lang="en-GB">
                <a:solidFill>
                  <a:schemeClr val="dk1"/>
                </a:solidFill>
              </a:rPr>
              <a:t>37.3 (2007): 83-84.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● Read a paper in (up to) three passes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● Each pass takes progressively longer, allowing you to go into the paper in more depth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● Choose the appropriate level depending on how important the paper is to you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Pass 1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Should take about 5-10 minutes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● Approach: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○ Read the title, abstract and introduction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○ Read the headings and sub-headings (ignore everything else)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○ Read the conclusion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● By the end of this pass you should have a good idea about the type of paper, its contributions and where it fits in the literature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If you think it’s worth understanding the paper in more detail then </a:t>
            </a:r>
            <a:r>
              <a:rPr lang="en-GB">
                <a:solidFill>
                  <a:schemeClr val="dk1"/>
                </a:solidFill>
              </a:rPr>
              <a:t>continue</a:t>
            </a:r>
            <a:r>
              <a:rPr lang="en-GB">
                <a:solidFill>
                  <a:schemeClr val="dk1"/>
                </a:solidFill>
              </a:rPr>
              <a:t> to Pass 2, otherwise stop.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Pass 2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Should take about 1 hour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● Read the whole paper (possibly ignoring detailed parts such as derivations or proofs)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● By the end of this you should be able to grasp the content of and summarize the paper.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● Sometimes you still might not understand it, e.g. if it uses approaches that you are not familiar with, or is just badly written.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Pass 3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Can take up to 4 or 5 hours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Read the paper very carefully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Identify and challenge every assumption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Think about whether the experimental results support the claims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Virtually re-implement the paper: Think about how you might carry out the same research if you were to do it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Unlikely</a:t>
            </a:r>
            <a:r>
              <a:rPr lang="en-GB">
                <a:solidFill>
                  <a:schemeClr val="dk1"/>
                </a:solidFill>
              </a:rPr>
              <a:t> to need to read many</a:t>
            </a:r>
            <a:r>
              <a:rPr lang="en-GB">
                <a:solidFill>
                  <a:schemeClr val="dk1"/>
                </a:solidFill>
              </a:rPr>
              <a:t> papers to this level of detail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Organising Your Literature Review 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Should be focussed around your project’s topic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Aim to </a:t>
            </a:r>
            <a:r>
              <a:rPr b="1" lang="en-GB">
                <a:solidFill>
                  <a:schemeClr val="dk1"/>
                </a:solidFill>
              </a:rPr>
              <a:t>synthesize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summarise</a:t>
            </a:r>
            <a:r>
              <a:rPr lang="en-GB">
                <a:solidFill>
                  <a:schemeClr val="dk1"/>
                </a:solidFill>
              </a:rPr>
              <a:t> what you have read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Synthesis: combine elements of different sources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Summarise: identify and report the </a:t>
            </a:r>
            <a:r>
              <a:rPr lang="en-GB" sz="1600">
                <a:solidFill>
                  <a:schemeClr val="dk1"/>
                </a:solidFill>
              </a:rPr>
              <a:t>important</a:t>
            </a:r>
            <a:r>
              <a:rPr lang="en-GB" sz="1600">
                <a:solidFill>
                  <a:schemeClr val="dk1"/>
                </a:solidFill>
              </a:rPr>
              <a:t> points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Avoid writing a list of what you have read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End by identify the open areas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Ideally these will form a natural link to </a:t>
            </a:r>
            <a:r>
              <a:rPr lang="en-GB" sz="1600">
                <a:solidFill>
                  <a:schemeClr val="dk1"/>
                </a:solidFill>
              </a:rPr>
              <a:t>what</a:t>
            </a:r>
            <a:r>
              <a:rPr lang="en-GB" sz="1600">
                <a:solidFill>
                  <a:schemeClr val="dk1"/>
                </a:solidFill>
              </a:rPr>
              <a:t> you do during your project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Structuring Your Literature Review 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Two main options: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Chronological</a:t>
            </a:r>
            <a:endParaRPr b="1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Present </a:t>
            </a:r>
            <a:r>
              <a:rPr lang="en-GB" sz="1600">
                <a:solidFill>
                  <a:schemeClr val="dk1"/>
                </a:solidFill>
              </a:rPr>
              <a:t>background</a:t>
            </a:r>
            <a:r>
              <a:rPr lang="en-GB" sz="1600">
                <a:solidFill>
                  <a:schemeClr val="dk1"/>
                </a:solidFill>
              </a:rPr>
              <a:t> material</a:t>
            </a:r>
            <a:r>
              <a:rPr lang="en-GB" sz="1600">
                <a:solidFill>
                  <a:schemeClr val="dk1"/>
                </a:solidFill>
              </a:rPr>
              <a:t> in order it appeared (e.g. publication date)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Thematic</a:t>
            </a:r>
            <a:endParaRPr b="1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Organise review around the main themes / approaches 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The</a:t>
            </a:r>
            <a:r>
              <a:rPr b="1" lang="en-GB">
                <a:solidFill>
                  <a:schemeClr val="dk1"/>
                </a:solidFill>
              </a:rPr>
              <a:t>matic</a:t>
            </a:r>
            <a:r>
              <a:rPr b="1" lang="en-GB">
                <a:solidFill>
                  <a:schemeClr val="dk1"/>
                </a:solidFill>
              </a:rPr>
              <a:t> approach is </a:t>
            </a:r>
            <a:r>
              <a:rPr b="1" lang="en-GB">
                <a:solidFill>
                  <a:schemeClr val="dk1"/>
                </a:solidFill>
              </a:rPr>
              <a:t>normally</a:t>
            </a:r>
            <a:r>
              <a:rPr b="1" lang="en-GB">
                <a:solidFill>
                  <a:schemeClr val="dk1"/>
                </a:solidFill>
              </a:rPr>
              <a:t> best</a:t>
            </a:r>
            <a:r>
              <a:rPr lang="en-GB">
                <a:solidFill>
                  <a:schemeClr val="dk1"/>
                </a:solidFill>
              </a:rPr>
              <a:t>, since easier to synthesize and summarise, but might also include some chronological elements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128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Citing Previous Work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190775" y="808350"/>
            <a:ext cx="8757000" cy="40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Citations have </a:t>
            </a:r>
            <a:r>
              <a:rPr lang="en-GB">
                <a:solidFill>
                  <a:schemeClr val="dk1"/>
                </a:solidFill>
              </a:rPr>
              <a:t>multiple</a:t>
            </a:r>
            <a:r>
              <a:rPr lang="en-GB">
                <a:solidFill>
                  <a:schemeClr val="dk1"/>
                </a:solidFill>
              </a:rPr>
              <a:t> functions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Demonstrate how your work is relates to previous contributions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Provide evidence for a claim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Strengthen your argument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Acknowledge previous contributions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Always </a:t>
            </a:r>
            <a:r>
              <a:rPr lang="en-GB">
                <a:solidFill>
                  <a:schemeClr val="dk1"/>
                </a:solidFill>
              </a:rPr>
              <a:t>provide enough information for someone else to be able to find the source you’re citing (if they want to)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Avoid citing web pages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Ask yourself whether this is the best citation you can find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Footnote normally more appropriate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28690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Citation Styles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>
                <a:solidFill>
                  <a:schemeClr val="dk1"/>
                </a:solidFill>
              </a:rPr>
              <a:t>Many different styles, e.g.</a:t>
            </a:r>
            <a:endParaRPr>
              <a:solidFill>
                <a:schemeClr val="dk1"/>
              </a:solidFill>
            </a:endParaRPr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-GB" sz="1600">
                <a:solidFill>
                  <a:schemeClr val="dk1"/>
                </a:solidFill>
              </a:rPr>
              <a:t>Harvard</a:t>
            </a:r>
            <a:r>
              <a:rPr lang="en-GB" sz="1600">
                <a:solidFill>
                  <a:schemeClr val="dk1"/>
                </a:solidFill>
              </a:rPr>
              <a:t>: Smith (2025) / (Smith, 2025)</a:t>
            </a:r>
            <a:endParaRPr sz="1600">
              <a:solidFill>
                <a:schemeClr val="dk1"/>
              </a:solidFill>
            </a:endParaRPr>
          </a:p>
          <a:p>
            <a:pPr indent="-32258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GB" sz="1600">
                <a:solidFill>
                  <a:schemeClr val="dk1"/>
                </a:solidFill>
              </a:rPr>
              <a:t>“The algorithm was introduced by Smith (2025).” </a:t>
            </a:r>
            <a:endParaRPr sz="1600">
              <a:solidFill>
                <a:schemeClr val="dk1"/>
              </a:solidFill>
            </a:endParaRPr>
          </a:p>
          <a:p>
            <a:pPr indent="-32258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GB" sz="1600">
                <a:solidFill>
                  <a:schemeClr val="dk1"/>
                </a:solidFill>
              </a:rPr>
              <a:t>“Previous approaches included greedy </a:t>
            </a:r>
            <a:r>
              <a:rPr lang="en-GB" sz="1600">
                <a:solidFill>
                  <a:schemeClr val="dk1"/>
                </a:solidFill>
              </a:rPr>
              <a:t>algorithms</a:t>
            </a:r>
            <a:r>
              <a:rPr lang="en-GB" sz="1600">
                <a:solidFill>
                  <a:schemeClr val="dk1"/>
                </a:solidFill>
              </a:rPr>
              <a:t> (Smith, 2025; Jones, 2023).”</a:t>
            </a:r>
            <a:endParaRPr sz="1600">
              <a:solidFill>
                <a:schemeClr val="dk1"/>
              </a:solidFill>
            </a:endParaRPr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-GB" sz="1600">
                <a:solidFill>
                  <a:schemeClr val="dk1"/>
                </a:solidFill>
              </a:rPr>
              <a:t>IEEE</a:t>
            </a:r>
            <a:r>
              <a:rPr lang="en-GB" sz="1600">
                <a:solidFill>
                  <a:schemeClr val="dk1"/>
                </a:solidFill>
              </a:rPr>
              <a:t>: [1] (references </a:t>
            </a:r>
            <a:r>
              <a:rPr lang="en-GB" sz="1600">
                <a:solidFill>
                  <a:schemeClr val="dk1"/>
                </a:solidFill>
              </a:rPr>
              <a:t>organised in order of appearance </a:t>
            </a:r>
            <a:r>
              <a:rPr lang="en-GB" sz="1600">
                <a:solidFill>
                  <a:schemeClr val="dk1"/>
                </a:solidFill>
              </a:rPr>
              <a:t>in </a:t>
            </a:r>
            <a:r>
              <a:rPr lang="en-GB" sz="1600">
                <a:solidFill>
                  <a:schemeClr val="dk1"/>
                </a:solidFill>
              </a:rPr>
              <a:t>bibliography</a:t>
            </a:r>
            <a:r>
              <a:rPr lang="en-GB" sz="1600">
                <a:solidFill>
                  <a:schemeClr val="dk1"/>
                </a:solidFill>
              </a:rPr>
              <a:t>)</a:t>
            </a:r>
            <a:endParaRPr sz="1600">
              <a:solidFill>
                <a:schemeClr val="dk1"/>
              </a:solidFill>
            </a:endParaRPr>
          </a:p>
          <a:p>
            <a:pPr indent="-32258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GB" sz="1600">
                <a:solidFill>
                  <a:schemeClr val="dk1"/>
                </a:solidFill>
              </a:rPr>
              <a:t>“Previous approaches included greedy algorithms [1,2].”</a:t>
            </a:r>
            <a:endParaRPr sz="1600">
              <a:solidFill>
                <a:schemeClr val="dk1"/>
              </a:solidFill>
            </a:endParaRPr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-GB" sz="1600">
                <a:solidFill>
                  <a:schemeClr val="dk1"/>
                </a:solidFill>
              </a:rPr>
              <a:t>Vancouver</a:t>
            </a:r>
            <a:r>
              <a:rPr lang="en-GB" sz="1600">
                <a:solidFill>
                  <a:schemeClr val="dk1"/>
                </a:solidFill>
              </a:rPr>
              <a:t>:  [1] (references organised alphabetically)</a:t>
            </a:r>
            <a:endParaRPr sz="1600">
              <a:solidFill>
                <a:schemeClr val="dk1"/>
              </a:solidFill>
            </a:endParaRPr>
          </a:p>
          <a:p>
            <a:pPr indent="-32258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GB" sz="1600">
                <a:solidFill>
                  <a:schemeClr val="dk1"/>
                </a:solidFill>
              </a:rPr>
              <a:t>“Previous approaches included greedy algorithms [2,1].”</a:t>
            </a:r>
            <a:endParaRPr sz="1600">
              <a:solidFill>
                <a:schemeClr val="dk1"/>
              </a:solidFill>
            </a:endParaRPr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1600">
                <a:solidFill>
                  <a:schemeClr val="dk1"/>
                </a:solidFill>
              </a:rPr>
              <a:t>If using IEEE/Vancouver then don’t use citations as proper nouns, e.g “[1] introduced the algorithm.”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>
                <a:solidFill>
                  <a:schemeClr val="dk1"/>
                </a:solidFill>
              </a:rPr>
              <a:t>Particular style is less important than using </a:t>
            </a:r>
            <a:r>
              <a:rPr b="1" lang="en-GB">
                <a:solidFill>
                  <a:schemeClr val="dk1"/>
                </a:solidFill>
              </a:rPr>
              <a:t>one style consistently</a:t>
            </a: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GB" sz="1600">
                <a:solidFill>
                  <a:schemeClr val="dk1"/>
                </a:solidFill>
              </a:rPr>
              <a:t>Easiest way to do this is to use tool designed for academic writing (e.g. LaTeX)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Quotations</a:t>
            </a:r>
            <a:endParaRPr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Probably only need a few direct quotations (if any)</a:t>
            </a: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Avoid </a:t>
            </a:r>
            <a:r>
              <a:rPr lang="en-GB">
                <a:solidFill>
                  <a:schemeClr val="dk1"/>
                </a:solidFill>
              </a:rPr>
              <a:t>directly</a:t>
            </a:r>
            <a:r>
              <a:rPr lang="en-GB">
                <a:solidFill>
                  <a:schemeClr val="dk1"/>
                </a:solidFill>
              </a:rPr>
              <a:t> quoting long chunks of text (e.g. more than one or two sentences), a summary is more appropriate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 </a:t>
            </a:r>
            <a:r>
              <a:rPr lang="en-GB">
                <a:solidFill>
                  <a:schemeClr val="dk1"/>
                </a:solidFill>
              </a:rPr>
              <a:t>quotation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b="1" lang="en-GB">
                <a:solidFill>
                  <a:schemeClr val="dk1"/>
                </a:solidFill>
              </a:rPr>
              <a:t>may</a:t>
            </a:r>
            <a:r>
              <a:rPr lang="en-GB">
                <a:solidFill>
                  <a:schemeClr val="dk1"/>
                </a:solidFill>
              </a:rPr>
              <a:t> be </a:t>
            </a:r>
            <a:r>
              <a:rPr lang="en-GB">
                <a:solidFill>
                  <a:schemeClr val="dk1"/>
                </a:solidFill>
              </a:rPr>
              <a:t>appropriate</a:t>
            </a:r>
            <a:r>
              <a:rPr lang="en-GB">
                <a:solidFill>
                  <a:schemeClr val="dk1"/>
                </a:solidFill>
              </a:rPr>
              <a:t> for a </a:t>
            </a:r>
            <a:r>
              <a:rPr lang="en-GB">
                <a:solidFill>
                  <a:schemeClr val="dk1"/>
                </a:solidFill>
              </a:rPr>
              <a:t>short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chemeClr val="dk1"/>
                </a:solidFill>
              </a:rPr>
              <a:t>phrase where this is a technical term or an unusual phrase and you want to acknowledge the source (e.g. “distributional hypothesis” (Harris, 1954)) but not required for a common phrase (e.g. algorithm, neural network)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Plagiarism</a:t>
            </a:r>
            <a:endParaRPr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Plagiarism is the unacknowledged use of someone else’s work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Examples of plagiarism: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Cutting/pasting text without using quotation marks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Closely paraphrasing or summarising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Claiming ideas or arguments as your own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Taking drawings, graphs, or graphical material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 source (article, student submission, website, etc.) is not relevant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Unintentional Plagiarism</a:t>
            </a:r>
            <a:endParaRPr/>
          </a:p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It is </a:t>
            </a:r>
            <a:r>
              <a:rPr b="1" lang="en-GB">
                <a:solidFill>
                  <a:schemeClr val="dk1"/>
                </a:solidFill>
              </a:rPr>
              <a:t>surprisingly easy</a:t>
            </a:r>
            <a:r>
              <a:rPr lang="en-GB">
                <a:solidFill>
                  <a:schemeClr val="dk1"/>
                </a:solidFill>
              </a:rPr>
              <a:t> to plagiarise others’ work when writing a literature review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Best way to avoid this is to </a:t>
            </a:r>
            <a:r>
              <a:rPr b="1" lang="en-GB">
                <a:solidFill>
                  <a:schemeClr val="dk1"/>
                </a:solidFill>
              </a:rPr>
              <a:t>separate</a:t>
            </a:r>
            <a:r>
              <a:rPr b="1" lang="en-GB">
                <a:solidFill>
                  <a:schemeClr val="dk1"/>
                </a:solidFill>
              </a:rPr>
              <a:t> reading </a:t>
            </a:r>
            <a:r>
              <a:rPr b="1" lang="en-GB">
                <a:solidFill>
                  <a:schemeClr val="dk1"/>
                </a:solidFill>
              </a:rPr>
              <a:t>background</a:t>
            </a:r>
            <a:r>
              <a:rPr b="1" lang="en-GB">
                <a:solidFill>
                  <a:schemeClr val="dk1"/>
                </a:solidFill>
              </a:rPr>
              <a:t> material and writing your literature review: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Read the material that you might include in your literature review and take </a:t>
            </a:r>
            <a:r>
              <a:rPr lang="en-GB">
                <a:solidFill>
                  <a:schemeClr val="dk1"/>
                </a:solidFill>
              </a:rPr>
              <a:t>notes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Use the notes to organise your literature review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Write the review based on your notes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Don’t look at the original material again until after you’ve written the review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Try to avoid reading the </a:t>
            </a:r>
            <a:r>
              <a:rPr b="1" lang="en-GB">
                <a:solidFill>
                  <a:schemeClr val="dk1"/>
                </a:solidFill>
              </a:rPr>
              <a:t>background</a:t>
            </a:r>
            <a:r>
              <a:rPr b="1" lang="en-GB">
                <a:solidFill>
                  <a:schemeClr val="dk1"/>
                </a:solidFill>
              </a:rPr>
              <a:t> </a:t>
            </a:r>
            <a:r>
              <a:rPr b="1" lang="en-GB">
                <a:solidFill>
                  <a:schemeClr val="dk1"/>
                </a:solidFill>
              </a:rPr>
              <a:t>material</a:t>
            </a:r>
            <a:r>
              <a:rPr b="1" lang="en-GB">
                <a:solidFill>
                  <a:schemeClr val="dk1"/>
                </a:solidFill>
              </a:rPr>
              <a:t> at the same time as writing parts of your literature </a:t>
            </a:r>
            <a:r>
              <a:rPr b="1" lang="en-GB">
                <a:solidFill>
                  <a:schemeClr val="dk1"/>
                </a:solidFill>
              </a:rPr>
              <a:t>review</a:t>
            </a: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Writing a good literature review is difficult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Aim to synthesise and summarise the most </a:t>
            </a:r>
            <a:r>
              <a:rPr lang="en-GB">
                <a:solidFill>
                  <a:schemeClr val="dk1"/>
                </a:solidFill>
              </a:rPr>
              <a:t>important</a:t>
            </a:r>
            <a:r>
              <a:rPr lang="en-GB">
                <a:solidFill>
                  <a:schemeClr val="dk1"/>
                </a:solidFill>
              </a:rPr>
              <a:t> previous work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</a:rPr>
              <a:t>Next time </a:t>
            </a:r>
            <a:endParaRPr sz="2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Ethical approval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