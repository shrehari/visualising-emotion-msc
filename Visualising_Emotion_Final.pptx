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Good afternoon. My project measures whether an AI-generated drawing agrees emotionally with the words that produced it. The data is real: about a thousand members of the public at a science festival typed how they were feeling, and DALL-E drew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You can check 'a red car' — look for a car, check it's red. That is what text-to-image evaluation does today. But 'tired but happy' has no object and no correct answer. So my research question is deliberately precise: to what extent does an automatic image-emotion reader AGREE with the emotion read from the prompt. Four sub-questions follow from it, and each one becomes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Four areas are each well established on their own. Reading emotion from text. Generating emotional images — where the literature says colour carries most of the affect. Evaluating text-to-image output, but for objects, not feelings. And reading emotion back out of an image, which is known to be weak and positively biased. The gap sits between them. I should be explicit: I cite the colour work as motivation for why line art is hard. I have no colour condition, so I make no claim about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is the contribution, and my supervisor named it. Emotion is subjective. There is no ground truth. Humans disagree with each other and the models are noisy. So asking whether the image emotion MATCHES the text, right or wrong, is too simplistic. Instead I measure how SIMILAR the two readings are, on a four-level ladder over emotion families, so that 'happy' and 'excited' count as close rather than as a miss. That is the novel element — the field reports one-to-one accuracy; I report graded similarity, and every level is referenced to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My supervisor's instruction was: don't force CLIP to output an emotion, because CLIP is trained on real colour photographs and is good at objects, not affect. So the image is DESCRIBED first — five factual questions to BLIP-VQA, assembled into one neutral sentence — and a separate language model reads the feeling out of that sentence. The prompt goes through GoEmotions into the same seven families. Now both sides are text, and I compare text to text on a four-level ladder. I should flag one honest caveat: asking 'what is the facial expression' often returns a feeling word, so the separation is weaker than it first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A thousand and twenty-five real self-reports. Three things had to be solved before any analysis. Three different filename systems — a naive loader finds under a fifth of the files. Hidden C2PA signing timestamps inside each PNG, which let me identify thirteen images made before the festival: developer tests, excluded. And a pre-processing step: eight records contained real names, replaced with a placeholder, and I verified that redaction changed no emotion label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This is the slide I would most like you to take away. Two checks decide whether any of my numbers mean anything. First, every figure is measured against a random-pairing null — I shuffle the images against the prompts three hundred times and see what chance alone produces. Second, a specificity check: four hundred prompts contain no feeling at all, things like 'pigs' and 'mickey mouse', and on those the pipeline sits exactly on chance. It reports agreement only where there is emotion to find. And third — the scale does not start at zero. The valence-arousal metric has a floor of forty-one and random pairs already score seventy-six. So a seventy-one looks like a pass and is actually below chance. That is why I lead with the other two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Agreement is well above chance overall — sixty-four per cent valence-sign against a null of forty-six, z over eleven. It is strongest for face-classified drawings at seventy-four per cent, and weaker but still above chance for scenes. On the non-emotional prompts the sign and family measures are degenerate by the subset's own definition, so I report only the valence-arousal specificity result there. Three further results. Repeated prompts: the reader recovers the same emotion sixty-nine per cent of the time against a fifty-nine per cent null. The method comparison favours describe-then-extract, roughly double, though I should note the prompt reader differs between the two arms. And on distinct prompts only, the face result holds while the scene result weakens substantially — I report that rather than claiming everything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 LIVE DEMO] Switch to the browser. Pick the sad example. Talk through: here are the five factual answers the image model gave. Here is the feeling the language model read out of that description. Here is what GoEmotions read from the words. And here is the comparison — note the chance line, and that the headline says 'closer than N per cent of random pairings' rather than a bare score. Keep it to ninety seconds and return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To close. Established: agreement well above chance on every metric; substantially higher for face-classified drawings; the same prompt does not reliably give the same recovered emotion; and describe-then-extract agrees more than asking the image model directly. Not established, and I want to say these before you ask: what a human perceives — both my readers are automatic and they disagree with each other; whether the face-scene gap is statistically significant, since no formal test has been run; anything about colour; and any positive-versus-negative direction, which I withdrew. The contribution is the chance-referenced similarity measure itself, not a new classifier.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1965960"/>
            <a:ext cx="1078992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Visualising Emotion</a:t>
            </a:r>
            <a:endParaRPr lang="en-US" sz="5400" dirty="0"/>
          </a:p>
        </p:txBody>
      </p:sp>
      <p:sp>
        <p:nvSpPr>
          <p:cNvPr id="3" name="Text 1"/>
          <p:cNvSpPr txBox="1"/>
          <p:nvPr/>
        </p:nvSpPr>
        <p:spPr>
          <a:xfrm>
            <a:off x="685800" y="3063240"/>
            <a:ext cx="10058400" cy="548640"/>
          </a:xfrm>
          <a:prstGeom prst="rect">
            <a:avLst/>
          </a:prstGeom>
          <a:noFill/>
          <a:ln/>
        </p:spPr>
        <p:txBody>
          <a:bodyPr wrap="square" lIns="0" tIns="0" rIns="0" bIns="0" rtlCol="0" anchor="ctr"/>
          <a:lstStyle/>
          <a:p>
            <a:pPr indent="0" marL="0">
              <a:buNone/>
            </a:pPr>
            <a:r>
              <a:rPr lang="en-US" sz="2100" i="1" dirty="0">
                <a:solidFill>
                  <a:srgbClr val="B9C9D1"/>
                </a:solidFill>
                <a:latin typeface="Cambria" pitchFamily="34" charset="0"/>
                <a:ea typeface="Cambria" pitchFamily="34" charset="-122"/>
                <a:cs typeface="Cambria" pitchFamily="34" charset="-120"/>
              </a:rPr>
              <a:t>Measuring agreement between a written feeling and an AI-generated drawing</a:t>
            </a:r>
            <a:endParaRPr lang="en-US" sz="2100" dirty="0"/>
          </a:p>
        </p:txBody>
      </p:sp>
      <p:sp>
        <p:nvSpPr>
          <p:cNvPr id="4" name="Shape 2"/>
          <p:cNvSpPr/>
          <p:nvPr/>
        </p:nvSpPr>
        <p:spPr>
          <a:xfrm>
            <a:off x="685800" y="3886200"/>
            <a:ext cx="2743200" cy="0"/>
          </a:xfrm>
          <a:prstGeom prst="line">
            <a:avLst/>
          </a:prstGeom>
          <a:noFill/>
          <a:ln w="19050">
            <a:solidFill>
              <a:srgbClr val="3A5A6B"/>
            </a:solidFill>
            <a:prstDash val="solid"/>
          </a:ln>
        </p:spPr>
      </p:sp>
      <p:sp>
        <p:nvSpPr>
          <p:cNvPr id="5" name="Text 3"/>
          <p:cNvSpPr txBox="1"/>
          <p:nvPr/>
        </p:nvSpPr>
        <p:spPr>
          <a:xfrm>
            <a:off x="685800" y="4160520"/>
            <a:ext cx="7315200" cy="1097280"/>
          </a:xfrm>
          <a:prstGeom prst="rect">
            <a:avLst/>
          </a:prstGeom>
          <a:noFill/>
          <a:ln/>
        </p:spPr>
        <p:txBody>
          <a:bodyPr wrap="square" lIns="0" tIns="0" rIns="0" bIns="0" rtlCol="0" anchor="ctr"/>
          <a:lstStyle/>
          <a:p>
            <a:pPr indent="0" marL="0">
              <a:lnSpc>
                <a:spcPts val="2200"/>
              </a:lnSpc>
              <a:buNone/>
            </a:pPr>
            <a:r>
              <a:rPr lang="en-US" sz="1400" b="1" dirty="0">
                <a:solidFill>
                  <a:srgbClr val="B9C9D1"/>
                </a:solidFill>
                <a:latin typeface="Calibri" pitchFamily="34" charset="0"/>
                <a:ea typeface="Calibri" pitchFamily="34" charset="-122"/>
                <a:cs typeface="Calibri" pitchFamily="34" charset="-120"/>
              </a:rPr>
              <a:t>Shre Hari Prem Anandh</a:t>
            </a:r>
            <a:endParaRPr lang="en-US" sz="1400" dirty="0"/>
          </a:p>
          <a:p>
            <a:pPr indent="0" marL="0">
              <a:lnSpc>
                <a:spcPts val="2200"/>
              </a:lnSpc>
              <a:buNone/>
            </a:pPr>
            <a:r>
              <a:rPr lang="en-US" sz="1400" dirty="0">
                <a:solidFill>
                  <a:srgbClr val="B9C9D1"/>
                </a:solidFill>
                <a:latin typeface="Calibri" pitchFamily="34" charset="0"/>
                <a:ea typeface="Calibri" pitchFamily="34" charset="-122"/>
                <a:cs typeface="Calibri" pitchFamily="34" charset="-120"/>
              </a:rPr>
              <a:t>MSc Artificial Intelligence · School of Computer Science</a:t>
            </a:r>
            <a:endParaRPr lang="en-US" sz="1400" dirty="0"/>
          </a:p>
          <a:p>
            <a:pPr indent="0" marL="0">
              <a:lnSpc>
                <a:spcPts val="2200"/>
              </a:lnSpc>
              <a:buNone/>
            </a:pPr>
            <a:r>
              <a:rPr lang="en-US" sz="1400" dirty="0">
                <a:solidFill>
                  <a:srgbClr val="B9C9D1"/>
                </a:solidFill>
                <a:latin typeface="Calibri" pitchFamily="34" charset="0"/>
                <a:ea typeface="Calibri" pitchFamily="34" charset="-122"/>
                <a:cs typeface="Calibri" pitchFamily="34" charset="-120"/>
              </a:rPr>
              <a:t>University of Sheffield · Supervisor: Dr Chaona Chen</a:t>
            </a:r>
            <a:endParaRPr lang="en-US" sz="1400" dirty="0"/>
          </a:p>
        </p:txBody>
      </p:sp>
      <p:sp>
        <p:nvSpPr>
          <p:cNvPr id="6" name="Text 4"/>
          <p:cNvSpPr txBox="1"/>
          <p:nvPr/>
        </p:nvSpPr>
        <p:spPr>
          <a:xfrm>
            <a:off x="7863840" y="5852160"/>
            <a:ext cx="3657600" cy="320040"/>
          </a:xfrm>
          <a:prstGeom prst="rect">
            <a:avLst/>
          </a:prstGeom>
          <a:noFill/>
          <a:ln/>
        </p:spPr>
        <p:txBody>
          <a:bodyPr wrap="square" lIns="0" tIns="0" rIns="0" bIns="0" rtlCol="0" anchor="ctr"/>
          <a:lstStyle/>
          <a:p>
            <a:pPr algn="r" indent="0" marL="0">
              <a:buNone/>
            </a:pPr>
            <a:r>
              <a:rPr lang="en-US" sz="1100" dirty="0">
                <a:solidFill>
                  <a:srgbClr val="7FA8B5"/>
                </a:solidFill>
                <a:latin typeface="Calibri" pitchFamily="34" charset="0"/>
                <a:ea typeface="Calibri" pitchFamily="34" charset="-122"/>
                <a:cs typeface="Calibri" pitchFamily="34" charset="-120"/>
              </a:rPr>
              <a:t>4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Object prompts can be checked. Feelings cannot.</a:t>
            </a:r>
            <a:endParaRPr lang="en-US" sz="3200" dirty="0"/>
          </a:p>
        </p:txBody>
      </p:sp>
      <p:sp>
        <p:nvSpPr>
          <p:cNvPr id="4" name="Shape 2"/>
          <p:cNvSpPr/>
          <p:nvPr/>
        </p:nvSpPr>
        <p:spPr>
          <a:xfrm>
            <a:off x="685800" y="1874520"/>
            <a:ext cx="5262372" cy="1572768"/>
          </a:xfrm>
          <a:prstGeom prst="roundRect">
            <a:avLst>
              <a:gd name="adj" fmla="val 2326"/>
            </a:avLst>
          </a:prstGeom>
          <a:solidFill>
            <a:srgbClr val="F4F6F7"/>
          </a:solidFill>
          <a:ln w="12700">
            <a:solidFill>
              <a:srgbClr val="D8DDE1"/>
            </a:solidFill>
            <a:prstDash val="solid"/>
          </a:ln>
        </p:spPr>
      </p:sp>
      <p:sp>
        <p:nvSpPr>
          <p:cNvPr id="5" name="Text 3"/>
          <p:cNvSpPr txBox="1"/>
          <p:nvPr/>
        </p:nvSpPr>
        <p:spPr>
          <a:xfrm>
            <a:off x="1005840" y="2057400"/>
            <a:ext cx="4572000" cy="457200"/>
          </a:xfrm>
          <a:prstGeom prst="rect">
            <a:avLst/>
          </a:prstGeom>
          <a:noFill/>
          <a:ln/>
        </p:spPr>
        <p:txBody>
          <a:bodyPr wrap="square" lIns="0" tIns="0" rIns="0" bIns="0" rtlCol="0" anchor="ctr"/>
          <a:lstStyle/>
          <a:p>
            <a:pPr indent="0" marL="0">
              <a:buNone/>
            </a:pPr>
            <a:r>
              <a:rPr lang="en-US" sz="2200" b="1" dirty="0">
                <a:solidFill>
                  <a:srgbClr val="1A2229"/>
                </a:solidFill>
                <a:latin typeface="Cambria" pitchFamily="34" charset="0"/>
                <a:ea typeface="Cambria" pitchFamily="34" charset="-122"/>
                <a:cs typeface="Cambria" pitchFamily="34" charset="-120"/>
              </a:rPr>
              <a:t>“a red car”</a:t>
            </a:r>
            <a:endParaRPr lang="en-US" sz="2200" dirty="0"/>
          </a:p>
        </p:txBody>
      </p:sp>
      <p:sp>
        <p:nvSpPr>
          <p:cNvPr id="6" name="Text 4"/>
          <p:cNvSpPr txBox="1"/>
          <p:nvPr/>
        </p:nvSpPr>
        <p:spPr>
          <a:xfrm>
            <a:off x="1005840" y="2578608"/>
            <a:ext cx="4622292" cy="777240"/>
          </a:xfrm>
          <a:prstGeom prst="rect">
            <a:avLst/>
          </a:prstGeom>
          <a:noFill/>
          <a:ln/>
        </p:spPr>
        <p:txBody>
          <a:bodyPr wrap="square" lIns="0" tIns="0" rIns="0" bIns="0" rtlCol="0" anchor="t"/>
          <a:lstStyle/>
          <a:p>
            <a:pPr indent="0" marL="0">
              <a:buNone/>
            </a:pPr>
            <a:r>
              <a:rPr lang="en-US" sz="1350" dirty="0">
                <a:solidFill>
                  <a:srgbClr val="4A545E"/>
                </a:solidFill>
                <a:latin typeface="Calibri" pitchFamily="34" charset="0"/>
                <a:ea typeface="Calibri" pitchFamily="34" charset="-122"/>
                <a:cs typeface="Calibri" pitchFamily="34" charset="-120"/>
              </a:rPr>
              <a:t>Is there a car? Is it red? The prompt names objects, so existing metrics can score it.</a:t>
            </a:r>
            <a:endParaRPr lang="en-US" sz="1350" dirty="0"/>
          </a:p>
        </p:txBody>
      </p:sp>
      <p:sp>
        <p:nvSpPr>
          <p:cNvPr id="7" name="Shape 5"/>
          <p:cNvSpPr/>
          <p:nvPr/>
        </p:nvSpPr>
        <p:spPr>
          <a:xfrm>
            <a:off x="6240780" y="1874520"/>
            <a:ext cx="5262372" cy="1572768"/>
          </a:xfrm>
          <a:prstGeom prst="roundRect">
            <a:avLst>
              <a:gd name="adj" fmla="val 2326"/>
            </a:avLst>
          </a:prstGeom>
          <a:solidFill>
            <a:srgbClr val="FBF6EC"/>
          </a:solidFill>
          <a:ln w="12700">
            <a:solidFill>
              <a:srgbClr val="9A6410"/>
            </a:solidFill>
            <a:prstDash val="solid"/>
          </a:ln>
        </p:spPr>
      </p:sp>
      <p:sp>
        <p:nvSpPr>
          <p:cNvPr id="8" name="Text 6"/>
          <p:cNvSpPr txBox="1"/>
          <p:nvPr/>
        </p:nvSpPr>
        <p:spPr>
          <a:xfrm>
            <a:off x="6560820" y="2057400"/>
            <a:ext cx="4572000" cy="457200"/>
          </a:xfrm>
          <a:prstGeom prst="rect">
            <a:avLst/>
          </a:prstGeom>
          <a:noFill/>
          <a:ln/>
        </p:spPr>
        <p:txBody>
          <a:bodyPr wrap="square" lIns="0" tIns="0" rIns="0" bIns="0" rtlCol="0" anchor="ctr"/>
          <a:lstStyle/>
          <a:p>
            <a:pPr indent="0" marL="0">
              <a:buNone/>
            </a:pPr>
            <a:r>
              <a:rPr lang="en-US" sz="2200" b="1" dirty="0">
                <a:solidFill>
                  <a:srgbClr val="1A2229"/>
                </a:solidFill>
                <a:latin typeface="Cambria" pitchFamily="34" charset="0"/>
                <a:ea typeface="Cambria" pitchFamily="34" charset="-122"/>
                <a:cs typeface="Cambria" pitchFamily="34" charset="-120"/>
              </a:rPr>
              <a:t>“tired but happy”</a:t>
            </a:r>
            <a:endParaRPr lang="en-US" sz="2200" dirty="0"/>
          </a:p>
        </p:txBody>
      </p:sp>
      <p:sp>
        <p:nvSpPr>
          <p:cNvPr id="9" name="Text 7"/>
          <p:cNvSpPr txBox="1"/>
          <p:nvPr/>
        </p:nvSpPr>
        <p:spPr>
          <a:xfrm>
            <a:off x="6560820" y="2578608"/>
            <a:ext cx="4622292" cy="777240"/>
          </a:xfrm>
          <a:prstGeom prst="rect">
            <a:avLst/>
          </a:prstGeom>
          <a:noFill/>
          <a:ln/>
        </p:spPr>
        <p:txBody>
          <a:bodyPr wrap="square" lIns="0" tIns="0" rIns="0" bIns="0" rtlCol="0" anchor="t"/>
          <a:lstStyle/>
          <a:p>
            <a:pPr indent="0" marL="0">
              <a:buNone/>
            </a:pPr>
            <a:r>
              <a:rPr lang="en-US" sz="1350" dirty="0">
                <a:solidFill>
                  <a:srgbClr val="4A545E"/>
                </a:solidFill>
                <a:latin typeface="Calibri" pitchFamily="34" charset="0"/>
                <a:ea typeface="Calibri" pitchFamily="34" charset="-122"/>
                <a:cs typeface="Calibri" pitchFamily="34" charset="-120"/>
              </a:rPr>
              <a:t>No object to find, no answer key, and the feeling is mixed. Existing metrics do not transfer.</a:t>
            </a:r>
            <a:endParaRPr lang="en-US" sz="1350" dirty="0"/>
          </a:p>
        </p:txBody>
      </p:sp>
      <p:sp>
        <p:nvSpPr>
          <p:cNvPr id="10" name="Shape 8"/>
          <p:cNvSpPr/>
          <p:nvPr/>
        </p:nvSpPr>
        <p:spPr>
          <a:xfrm>
            <a:off x="685800" y="3794760"/>
            <a:ext cx="10817352" cy="1298448"/>
          </a:xfrm>
          <a:prstGeom prst="roundRect">
            <a:avLst>
              <a:gd name="adj" fmla="val 2817"/>
            </a:avLst>
          </a:prstGeom>
          <a:solidFill>
            <a:srgbClr val="EEF2F3"/>
          </a:solidFill>
          <a:ln w="12700">
            <a:solidFill>
              <a:srgbClr val="0D5C63"/>
            </a:solidFill>
            <a:prstDash val="solid"/>
          </a:ln>
        </p:spPr>
      </p:sp>
      <p:sp>
        <p:nvSpPr>
          <p:cNvPr id="11" name="Text 9"/>
          <p:cNvSpPr txBox="1"/>
          <p:nvPr/>
        </p:nvSpPr>
        <p:spPr>
          <a:xfrm>
            <a:off x="1005840" y="3950208"/>
            <a:ext cx="10058400" cy="274320"/>
          </a:xfrm>
          <a:prstGeom prst="rect">
            <a:avLst/>
          </a:prstGeom>
          <a:noFill/>
          <a:ln/>
        </p:spPr>
        <p:txBody>
          <a:bodyPr wrap="square" lIns="0" tIns="0" rIns="0" bIns="0" rtlCol="0" anchor="ctr"/>
          <a:lstStyle/>
          <a:p>
            <a:pPr indent="0" marL="0">
              <a:buNone/>
            </a:pPr>
            <a:r>
              <a:rPr lang="en-US" sz="1200" b="1" dirty="0">
                <a:solidFill>
                  <a:srgbClr val="0D5C63"/>
                </a:solidFill>
                <a:latin typeface="Calibri" pitchFamily="34" charset="0"/>
                <a:ea typeface="Calibri" pitchFamily="34" charset="-122"/>
                <a:cs typeface="Calibri" pitchFamily="34" charset="-120"/>
              </a:rPr>
              <a:t>Research question</a:t>
            </a:r>
            <a:endParaRPr lang="en-US" sz="1200" dirty="0"/>
          </a:p>
        </p:txBody>
      </p:sp>
      <p:sp>
        <p:nvSpPr>
          <p:cNvPr id="12" name="Text 10"/>
          <p:cNvSpPr txBox="1"/>
          <p:nvPr/>
        </p:nvSpPr>
        <p:spPr>
          <a:xfrm>
            <a:off x="1005840" y="4279392"/>
            <a:ext cx="10149840" cy="749808"/>
          </a:xfrm>
          <a:prstGeom prst="rect">
            <a:avLst/>
          </a:prstGeom>
          <a:noFill/>
          <a:ln/>
        </p:spPr>
        <p:txBody>
          <a:bodyPr wrap="square" lIns="0" tIns="0" rIns="0" bIns="0" rtlCol="0" anchor="t"/>
          <a:lstStyle/>
          <a:p>
            <a:pPr indent="0" marL="0">
              <a:buNone/>
            </a:pPr>
            <a:r>
              <a:rPr lang="en-US" sz="1550" dirty="0">
                <a:solidFill>
                  <a:srgbClr val="1A2229"/>
                </a:solidFill>
                <a:latin typeface="Cambria" pitchFamily="34" charset="0"/>
                <a:ea typeface="Cambria" pitchFamily="34" charset="-122"/>
                <a:cs typeface="Cambria" pitchFamily="34" charset="-120"/>
              </a:rPr>
              <a:t>To what extent does an automatic image-emotion reader agree with prompt-derived emotion labels for AI-generated monochrome drawings, and how does that agreement vary by visual content and by repeated prompts?</a:t>
            </a:r>
            <a:endParaRPr lang="en-US" sz="1550" dirty="0"/>
          </a:p>
        </p:txBody>
      </p:sp>
      <p:sp>
        <p:nvSpPr>
          <p:cNvPr id="13" name="Text 11"/>
          <p:cNvSpPr txBox="1"/>
          <p:nvPr/>
        </p:nvSpPr>
        <p:spPr>
          <a:xfrm>
            <a:off x="685800" y="5413248"/>
            <a:ext cx="10817352"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Sub-questions:  (i) does agreement exceed a random-pairing baseline?   (ii) does it differ for face-classified and scene-classified drawings?   (iii) how stable is the image reading when the same prompt is drawn again?   (iv) does describe-then-extract agree more than reading emotion from the image directly?</a:t>
            </a:r>
            <a:endParaRPr lang="en-US" sz="1250" dirty="0"/>
          </a:p>
        </p:txBody>
      </p:sp>
      <p:sp>
        <p:nvSpPr>
          <p:cNvPr id="14" name="Text 12"/>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The question is deliberately narrower than “does the drawing convey the feeling” — see the closing slide.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LITERATURE</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Four established areas, and the space between them</a:t>
            </a:r>
            <a:endParaRPr lang="en-US" sz="3200" dirty="0"/>
          </a:p>
        </p:txBody>
      </p:sp>
      <p:sp>
        <p:nvSpPr>
          <p:cNvPr id="4" name="Shape 2"/>
          <p:cNvSpPr/>
          <p:nvPr/>
        </p:nvSpPr>
        <p:spPr>
          <a:xfrm>
            <a:off x="685800" y="1901952"/>
            <a:ext cx="237744" cy="237744"/>
          </a:xfrm>
          <a:prstGeom prst="ellipse">
            <a:avLst/>
          </a:prstGeom>
          <a:solidFill>
            <a:srgbClr val="1E6B4F"/>
          </a:solidFill>
          <a:ln/>
        </p:spPr>
      </p:sp>
      <p:sp>
        <p:nvSpPr>
          <p:cNvPr id="5" name="Text 3"/>
          <p:cNvSpPr txBox="1"/>
          <p:nvPr/>
        </p:nvSpPr>
        <p:spPr>
          <a:xfrm>
            <a:off x="1097280" y="1810512"/>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Emotion in text</a:t>
            </a:r>
            <a:endParaRPr lang="en-US" sz="1400" dirty="0"/>
          </a:p>
        </p:txBody>
      </p:sp>
      <p:sp>
        <p:nvSpPr>
          <p:cNvPr id="6" name="Text 4"/>
          <p:cNvSpPr txBox="1"/>
          <p:nvPr/>
        </p:nvSpPr>
        <p:spPr>
          <a:xfrm>
            <a:off x="4069080" y="1810512"/>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Well established. GoEmotions supplies a 27-category taxonomy and a classifier; but short first-person self-report is the hardest register.</a:t>
            </a:r>
            <a:endParaRPr lang="en-US" sz="1300" dirty="0"/>
          </a:p>
        </p:txBody>
      </p:sp>
      <p:sp>
        <p:nvSpPr>
          <p:cNvPr id="7" name="Shape 5"/>
          <p:cNvSpPr/>
          <p:nvPr/>
        </p:nvSpPr>
        <p:spPr>
          <a:xfrm>
            <a:off x="685800" y="2688336"/>
            <a:ext cx="237744" cy="237744"/>
          </a:xfrm>
          <a:prstGeom prst="ellipse">
            <a:avLst/>
          </a:prstGeom>
          <a:solidFill>
            <a:srgbClr val="1E6B4F"/>
          </a:solidFill>
          <a:ln/>
        </p:spPr>
      </p:sp>
      <p:sp>
        <p:nvSpPr>
          <p:cNvPr id="8" name="Text 6"/>
          <p:cNvSpPr txBox="1"/>
          <p:nvPr/>
        </p:nvSpPr>
        <p:spPr>
          <a:xfrm>
            <a:off x="1097280" y="2596896"/>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Emotional image generation</a:t>
            </a:r>
            <a:endParaRPr lang="en-US" sz="1400" dirty="0"/>
          </a:p>
        </p:txBody>
      </p:sp>
      <p:sp>
        <p:nvSpPr>
          <p:cNvPr id="9" name="Text 7"/>
          <p:cNvSpPr txBox="1"/>
          <p:nvPr/>
        </p:nvSpPr>
        <p:spPr>
          <a:xfrm>
            <a:off x="4069080" y="2596896"/>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Well established. Systems generate images to carry a chosen emotion, and colour is reported as the principal carrier of affect.</a:t>
            </a:r>
            <a:endParaRPr lang="en-US" sz="1300" dirty="0"/>
          </a:p>
        </p:txBody>
      </p:sp>
      <p:sp>
        <p:nvSpPr>
          <p:cNvPr id="10" name="Shape 8"/>
          <p:cNvSpPr/>
          <p:nvPr/>
        </p:nvSpPr>
        <p:spPr>
          <a:xfrm>
            <a:off x="685800" y="3474720"/>
            <a:ext cx="237744" cy="237744"/>
          </a:xfrm>
          <a:prstGeom prst="ellipse">
            <a:avLst/>
          </a:prstGeom>
          <a:solidFill>
            <a:srgbClr val="1E6B4F"/>
          </a:solidFill>
          <a:ln/>
        </p:spPr>
      </p:sp>
      <p:sp>
        <p:nvSpPr>
          <p:cNvPr id="11" name="Text 9"/>
          <p:cNvSpPr txBox="1"/>
          <p:nvPr/>
        </p:nvSpPr>
        <p:spPr>
          <a:xfrm>
            <a:off x="1097280" y="3383280"/>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Text-to-image evaluation</a:t>
            </a:r>
            <a:endParaRPr lang="en-US" sz="1400" dirty="0"/>
          </a:p>
        </p:txBody>
      </p:sp>
      <p:sp>
        <p:nvSpPr>
          <p:cNvPr id="12" name="Text 10"/>
          <p:cNvSpPr txBox="1"/>
          <p:nvPr/>
        </p:nvSpPr>
        <p:spPr>
          <a:xfrm>
            <a:off x="4069080" y="3383280"/>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Well established for OBJECTS. CLIPScore and VQAScore measure whether the picture contains what the prompt named.</a:t>
            </a:r>
            <a:endParaRPr lang="en-US" sz="1300" dirty="0"/>
          </a:p>
        </p:txBody>
      </p:sp>
      <p:sp>
        <p:nvSpPr>
          <p:cNvPr id="13" name="Shape 11"/>
          <p:cNvSpPr/>
          <p:nvPr/>
        </p:nvSpPr>
        <p:spPr>
          <a:xfrm>
            <a:off x="685800" y="4261104"/>
            <a:ext cx="237744" cy="237744"/>
          </a:xfrm>
          <a:prstGeom prst="ellipse">
            <a:avLst/>
          </a:prstGeom>
          <a:solidFill>
            <a:srgbClr val="9A6410"/>
          </a:solidFill>
          <a:ln/>
        </p:spPr>
      </p:sp>
      <p:sp>
        <p:nvSpPr>
          <p:cNvPr id="14" name="Text 12"/>
          <p:cNvSpPr txBox="1"/>
          <p:nvPr/>
        </p:nvSpPr>
        <p:spPr>
          <a:xfrm>
            <a:off x="1097280" y="4169664"/>
            <a:ext cx="3291840" cy="603504"/>
          </a:xfrm>
          <a:prstGeom prst="rect">
            <a:avLst/>
          </a:prstGeom>
          <a:noFill/>
          <a:ln/>
        </p:spPr>
        <p:txBody>
          <a:bodyPr wrap="square" lIns="0" tIns="0" rIns="0" bIns="0" rtlCol="0" anchor="t"/>
          <a:lstStyle/>
          <a:p>
            <a:pPr indent="0" marL="0">
              <a:buNone/>
            </a:pPr>
            <a:r>
              <a:rPr lang="en-US" sz="1400" b="1" dirty="0">
                <a:solidFill>
                  <a:srgbClr val="1A2229"/>
                </a:solidFill>
                <a:latin typeface="Calibri" pitchFamily="34" charset="0"/>
                <a:ea typeface="Calibri" pitchFamily="34" charset="-122"/>
                <a:cs typeface="Calibri" pitchFamily="34" charset="-120"/>
              </a:rPr>
              <a:t>Reading emotion from an image</a:t>
            </a:r>
            <a:endParaRPr lang="en-US" sz="1400" dirty="0"/>
          </a:p>
        </p:txBody>
      </p:sp>
      <p:sp>
        <p:nvSpPr>
          <p:cNvPr id="15" name="Text 13"/>
          <p:cNvSpPr txBox="1"/>
          <p:nvPr/>
        </p:nvSpPr>
        <p:spPr>
          <a:xfrm>
            <a:off x="4069080" y="4169664"/>
            <a:ext cx="7452360" cy="603504"/>
          </a:xfrm>
          <a:prstGeom prst="rect">
            <a:avLst/>
          </a:prstGeom>
          <a:noFill/>
          <a:ln/>
        </p:spPr>
        <p:txBody>
          <a:bodyPr wrap="square" lIns="0" tIns="0" rIns="0" bIns="0" rtlCol="0" anchor="t"/>
          <a:lstStyle/>
          <a:p>
            <a:pPr indent="0" marL="0">
              <a:buNone/>
            </a:pPr>
            <a:r>
              <a:rPr lang="en-US" sz="1300" dirty="0">
                <a:solidFill>
                  <a:srgbClr val="4A545E"/>
                </a:solidFill>
                <a:latin typeface="Calibri" pitchFamily="34" charset="0"/>
                <a:ea typeface="Calibri" pitchFamily="34" charset="-122"/>
                <a:cs typeface="Calibri" pitchFamily="34" charset="-120"/>
              </a:rPr>
              <a:t>Weak. Vision-language models are positively biased and order-sensitive readers of affect.</a:t>
            </a:r>
            <a:endParaRPr lang="en-US" sz="1300" dirty="0"/>
          </a:p>
        </p:txBody>
      </p:sp>
      <p:sp>
        <p:nvSpPr>
          <p:cNvPr id="16" name="Shape 14"/>
          <p:cNvSpPr/>
          <p:nvPr/>
        </p:nvSpPr>
        <p:spPr>
          <a:xfrm>
            <a:off x="685800" y="4956048"/>
            <a:ext cx="10817352" cy="960120"/>
          </a:xfrm>
          <a:prstGeom prst="roundRect">
            <a:avLst>
              <a:gd name="adj" fmla="val 3810"/>
            </a:avLst>
          </a:prstGeom>
          <a:solidFill>
            <a:srgbClr val="EEF2F3"/>
          </a:solidFill>
          <a:ln w="12700">
            <a:solidFill>
              <a:srgbClr val="0D5C63"/>
            </a:solidFill>
            <a:prstDash val="solid"/>
          </a:ln>
        </p:spPr>
      </p:sp>
      <p:sp>
        <p:nvSpPr>
          <p:cNvPr id="17" name="Text 15"/>
          <p:cNvSpPr txBox="1"/>
          <p:nvPr/>
        </p:nvSpPr>
        <p:spPr>
          <a:xfrm>
            <a:off x="1005840" y="5074920"/>
            <a:ext cx="10149840" cy="731520"/>
          </a:xfrm>
          <a:prstGeom prst="rect">
            <a:avLst/>
          </a:prstGeom>
          <a:noFill/>
          <a:ln/>
        </p:spPr>
        <p:txBody>
          <a:bodyPr wrap="square" lIns="0" tIns="0" rIns="0" bIns="0" rtlCol="0" anchor="ctr"/>
          <a:lstStyle/>
          <a:p>
            <a:pPr indent="0" marL="0">
              <a:buNone/>
            </a:pPr>
            <a:r>
              <a:rPr lang="en-US" sz="1600" b="1" dirty="0">
                <a:solidFill>
                  <a:srgbClr val="0D5C63"/>
                </a:solidFill>
                <a:latin typeface="Cambria" pitchFamily="34" charset="0"/>
                <a:ea typeface="Cambria" pitchFamily="34" charset="-122"/>
                <a:cs typeface="Cambria" pitchFamily="34" charset="-120"/>
              </a:rPr>
              <a:t>The gap: no study has measured whether the emotion in a person's own unedited self-report is recoverable from the drawing generated from it — in monochrome line art, where the reported colour channel is absent.</a:t>
            </a:r>
            <a:endParaRPr lang="en-US" sz="1600" dirty="0"/>
          </a:p>
        </p:txBody>
      </p:sp>
      <p:sp>
        <p:nvSpPr>
          <p:cNvPr id="18" name="Text 16"/>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97 papers screened; 73 retained as core evidence across eight themes. Colour is cited as motivation only — this study has no colour-control condition.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7FA8B5"/>
                </a:solidFill>
                <a:latin typeface="Calibri" pitchFamily="34" charset="0"/>
                <a:ea typeface="Calibri" pitchFamily="34" charset="-122"/>
                <a:cs typeface="Calibri" pitchFamily="34" charset="-120"/>
              </a:rPr>
              <a:t>CONTRIBUTION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Similarity, not matching</a:t>
            </a:r>
            <a:endParaRPr lang="en-US" sz="3200" dirty="0"/>
          </a:p>
        </p:txBody>
      </p:sp>
      <p:sp>
        <p:nvSpPr>
          <p:cNvPr id="4" name="Text 2"/>
          <p:cNvSpPr txBox="1"/>
          <p:nvPr/>
        </p:nvSpPr>
        <p:spPr>
          <a:xfrm>
            <a:off x="685800" y="1783080"/>
            <a:ext cx="10515600" cy="1234440"/>
          </a:xfrm>
          <a:prstGeom prst="rect">
            <a:avLst/>
          </a:prstGeom>
          <a:noFill/>
          <a:ln/>
        </p:spPr>
        <p:txBody>
          <a:bodyPr wrap="square" lIns="0" tIns="0" rIns="0" bIns="0" rtlCol="0" anchor="t"/>
          <a:lstStyle/>
          <a:p>
            <a:pPr indent="0" marL="0">
              <a:buNone/>
            </a:pPr>
            <a:r>
              <a:rPr lang="en-US" sz="1900" i="1" dirty="0">
                <a:solidFill>
                  <a:srgbClr val="D6E3E9"/>
                </a:solidFill>
                <a:latin typeface="Cambria" pitchFamily="34" charset="0"/>
                <a:ea typeface="Cambria" pitchFamily="34" charset="-122"/>
                <a:cs typeface="Cambria" pitchFamily="34" charset="-120"/>
              </a:rPr>
              <a:t>“Asking whether the image emotion matches the text — right or wrong — is too simplistic. Emotion is subjective, there is no ground truth, humans disagree and models are noisy. Ask how similar the two emotions are.”</a:t>
            </a:r>
            <a:endParaRPr lang="en-US" sz="1900" dirty="0"/>
          </a:p>
        </p:txBody>
      </p:sp>
      <p:sp>
        <p:nvSpPr>
          <p:cNvPr id="5" name="Text 3"/>
          <p:cNvSpPr txBox="1"/>
          <p:nvPr/>
        </p:nvSpPr>
        <p:spPr>
          <a:xfrm>
            <a:off x="685800" y="3035808"/>
            <a:ext cx="5486400" cy="274320"/>
          </a:xfrm>
          <a:prstGeom prst="rect">
            <a:avLst/>
          </a:prstGeom>
          <a:noFill/>
          <a:ln/>
        </p:spPr>
        <p:txBody>
          <a:bodyPr wrap="square" lIns="0" tIns="0" rIns="0" bIns="0" rtlCol="0" anchor="ctr"/>
          <a:lstStyle/>
          <a:p>
            <a:pPr indent="0" marL="0">
              <a:buNone/>
            </a:pPr>
            <a:r>
              <a:rPr lang="en-US" sz="1150" dirty="0">
                <a:solidFill>
                  <a:srgbClr val="7FA8B5"/>
                </a:solidFill>
                <a:latin typeface="Calibri" pitchFamily="34" charset="0"/>
                <a:ea typeface="Calibri" pitchFamily="34" charset="-122"/>
                <a:cs typeface="Calibri" pitchFamily="34" charset="-120"/>
              </a:rPr>
              <a:t>— Supervisory direction, 30 July 2026</a:t>
            </a:r>
            <a:endParaRPr lang="en-US" sz="1150" dirty="0"/>
          </a:p>
        </p:txBody>
      </p:sp>
      <p:sp>
        <p:nvSpPr>
          <p:cNvPr id="6" name="Shape 4"/>
          <p:cNvSpPr/>
          <p:nvPr/>
        </p:nvSpPr>
        <p:spPr>
          <a:xfrm>
            <a:off x="685800" y="3520440"/>
            <a:ext cx="5257800" cy="1463040"/>
          </a:xfrm>
          <a:prstGeom prst="roundRect">
            <a:avLst>
              <a:gd name="adj" fmla="val 2500"/>
            </a:avLst>
          </a:prstGeom>
          <a:solidFill>
            <a:srgbClr val="16232C"/>
          </a:solidFill>
          <a:ln w="12700">
            <a:solidFill>
              <a:srgbClr val="33424D"/>
            </a:solidFill>
            <a:prstDash val="solid"/>
          </a:ln>
        </p:spPr>
      </p:sp>
      <p:sp>
        <p:nvSpPr>
          <p:cNvPr id="7" name="Text 5"/>
          <p:cNvSpPr txBox="1"/>
          <p:nvPr/>
        </p:nvSpPr>
        <p:spPr>
          <a:xfrm>
            <a:off x="1005840" y="3675888"/>
            <a:ext cx="4572000" cy="320040"/>
          </a:xfrm>
          <a:prstGeom prst="rect">
            <a:avLst/>
          </a:prstGeom>
          <a:noFill/>
          <a:ln/>
        </p:spPr>
        <p:txBody>
          <a:bodyPr wrap="square" lIns="0" tIns="0" rIns="0" bIns="0" rtlCol="0" anchor="ctr"/>
          <a:lstStyle/>
          <a:p>
            <a:pPr indent="0" marL="0">
              <a:buNone/>
            </a:pPr>
            <a:r>
              <a:rPr lang="en-US" sz="1300" b="1" dirty="0">
                <a:solidFill>
                  <a:srgbClr val="9FB0B9"/>
                </a:solidFill>
                <a:latin typeface="Calibri" pitchFamily="34" charset="0"/>
                <a:ea typeface="Calibri" pitchFamily="34" charset="-122"/>
                <a:cs typeface="Calibri" pitchFamily="34" charset="-120"/>
              </a:rPr>
              <a:t>Conventional</a:t>
            </a:r>
            <a:endParaRPr lang="en-US" sz="1300" dirty="0"/>
          </a:p>
        </p:txBody>
      </p:sp>
      <p:sp>
        <p:nvSpPr>
          <p:cNvPr id="8" name="Text 6"/>
          <p:cNvSpPr txBox="1"/>
          <p:nvPr/>
        </p:nvSpPr>
        <p:spPr>
          <a:xfrm>
            <a:off x="1005840" y="4023360"/>
            <a:ext cx="4617720" cy="914400"/>
          </a:xfrm>
          <a:prstGeom prst="rect">
            <a:avLst/>
          </a:prstGeom>
          <a:noFill/>
          <a:ln/>
        </p:spPr>
        <p:txBody>
          <a:bodyPr wrap="square" lIns="0" tIns="0" rIns="0" bIns="0" rtlCol="0" anchor="t"/>
          <a:lstStyle/>
          <a:p>
            <a:pPr indent="0" marL="0">
              <a:buNone/>
            </a:pPr>
            <a:r>
              <a:rPr lang="en-US" sz="1300" dirty="0">
                <a:solidFill>
                  <a:srgbClr val="9FB0B9"/>
                </a:solidFill>
                <a:latin typeface="Calibri" pitchFamily="34" charset="0"/>
                <a:ea typeface="Calibri" pitchFamily="34" charset="-122"/>
                <a:cs typeface="Calibri" pitchFamily="34" charset="-120"/>
              </a:rPr>
              <a:t>One-to-one match. The predicted label is right or wrong; accuracy is reported against an assumed ground truth.</a:t>
            </a:r>
            <a:endParaRPr lang="en-US" sz="1300" dirty="0"/>
          </a:p>
        </p:txBody>
      </p:sp>
      <p:sp>
        <p:nvSpPr>
          <p:cNvPr id="9" name="Shape 7"/>
          <p:cNvSpPr/>
          <p:nvPr/>
        </p:nvSpPr>
        <p:spPr>
          <a:xfrm>
            <a:off x="6217920" y="3520440"/>
            <a:ext cx="5257800" cy="1463040"/>
          </a:xfrm>
          <a:prstGeom prst="roundRect">
            <a:avLst>
              <a:gd name="adj" fmla="val 2500"/>
            </a:avLst>
          </a:prstGeom>
          <a:solidFill>
            <a:srgbClr val="14333B"/>
          </a:solidFill>
          <a:ln w="12700">
            <a:solidFill>
              <a:srgbClr val="2F7B7F"/>
            </a:solidFill>
            <a:prstDash val="solid"/>
          </a:ln>
        </p:spPr>
      </p:sp>
      <p:sp>
        <p:nvSpPr>
          <p:cNvPr id="10" name="Text 8"/>
          <p:cNvSpPr txBox="1"/>
          <p:nvPr/>
        </p:nvSpPr>
        <p:spPr>
          <a:xfrm>
            <a:off x="6537960" y="3675888"/>
            <a:ext cx="4572000" cy="320040"/>
          </a:xfrm>
          <a:prstGeom prst="rect">
            <a:avLst/>
          </a:prstGeom>
          <a:noFill/>
          <a:ln/>
        </p:spPr>
        <p:txBody>
          <a:bodyPr wrap="square" lIns="0" tIns="0" rIns="0" bIns="0" rtlCol="0" anchor="ctr"/>
          <a:lstStyle/>
          <a:p>
            <a:pPr indent="0" marL="0">
              <a:buNone/>
            </a:pPr>
            <a:r>
              <a:rPr lang="en-US" sz="1300" b="1" dirty="0">
                <a:solidFill>
                  <a:srgbClr val="7FC4BE"/>
                </a:solidFill>
                <a:latin typeface="Calibri" pitchFamily="34" charset="0"/>
                <a:ea typeface="Calibri" pitchFamily="34" charset="-122"/>
                <a:cs typeface="Calibri" pitchFamily="34" charset="-120"/>
              </a:rPr>
              <a:t>This project</a:t>
            </a:r>
            <a:endParaRPr lang="en-US" sz="1300" dirty="0"/>
          </a:p>
        </p:txBody>
      </p:sp>
      <p:sp>
        <p:nvSpPr>
          <p:cNvPr id="11" name="Text 9"/>
          <p:cNvSpPr txBox="1"/>
          <p:nvPr/>
        </p:nvSpPr>
        <p:spPr>
          <a:xfrm>
            <a:off x="6537960" y="4023360"/>
            <a:ext cx="4617720" cy="914400"/>
          </a:xfrm>
          <a:prstGeom prst="rect">
            <a:avLst/>
          </a:prstGeom>
          <a:noFill/>
          <a:ln/>
        </p:spPr>
        <p:txBody>
          <a:bodyPr wrap="square" lIns="0" tIns="0" rIns="0" bIns="0" rtlCol="0" anchor="t"/>
          <a:lstStyle/>
          <a:p>
            <a:pPr indent="0" marL="0">
              <a:buNone/>
            </a:pPr>
            <a:r>
              <a:rPr lang="en-US" sz="1300" dirty="0">
                <a:solidFill>
                  <a:srgbClr val="D6E3E9"/>
                </a:solidFill>
                <a:latin typeface="Calibri" pitchFamily="34" charset="0"/>
                <a:ea typeface="Calibri" pitchFamily="34" charset="-122"/>
                <a:cs typeface="Calibri" pitchFamily="34" charset="-120"/>
              </a:rPr>
              <a:t>A four-level similarity ladder over emotion families. “Happy” and “excited” are counted as close, not as a miss — and every level is referenced to chance.</a:t>
            </a:r>
            <a:endParaRPr lang="en-US" sz="1300" dirty="0"/>
          </a:p>
        </p:txBody>
      </p:sp>
      <p:sp>
        <p:nvSpPr>
          <p:cNvPr id="12" name="Text 10"/>
          <p:cNvSpPr txBox="1"/>
          <p:nvPr/>
        </p:nvSpPr>
        <p:spPr>
          <a:xfrm>
            <a:off x="685800" y="5257800"/>
            <a:ext cx="1060704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This is the novel element: the field reports one-to-one accuracy; this study reports graded, chance-referenced similarity.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Describe the image, then read the feeling from the description</a:t>
            </a:r>
            <a:endParaRPr lang="en-US" sz="3200" dirty="0"/>
          </a:p>
        </p:txBody>
      </p:sp>
      <p:sp>
        <p:nvSpPr>
          <p:cNvPr id="4" name="Shape 2"/>
          <p:cNvSpPr/>
          <p:nvPr/>
        </p:nvSpPr>
        <p:spPr>
          <a:xfrm>
            <a:off x="685800" y="1920240"/>
            <a:ext cx="2286000" cy="1188720"/>
          </a:xfrm>
          <a:prstGeom prst="roundRect">
            <a:avLst>
              <a:gd name="adj" fmla="val 3077"/>
            </a:avLst>
          </a:prstGeom>
          <a:solidFill>
            <a:srgbClr val="F4F6F7"/>
          </a:solidFill>
          <a:ln w="12700">
            <a:solidFill>
              <a:srgbClr val="D8DDE1"/>
            </a:solidFill>
            <a:prstDash val="solid"/>
          </a:ln>
        </p:spPr>
      </p:sp>
      <p:sp>
        <p:nvSpPr>
          <p:cNvPr id="5" name="Text 3"/>
          <p:cNvSpPr txBox="1"/>
          <p:nvPr/>
        </p:nvSpPr>
        <p:spPr>
          <a:xfrm>
            <a:off x="822960" y="2066544"/>
            <a:ext cx="201168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Drawing</a:t>
            </a:r>
            <a:endParaRPr lang="en-US" sz="1300" dirty="0"/>
          </a:p>
        </p:txBody>
      </p:sp>
      <p:sp>
        <p:nvSpPr>
          <p:cNvPr id="6" name="Text 4"/>
          <p:cNvSpPr txBox="1"/>
          <p:nvPr/>
        </p:nvSpPr>
        <p:spPr>
          <a:xfrm>
            <a:off x="822960" y="2404872"/>
            <a:ext cx="201168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1,025 monochrome</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line drawings</a:t>
            </a:r>
            <a:endParaRPr lang="en-US" sz="1100" dirty="0"/>
          </a:p>
        </p:txBody>
      </p:sp>
      <p:sp>
        <p:nvSpPr>
          <p:cNvPr id="7" name="Shape 5"/>
          <p:cNvSpPr/>
          <p:nvPr/>
        </p:nvSpPr>
        <p:spPr>
          <a:xfrm>
            <a:off x="3026664" y="2514600"/>
            <a:ext cx="356616" cy="0"/>
          </a:xfrm>
          <a:prstGeom prst="line">
            <a:avLst/>
          </a:prstGeom>
          <a:noFill/>
          <a:ln w="22225">
            <a:solidFill>
              <a:srgbClr val="AEB6BC"/>
            </a:solidFill>
            <a:prstDash val="solid"/>
            <a:tailEnd type="triangle"/>
          </a:ln>
        </p:spPr>
      </p:sp>
      <p:sp>
        <p:nvSpPr>
          <p:cNvPr id="8" name="Shape 6"/>
          <p:cNvSpPr/>
          <p:nvPr/>
        </p:nvSpPr>
        <p:spPr>
          <a:xfrm>
            <a:off x="3438144" y="1920240"/>
            <a:ext cx="2377440" cy="1188720"/>
          </a:xfrm>
          <a:prstGeom prst="roundRect">
            <a:avLst>
              <a:gd name="adj" fmla="val 3077"/>
            </a:avLst>
          </a:prstGeom>
          <a:solidFill>
            <a:srgbClr val="F4F6F7"/>
          </a:solidFill>
          <a:ln w="12700">
            <a:solidFill>
              <a:srgbClr val="D8DDE1"/>
            </a:solidFill>
            <a:prstDash val="solid"/>
          </a:ln>
        </p:spPr>
      </p:sp>
      <p:sp>
        <p:nvSpPr>
          <p:cNvPr id="9" name="Text 7"/>
          <p:cNvSpPr txBox="1"/>
          <p:nvPr/>
        </p:nvSpPr>
        <p:spPr>
          <a:xfrm>
            <a:off x="3575304" y="206654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BLIP-VQA</a:t>
            </a:r>
            <a:endParaRPr lang="en-US" sz="1300" dirty="0"/>
          </a:p>
        </p:txBody>
      </p:sp>
      <p:sp>
        <p:nvSpPr>
          <p:cNvPr id="10" name="Text 8"/>
          <p:cNvSpPr txBox="1"/>
          <p:nvPr/>
        </p:nvSpPr>
        <p:spPr>
          <a:xfrm>
            <a:off x="3575304" y="240487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five factual questions</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-&gt; one neutral sentence</a:t>
            </a:r>
            <a:endParaRPr lang="en-US" sz="1100" dirty="0"/>
          </a:p>
        </p:txBody>
      </p:sp>
      <p:sp>
        <p:nvSpPr>
          <p:cNvPr id="11" name="Shape 9"/>
          <p:cNvSpPr/>
          <p:nvPr/>
        </p:nvSpPr>
        <p:spPr>
          <a:xfrm>
            <a:off x="5870448" y="2514600"/>
            <a:ext cx="356616" cy="0"/>
          </a:xfrm>
          <a:prstGeom prst="line">
            <a:avLst/>
          </a:prstGeom>
          <a:noFill/>
          <a:ln w="22225">
            <a:solidFill>
              <a:srgbClr val="AEB6BC"/>
            </a:solidFill>
            <a:prstDash val="solid"/>
            <a:tailEnd type="triangle"/>
          </a:ln>
        </p:spPr>
      </p:sp>
      <p:sp>
        <p:nvSpPr>
          <p:cNvPr id="12" name="Shape 10"/>
          <p:cNvSpPr/>
          <p:nvPr/>
        </p:nvSpPr>
        <p:spPr>
          <a:xfrm>
            <a:off x="6281928" y="1920240"/>
            <a:ext cx="2377440" cy="1188720"/>
          </a:xfrm>
          <a:prstGeom prst="roundRect">
            <a:avLst>
              <a:gd name="adj" fmla="val 3077"/>
            </a:avLst>
          </a:prstGeom>
          <a:solidFill>
            <a:srgbClr val="F4F6F7"/>
          </a:solidFill>
          <a:ln w="12700">
            <a:solidFill>
              <a:srgbClr val="D8DDE1"/>
            </a:solidFill>
            <a:prstDash val="solid"/>
          </a:ln>
        </p:spPr>
      </p:sp>
      <p:sp>
        <p:nvSpPr>
          <p:cNvPr id="13" name="Text 11"/>
          <p:cNvSpPr txBox="1"/>
          <p:nvPr/>
        </p:nvSpPr>
        <p:spPr>
          <a:xfrm>
            <a:off x="6419088" y="206654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BART-MNLI</a:t>
            </a:r>
            <a:endParaRPr lang="en-US" sz="1300" dirty="0"/>
          </a:p>
        </p:txBody>
      </p:sp>
      <p:sp>
        <p:nvSpPr>
          <p:cNvPr id="14" name="Text 12"/>
          <p:cNvSpPr txBox="1"/>
          <p:nvPr/>
        </p:nvSpPr>
        <p:spPr>
          <a:xfrm>
            <a:off x="6419088" y="240487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zero-shot over</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seven emotion families</a:t>
            </a:r>
            <a:endParaRPr lang="en-US" sz="1100" dirty="0"/>
          </a:p>
        </p:txBody>
      </p:sp>
      <p:sp>
        <p:nvSpPr>
          <p:cNvPr id="15" name="Shape 13"/>
          <p:cNvSpPr/>
          <p:nvPr/>
        </p:nvSpPr>
        <p:spPr>
          <a:xfrm>
            <a:off x="8714232" y="2514600"/>
            <a:ext cx="356616" cy="0"/>
          </a:xfrm>
          <a:prstGeom prst="line">
            <a:avLst/>
          </a:prstGeom>
          <a:noFill/>
          <a:ln w="22225">
            <a:solidFill>
              <a:srgbClr val="AEB6BC"/>
            </a:solidFill>
            <a:prstDash val="solid"/>
            <a:tailEnd type="triangle"/>
          </a:ln>
        </p:spPr>
      </p:sp>
      <p:sp>
        <p:nvSpPr>
          <p:cNvPr id="16" name="Shape 14"/>
          <p:cNvSpPr/>
          <p:nvPr/>
        </p:nvSpPr>
        <p:spPr>
          <a:xfrm>
            <a:off x="9125712" y="1920240"/>
            <a:ext cx="2377440" cy="1188720"/>
          </a:xfrm>
          <a:prstGeom prst="roundRect">
            <a:avLst>
              <a:gd name="adj" fmla="val 3077"/>
            </a:avLst>
          </a:prstGeom>
          <a:solidFill>
            <a:srgbClr val="F4F6F7"/>
          </a:solidFill>
          <a:ln w="12700">
            <a:solidFill>
              <a:srgbClr val="0D5C63"/>
            </a:solidFill>
            <a:prstDash val="solid"/>
          </a:ln>
        </p:spPr>
      </p:sp>
      <p:sp>
        <p:nvSpPr>
          <p:cNvPr id="17" name="Text 15"/>
          <p:cNvSpPr txBox="1"/>
          <p:nvPr/>
        </p:nvSpPr>
        <p:spPr>
          <a:xfrm>
            <a:off x="9262872" y="206654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Image reading</a:t>
            </a:r>
            <a:endParaRPr lang="en-US" sz="1300" dirty="0"/>
          </a:p>
        </p:txBody>
      </p:sp>
      <p:sp>
        <p:nvSpPr>
          <p:cNvPr id="18" name="Text 16"/>
          <p:cNvSpPr txBox="1"/>
          <p:nvPr/>
        </p:nvSpPr>
        <p:spPr>
          <a:xfrm>
            <a:off x="9262872" y="240487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top-3 emotions</a:t>
            </a:r>
            <a:endParaRPr lang="en-US" sz="1100" dirty="0"/>
          </a:p>
        </p:txBody>
      </p:sp>
      <p:sp>
        <p:nvSpPr>
          <p:cNvPr id="19" name="Shape 17"/>
          <p:cNvSpPr/>
          <p:nvPr/>
        </p:nvSpPr>
        <p:spPr>
          <a:xfrm>
            <a:off x="685800" y="3429000"/>
            <a:ext cx="2286000" cy="1188720"/>
          </a:xfrm>
          <a:prstGeom prst="roundRect">
            <a:avLst>
              <a:gd name="adj" fmla="val 3077"/>
            </a:avLst>
          </a:prstGeom>
          <a:solidFill>
            <a:srgbClr val="F4F6F7"/>
          </a:solidFill>
          <a:ln w="12700">
            <a:solidFill>
              <a:srgbClr val="D8DDE1"/>
            </a:solidFill>
            <a:prstDash val="solid"/>
          </a:ln>
        </p:spPr>
      </p:sp>
      <p:sp>
        <p:nvSpPr>
          <p:cNvPr id="20" name="Text 18"/>
          <p:cNvSpPr txBox="1"/>
          <p:nvPr/>
        </p:nvSpPr>
        <p:spPr>
          <a:xfrm>
            <a:off x="822960" y="3575304"/>
            <a:ext cx="201168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Prompt</a:t>
            </a:r>
            <a:endParaRPr lang="en-US" sz="1300" dirty="0"/>
          </a:p>
        </p:txBody>
      </p:sp>
      <p:sp>
        <p:nvSpPr>
          <p:cNvPr id="21" name="Text 19"/>
          <p:cNvSpPr txBox="1"/>
          <p:nvPr/>
        </p:nvSpPr>
        <p:spPr>
          <a:xfrm>
            <a:off x="822960" y="3913632"/>
            <a:ext cx="201168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the visitor's own</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words</a:t>
            </a:r>
            <a:endParaRPr lang="en-US" sz="1100" dirty="0"/>
          </a:p>
        </p:txBody>
      </p:sp>
      <p:sp>
        <p:nvSpPr>
          <p:cNvPr id="22" name="Shape 20"/>
          <p:cNvSpPr/>
          <p:nvPr/>
        </p:nvSpPr>
        <p:spPr>
          <a:xfrm>
            <a:off x="3026664" y="4023360"/>
            <a:ext cx="356616" cy="0"/>
          </a:xfrm>
          <a:prstGeom prst="line">
            <a:avLst/>
          </a:prstGeom>
          <a:noFill/>
          <a:ln w="22225">
            <a:solidFill>
              <a:srgbClr val="AEB6BC"/>
            </a:solidFill>
            <a:prstDash val="solid"/>
            <a:tailEnd type="triangle"/>
          </a:ln>
        </p:spPr>
      </p:sp>
      <p:sp>
        <p:nvSpPr>
          <p:cNvPr id="23" name="Shape 21"/>
          <p:cNvSpPr/>
          <p:nvPr/>
        </p:nvSpPr>
        <p:spPr>
          <a:xfrm>
            <a:off x="3438144" y="3429000"/>
            <a:ext cx="2377440" cy="1188720"/>
          </a:xfrm>
          <a:prstGeom prst="roundRect">
            <a:avLst>
              <a:gd name="adj" fmla="val 3077"/>
            </a:avLst>
          </a:prstGeom>
          <a:solidFill>
            <a:srgbClr val="F4F6F7"/>
          </a:solidFill>
          <a:ln w="12700">
            <a:solidFill>
              <a:srgbClr val="D8DDE1"/>
            </a:solidFill>
            <a:prstDash val="solid"/>
          </a:ln>
        </p:spPr>
      </p:sp>
      <p:sp>
        <p:nvSpPr>
          <p:cNvPr id="24" name="Text 22"/>
          <p:cNvSpPr txBox="1"/>
          <p:nvPr/>
        </p:nvSpPr>
        <p:spPr>
          <a:xfrm>
            <a:off x="3575304" y="357530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GoEmotions</a:t>
            </a:r>
            <a:endParaRPr lang="en-US" sz="1300" dirty="0"/>
          </a:p>
        </p:txBody>
      </p:sp>
      <p:sp>
        <p:nvSpPr>
          <p:cNvPr id="25" name="Text 23"/>
          <p:cNvSpPr txBox="1"/>
          <p:nvPr/>
        </p:nvSpPr>
        <p:spPr>
          <a:xfrm>
            <a:off x="3575304" y="391363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28 labels collapsed to</a:t>
            </a:r>
            <a:endParaRPr lang="en-US" sz="1100" dirty="0"/>
          </a:p>
          <a:p>
            <a:pPr algn="ctr" indent="0" marL="0">
              <a:buNone/>
            </a:pPr>
            <a:r>
              <a:rPr lang="en-US" sz="1100" dirty="0">
                <a:solidFill>
                  <a:srgbClr val="6B747C"/>
                </a:solidFill>
                <a:latin typeface="Calibri" pitchFamily="34" charset="0"/>
                <a:ea typeface="Calibri" pitchFamily="34" charset="-122"/>
                <a:cs typeface="Calibri" pitchFamily="34" charset="-120"/>
              </a:rPr>
              <a:t>the same seven families</a:t>
            </a:r>
            <a:endParaRPr lang="en-US" sz="1100" dirty="0"/>
          </a:p>
        </p:txBody>
      </p:sp>
      <p:sp>
        <p:nvSpPr>
          <p:cNvPr id="26" name="Shape 24"/>
          <p:cNvSpPr/>
          <p:nvPr/>
        </p:nvSpPr>
        <p:spPr>
          <a:xfrm>
            <a:off x="5870448" y="4023360"/>
            <a:ext cx="3200400" cy="0"/>
          </a:xfrm>
          <a:prstGeom prst="line">
            <a:avLst/>
          </a:prstGeom>
          <a:noFill/>
          <a:ln w="22225">
            <a:solidFill>
              <a:srgbClr val="AEB6BC"/>
            </a:solidFill>
            <a:prstDash val="solid"/>
            <a:tailEnd type="triangle"/>
          </a:ln>
        </p:spPr>
      </p:sp>
      <p:sp>
        <p:nvSpPr>
          <p:cNvPr id="27" name="Shape 25"/>
          <p:cNvSpPr/>
          <p:nvPr/>
        </p:nvSpPr>
        <p:spPr>
          <a:xfrm>
            <a:off x="9125712" y="3429000"/>
            <a:ext cx="2377440" cy="1188720"/>
          </a:xfrm>
          <a:prstGeom prst="roundRect">
            <a:avLst>
              <a:gd name="adj" fmla="val 3077"/>
            </a:avLst>
          </a:prstGeom>
          <a:solidFill>
            <a:srgbClr val="F4F6F7"/>
          </a:solidFill>
          <a:ln w="12700">
            <a:solidFill>
              <a:srgbClr val="0D5C63"/>
            </a:solidFill>
            <a:prstDash val="solid"/>
          </a:ln>
        </p:spPr>
      </p:sp>
      <p:sp>
        <p:nvSpPr>
          <p:cNvPr id="28" name="Text 26"/>
          <p:cNvSpPr txBox="1"/>
          <p:nvPr/>
        </p:nvSpPr>
        <p:spPr>
          <a:xfrm>
            <a:off x="9262872" y="3575304"/>
            <a:ext cx="2103120" cy="310896"/>
          </a:xfrm>
          <a:prstGeom prst="rect">
            <a:avLst/>
          </a:prstGeom>
          <a:noFill/>
          <a:ln/>
        </p:spPr>
        <p:txBody>
          <a:bodyPr wrap="square" lIns="0" tIns="0" rIns="0" bIns="0" rtlCol="0" anchor="ctr"/>
          <a:lstStyle/>
          <a:p>
            <a:pPr algn="ctr" indent="0" marL="0">
              <a:buNone/>
            </a:pPr>
            <a:r>
              <a:rPr lang="en-US" sz="1300" b="1" dirty="0">
                <a:solidFill>
                  <a:srgbClr val="1A2229"/>
                </a:solidFill>
                <a:latin typeface="Calibri" pitchFamily="34" charset="0"/>
                <a:ea typeface="Calibri" pitchFamily="34" charset="-122"/>
                <a:cs typeface="Calibri" pitchFamily="34" charset="-120"/>
              </a:rPr>
              <a:t>Prompt reading</a:t>
            </a:r>
            <a:endParaRPr lang="en-US" sz="1300" dirty="0"/>
          </a:p>
        </p:txBody>
      </p:sp>
      <p:sp>
        <p:nvSpPr>
          <p:cNvPr id="29" name="Text 27"/>
          <p:cNvSpPr txBox="1"/>
          <p:nvPr/>
        </p:nvSpPr>
        <p:spPr>
          <a:xfrm>
            <a:off x="9262872" y="3913632"/>
            <a:ext cx="2103120" cy="548640"/>
          </a:xfrm>
          <a:prstGeom prst="rect">
            <a:avLst/>
          </a:prstGeom>
          <a:noFill/>
          <a:ln/>
        </p:spPr>
        <p:txBody>
          <a:bodyPr wrap="square" lIns="0" tIns="0" rIns="0" bIns="0" rtlCol="0" anchor="t"/>
          <a:lstStyle/>
          <a:p>
            <a:pPr algn="ctr" indent="0" marL="0">
              <a:buNone/>
            </a:pPr>
            <a:r>
              <a:rPr lang="en-US" sz="1100" dirty="0">
                <a:solidFill>
                  <a:srgbClr val="6B747C"/>
                </a:solidFill>
                <a:latin typeface="Calibri" pitchFamily="34" charset="0"/>
                <a:ea typeface="Calibri" pitchFamily="34" charset="-122"/>
                <a:cs typeface="Calibri" pitchFamily="34" charset="-120"/>
              </a:rPr>
              <a:t>top-3 emotions</a:t>
            </a:r>
            <a:endParaRPr lang="en-US" sz="1100" dirty="0"/>
          </a:p>
        </p:txBody>
      </p:sp>
      <p:sp>
        <p:nvSpPr>
          <p:cNvPr id="30" name="Shape 28"/>
          <p:cNvSpPr/>
          <p:nvPr/>
        </p:nvSpPr>
        <p:spPr>
          <a:xfrm>
            <a:off x="685800" y="4892040"/>
            <a:ext cx="10817352" cy="1024128"/>
          </a:xfrm>
          <a:prstGeom prst="roundRect">
            <a:avLst>
              <a:gd name="adj" fmla="val 3571"/>
            </a:avLst>
          </a:prstGeom>
          <a:solidFill>
            <a:srgbClr val="EEF2F3"/>
          </a:solidFill>
          <a:ln w="12700">
            <a:solidFill>
              <a:srgbClr val="0D5C63"/>
            </a:solidFill>
            <a:prstDash val="solid"/>
          </a:ln>
        </p:spPr>
      </p:sp>
      <p:sp>
        <p:nvSpPr>
          <p:cNvPr id="31" name="Text 29"/>
          <p:cNvSpPr txBox="1"/>
          <p:nvPr/>
        </p:nvSpPr>
        <p:spPr>
          <a:xfrm>
            <a:off x="1005840" y="5029200"/>
            <a:ext cx="10241280" cy="320040"/>
          </a:xfrm>
          <a:prstGeom prst="rect">
            <a:avLst/>
          </a:prstGeom>
          <a:noFill/>
          <a:ln/>
        </p:spPr>
        <p:txBody>
          <a:bodyPr wrap="square" lIns="0" tIns="0" rIns="0" bIns="0" rtlCol="0" anchor="ctr"/>
          <a:lstStyle/>
          <a:p>
            <a:pPr indent="0" marL="0">
              <a:buNone/>
            </a:pPr>
            <a:r>
              <a:rPr lang="en-US" sz="1350" b="1" dirty="0">
                <a:solidFill>
                  <a:srgbClr val="0D5C63"/>
                </a:solidFill>
                <a:latin typeface="Calibri" pitchFamily="34" charset="0"/>
                <a:ea typeface="Calibri" pitchFamily="34" charset="-122"/>
                <a:cs typeface="Calibri" pitchFamily="34" charset="-120"/>
              </a:rPr>
              <a:t>Compare  →  four-level similarity ladder, every level against a 300-shuffle random-pairing null</a:t>
            </a:r>
            <a:endParaRPr lang="en-US" sz="1350" dirty="0"/>
          </a:p>
        </p:txBody>
      </p:sp>
      <p:sp>
        <p:nvSpPr>
          <p:cNvPr id="32" name="Text 30"/>
          <p:cNvSpPr txBox="1"/>
          <p:nvPr/>
        </p:nvSpPr>
        <p:spPr>
          <a:xfrm>
            <a:off x="1005840"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valence-arousal distance</a:t>
            </a:r>
            <a:endParaRPr lang="en-US" sz="1250" dirty="0"/>
          </a:p>
        </p:txBody>
      </p:sp>
      <p:sp>
        <p:nvSpPr>
          <p:cNvPr id="33" name="Text 31"/>
          <p:cNvSpPr txBox="1"/>
          <p:nvPr/>
        </p:nvSpPr>
        <p:spPr>
          <a:xfrm>
            <a:off x="3621024"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valence-sign agreement</a:t>
            </a:r>
            <a:endParaRPr lang="en-US" sz="1250" dirty="0"/>
          </a:p>
        </p:txBody>
      </p:sp>
      <p:sp>
        <p:nvSpPr>
          <p:cNvPr id="34" name="Text 32"/>
          <p:cNvSpPr txBox="1"/>
          <p:nvPr/>
        </p:nvSpPr>
        <p:spPr>
          <a:xfrm>
            <a:off x="6236208"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emotion-family agreement</a:t>
            </a:r>
            <a:endParaRPr lang="en-US" sz="1250" dirty="0"/>
          </a:p>
        </p:txBody>
      </p:sp>
      <p:sp>
        <p:nvSpPr>
          <p:cNvPr id="35" name="Text 33"/>
          <p:cNvSpPr txBox="1"/>
          <p:nvPr/>
        </p:nvSpPr>
        <p:spPr>
          <a:xfrm>
            <a:off x="8851392" y="5376672"/>
            <a:ext cx="2560320" cy="36576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 top-3 overlap</a:t>
            </a:r>
            <a:endParaRPr lang="en-US" sz="1250" dirty="0"/>
          </a:p>
        </p:txBody>
      </p:sp>
      <p:sp>
        <p:nvSpPr>
          <p:cNvPr id="36" name="Text 34"/>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The image model is asked only factual questions. Caveat stated in the write-up: “what is the facial expression?” often returns a feeling word, so the separation is weaker than it appears.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DATA</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1,025 real self-reports, and what it took to use them</a:t>
            </a:r>
            <a:endParaRPr lang="en-US" sz="3200" dirty="0"/>
          </a:p>
        </p:txBody>
      </p:sp>
      <p:sp>
        <p:nvSpPr>
          <p:cNvPr id="4" name="Text 2"/>
          <p:cNvSpPr txBox="1"/>
          <p:nvPr/>
        </p:nvSpPr>
        <p:spPr>
          <a:xfrm>
            <a:off x="685800" y="1783080"/>
            <a:ext cx="2606040" cy="658368"/>
          </a:xfrm>
          <a:prstGeom prst="rect">
            <a:avLst/>
          </a:prstGeom>
          <a:noFill/>
          <a:ln/>
        </p:spPr>
        <p:txBody>
          <a:bodyPr wrap="square" lIns="0" tIns="0" rIns="0" bIns="0" rtlCol="0" anchor="b"/>
          <a:lstStyle/>
          <a:p>
            <a:pPr indent="0" marL="0">
              <a:buNone/>
            </a:pPr>
            <a:r>
              <a:rPr lang="en-US" sz="3600" b="1" dirty="0">
                <a:solidFill>
                  <a:srgbClr val="12232E"/>
                </a:solidFill>
                <a:latin typeface="Cambria" pitchFamily="34" charset="0"/>
                <a:ea typeface="Cambria" pitchFamily="34" charset="-122"/>
                <a:cs typeface="Cambria" pitchFamily="34" charset="-120"/>
              </a:rPr>
              <a:t>1,012</a:t>
            </a:r>
            <a:endParaRPr lang="en-US" sz="3600" dirty="0"/>
          </a:p>
        </p:txBody>
      </p:sp>
      <p:sp>
        <p:nvSpPr>
          <p:cNvPr id="5" name="Text 3"/>
          <p:cNvSpPr txBox="1"/>
          <p:nvPr/>
        </p:nvSpPr>
        <p:spPr>
          <a:xfrm>
            <a:off x="685800"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analysed records</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(13 pre-festival tests excluded)</a:t>
            </a:r>
            <a:endParaRPr lang="en-US" sz="1250" dirty="0"/>
          </a:p>
        </p:txBody>
      </p:sp>
      <p:sp>
        <p:nvSpPr>
          <p:cNvPr id="6" name="Text 4"/>
          <p:cNvSpPr txBox="1"/>
          <p:nvPr/>
        </p:nvSpPr>
        <p:spPr>
          <a:xfrm>
            <a:off x="3422904" y="1783080"/>
            <a:ext cx="2606040" cy="658368"/>
          </a:xfrm>
          <a:prstGeom prst="rect">
            <a:avLst/>
          </a:prstGeom>
          <a:noFill/>
          <a:ln/>
        </p:spPr>
        <p:txBody>
          <a:bodyPr wrap="square" lIns="0" tIns="0" rIns="0" bIns="0" rtlCol="0" anchor="b"/>
          <a:lstStyle/>
          <a:p>
            <a:pPr indent="0" marL="0">
              <a:buNone/>
            </a:pPr>
            <a:r>
              <a:rPr lang="en-US" sz="3600" b="1" dirty="0">
                <a:solidFill>
                  <a:srgbClr val="0D5C63"/>
                </a:solidFill>
                <a:latin typeface="Cambria" pitchFamily="34" charset="0"/>
                <a:ea typeface="Cambria" pitchFamily="34" charset="-122"/>
                <a:cs typeface="Cambria" pitchFamily="34" charset="-120"/>
              </a:rPr>
              <a:t>607 / 405</a:t>
            </a:r>
            <a:endParaRPr lang="en-US" sz="3600" dirty="0"/>
          </a:p>
        </p:txBody>
      </p:sp>
      <p:sp>
        <p:nvSpPr>
          <p:cNvPr id="7" name="Text 5"/>
          <p:cNvSpPr txBox="1"/>
          <p:nvPr/>
        </p:nvSpPr>
        <p:spPr>
          <a:xfrm>
            <a:off x="3422904"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prompts carrying a feeling</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versus not — the specificity set</a:t>
            </a:r>
            <a:endParaRPr lang="en-US" sz="1250" dirty="0"/>
          </a:p>
        </p:txBody>
      </p:sp>
      <p:sp>
        <p:nvSpPr>
          <p:cNvPr id="8" name="Text 6"/>
          <p:cNvSpPr txBox="1"/>
          <p:nvPr/>
        </p:nvSpPr>
        <p:spPr>
          <a:xfrm>
            <a:off x="6160008" y="1783080"/>
            <a:ext cx="2606040" cy="658368"/>
          </a:xfrm>
          <a:prstGeom prst="rect">
            <a:avLst/>
          </a:prstGeom>
          <a:noFill/>
          <a:ln/>
        </p:spPr>
        <p:txBody>
          <a:bodyPr wrap="square" lIns="0" tIns="0" rIns="0" bIns="0" rtlCol="0" anchor="b"/>
          <a:lstStyle/>
          <a:p>
            <a:pPr indent="0" marL="0">
              <a:buNone/>
            </a:pPr>
            <a:r>
              <a:rPr lang="en-US" sz="3600" b="1" dirty="0">
                <a:solidFill>
                  <a:srgbClr val="0D5C63"/>
                </a:solidFill>
                <a:latin typeface="Cambria" pitchFamily="34" charset="0"/>
                <a:ea typeface="Cambria" pitchFamily="34" charset="-122"/>
                <a:cs typeface="Cambria" pitchFamily="34" charset="-120"/>
              </a:rPr>
              <a:t>591 / 421</a:t>
            </a:r>
            <a:endParaRPr lang="en-US" sz="3600" dirty="0"/>
          </a:p>
        </p:txBody>
      </p:sp>
      <p:sp>
        <p:nvSpPr>
          <p:cNvPr id="9" name="Text 7"/>
          <p:cNvSpPr txBox="1"/>
          <p:nvPr/>
        </p:nvSpPr>
        <p:spPr>
          <a:xfrm>
            <a:off x="6160008"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face-classified versus</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scene-classified drawings</a:t>
            </a:r>
            <a:endParaRPr lang="en-US" sz="1250" dirty="0"/>
          </a:p>
        </p:txBody>
      </p:sp>
      <p:sp>
        <p:nvSpPr>
          <p:cNvPr id="10" name="Text 8"/>
          <p:cNvSpPr txBox="1"/>
          <p:nvPr/>
        </p:nvSpPr>
        <p:spPr>
          <a:xfrm>
            <a:off x="8897112" y="1783080"/>
            <a:ext cx="2606040" cy="658368"/>
          </a:xfrm>
          <a:prstGeom prst="rect">
            <a:avLst/>
          </a:prstGeom>
          <a:noFill/>
          <a:ln/>
        </p:spPr>
        <p:txBody>
          <a:bodyPr wrap="square" lIns="0" tIns="0" rIns="0" bIns="0" rtlCol="0" anchor="b"/>
          <a:lstStyle/>
          <a:p>
            <a:pPr indent="0" marL="0">
              <a:buNone/>
            </a:pPr>
            <a:r>
              <a:rPr lang="en-US" sz="3600" b="1" dirty="0">
                <a:solidFill>
                  <a:srgbClr val="9A6410"/>
                </a:solidFill>
                <a:latin typeface="Cambria" pitchFamily="34" charset="0"/>
                <a:ea typeface="Cambria" pitchFamily="34" charset="-122"/>
                <a:cs typeface="Cambria" pitchFamily="34" charset="-120"/>
              </a:rPr>
              <a:t>87</a:t>
            </a:r>
            <a:endParaRPr lang="en-US" sz="3600" dirty="0"/>
          </a:p>
        </p:txBody>
      </p:sp>
      <p:sp>
        <p:nvSpPr>
          <p:cNvPr id="11" name="Text 9"/>
          <p:cNvSpPr txBox="1"/>
          <p:nvPr/>
        </p:nvSpPr>
        <p:spPr>
          <a:xfrm>
            <a:off x="8897112" y="2514600"/>
            <a:ext cx="2606040" cy="777240"/>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prompts drawn more than once,</a:t>
            </a:r>
            <a:endParaRPr lang="en-US" sz="1250" dirty="0"/>
          </a:p>
          <a:p>
            <a:pPr indent="0" marL="0">
              <a:buNone/>
            </a:pPr>
            <a:r>
              <a:rPr lang="en-US" sz="1250" dirty="0">
                <a:solidFill>
                  <a:srgbClr val="4A545E"/>
                </a:solidFill>
                <a:latin typeface="Calibri" pitchFamily="34" charset="0"/>
                <a:ea typeface="Calibri" pitchFamily="34" charset="-122"/>
                <a:cs typeface="Calibri" pitchFamily="34" charset="-120"/>
              </a:rPr>
              <a:t>covering 336 records</a:t>
            </a:r>
            <a:endParaRPr lang="en-US" sz="1250" dirty="0"/>
          </a:p>
        </p:txBody>
      </p:sp>
      <p:sp>
        <p:nvSpPr>
          <p:cNvPr id="12" name="Shape 10"/>
          <p:cNvSpPr/>
          <p:nvPr/>
        </p:nvSpPr>
        <p:spPr>
          <a:xfrm>
            <a:off x="685800" y="3520440"/>
            <a:ext cx="5262372" cy="2468880"/>
          </a:xfrm>
          <a:prstGeom prst="roundRect">
            <a:avLst>
              <a:gd name="adj" fmla="val 1481"/>
            </a:avLst>
          </a:prstGeom>
          <a:solidFill>
            <a:srgbClr val="F4F6F7"/>
          </a:solidFill>
          <a:ln w="12700">
            <a:solidFill>
              <a:srgbClr val="D8DDE1"/>
            </a:solidFill>
            <a:prstDash val="solid"/>
          </a:ln>
        </p:spPr>
      </p:sp>
      <p:sp>
        <p:nvSpPr>
          <p:cNvPr id="13" name="Text 11"/>
          <p:cNvSpPr txBox="1"/>
          <p:nvPr/>
        </p:nvSpPr>
        <p:spPr>
          <a:xfrm>
            <a:off x="978408" y="3675888"/>
            <a:ext cx="4677156" cy="292608"/>
          </a:xfrm>
          <a:prstGeom prst="rect">
            <a:avLst/>
          </a:prstGeom>
          <a:noFill/>
          <a:ln/>
        </p:spPr>
        <p:txBody>
          <a:bodyPr wrap="square" lIns="0" tIns="0" rIns="0" bIns="0" rtlCol="0" anchor="ctr"/>
          <a:lstStyle/>
          <a:p>
            <a:pPr indent="0" marL="0">
              <a:buNone/>
            </a:pPr>
            <a:r>
              <a:rPr lang="en-US" sz="1300" b="1" dirty="0">
                <a:solidFill>
                  <a:srgbClr val="1A2229"/>
                </a:solidFill>
                <a:latin typeface="Calibri" pitchFamily="34" charset="0"/>
                <a:ea typeface="Calibri" pitchFamily="34" charset="-122"/>
                <a:cs typeface="Calibri" pitchFamily="34" charset="-120"/>
              </a:rPr>
              <a:t>Data engineering</a:t>
            </a:r>
            <a:endParaRPr lang="en-US" sz="1300" dirty="0"/>
          </a:p>
        </p:txBody>
      </p:sp>
      <p:sp>
        <p:nvSpPr>
          <p:cNvPr id="14" name="Text 12"/>
          <p:cNvSpPr txBox="1"/>
          <p:nvPr/>
        </p:nvSpPr>
        <p:spPr>
          <a:xfrm>
            <a:off x="978408" y="4041648"/>
            <a:ext cx="4677156" cy="178308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Three incompatible filename schemes in one folder — a naive loader resolves under 20%.</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C2PA signing timestamps recovered from inside each PNG identified 13 pre-festival developer tests.</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Ran to completion on all 1,025 images with no unhandled errors — a robustness statement, not an accuracy one.</a:t>
            </a:r>
            <a:endParaRPr lang="en-US" sz="1250" dirty="0"/>
          </a:p>
        </p:txBody>
      </p:sp>
      <p:sp>
        <p:nvSpPr>
          <p:cNvPr id="15" name="Shape 13"/>
          <p:cNvSpPr/>
          <p:nvPr/>
        </p:nvSpPr>
        <p:spPr>
          <a:xfrm>
            <a:off x="6240780" y="3520440"/>
            <a:ext cx="5262372" cy="2468880"/>
          </a:xfrm>
          <a:prstGeom prst="roundRect">
            <a:avLst>
              <a:gd name="adj" fmla="val 1481"/>
            </a:avLst>
          </a:prstGeom>
          <a:solidFill>
            <a:srgbClr val="F4F6F7"/>
          </a:solidFill>
          <a:ln w="12700">
            <a:solidFill>
              <a:srgbClr val="D8DDE1"/>
            </a:solidFill>
            <a:prstDash val="solid"/>
          </a:ln>
        </p:spPr>
      </p:sp>
      <p:sp>
        <p:nvSpPr>
          <p:cNvPr id="16" name="Text 14"/>
          <p:cNvSpPr txBox="1"/>
          <p:nvPr/>
        </p:nvSpPr>
        <p:spPr>
          <a:xfrm>
            <a:off x="6533388" y="3675888"/>
            <a:ext cx="4677156" cy="292608"/>
          </a:xfrm>
          <a:prstGeom prst="rect">
            <a:avLst/>
          </a:prstGeom>
          <a:noFill/>
          <a:ln/>
        </p:spPr>
        <p:txBody>
          <a:bodyPr wrap="square" lIns="0" tIns="0" rIns="0" bIns="0" rtlCol="0" anchor="ctr"/>
          <a:lstStyle/>
          <a:p>
            <a:pPr indent="0" marL="0">
              <a:buNone/>
            </a:pPr>
            <a:r>
              <a:rPr lang="en-US" sz="1300" b="1" dirty="0">
                <a:solidFill>
                  <a:srgbClr val="1A2229"/>
                </a:solidFill>
                <a:latin typeface="Calibri" pitchFamily="34" charset="0"/>
                <a:ea typeface="Calibri" pitchFamily="34" charset="-122"/>
                <a:cs typeface="Calibri" pitchFamily="34" charset="-120"/>
              </a:rPr>
              <a:t>Data pre-processing</a:t>
            </a:r>
            <a:endParaRPr lang="en-US" sz="1300" dirty="0"/>
          </a:p>
        </p:txBody>
      </p:sp>
      <p:sp>
        <p:nvSpPr>
          <p:cNvPr id="17" name="Text 15"/>
          <p:cNvSpPr txBox="1"/>
          <p:nvPr/>
        </p:nvSpPr>
        <p:spPr>
          <a:xfrm>
            <a:off x="6533388" y="4041648"/>
            <a:ext cx="4677156" cy="178308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Eight records contained names of private individuals; these were replaced with a placeholder.</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Detection combined a 7,944-name gazetteer, a 236,000-word dictionary and naming phrases — 77% of the corpus is lower case, so capitalisation alone would miss most names.</a:t>
            </a:r>
            <a:endParaRPr lang="en-US" sz="1250" dirty="0"/>
          </a:p>
          <a:p>
            <a:pPr marL="342900" indent="-342900">
              <a:spcAft>
                <a:spcPts val="500"/>
              </a:spcAft>
              <a:buSzPct val="100000"/>
              <a:buChar char="•"/>
            </a:pPr>
            <a:r>
              <a:rPr lang="en-US" sz="1250" dirty="0">
                <a:solidFill>
                  <a:srgbClr val="4A545E"/>
                </a:solidFill>
                <a:latin typeface="Calibri" pitchFamily="34" charset="0"/>
                <a:ea typeface="Calibri" pitchFamily="34" charset="-122"/>
                <a:cs typeface="Calibri" pitchFamily="34" charset="-120"/>
              </a:rPr>
              <a:t>Verified inert: re-running the prompt reader changed no emotion label.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7FA8B5"/>
                </a:solidFill>
                <a:latin typeface="Calibri" pitchFamily="34" charset="0"/>
                <a:ea typeface="Calibri" pitchFamily="34" charset="-122"/>
                <a:cs typeface="Calibri" pitchFamily="34" charset="-120"/>
              </a:rPr>
              <a:t>EVALUATION DESIGN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checks that decide whether any number means anything</a:t>
            </a:r>
            <a:endParaRPr lang="en-US" sz="3200" dirty="0"/>
          </a:p>
        </p:txBody>
      </p:sp>
      <p:sp>
        <p:nvSpPr>
          <p:cNvPr id="4" name="Shape 2"/>
          <p:cNvSpPr/>
          <p:nvPr/>
        </p:nvSpPr>
        <p:spPr>
          <a:xfrm>
            <a:off x="685800" y="1874520"/>
            <a:ext cx="5262372" cy="1627632"/>
          </a:xfrm>
          <a:prstGeom prst="roundRect">
            <a:avLst>
              <a:gd name="adj" fmla="val 2247"/>
            </a:avLst>
          </a:prstGeom>
          <a:solidFill>
            <a:srgbClr val="16232C"/>
          </a:solidFill>
          <a:ln w="12700">
            <a:solidFill>
              <a:srgbClr val="33424D"/>
            </a:solidFill>
            <a:prstDash val="solid"/>
          </a:ln>
        </p:spPr>
      </p:sp>
      <p:sp>
        <p:nvSpPr>
          <p:cNvPr id="5" name="Text 3"/>
          <p:cNvSpPr txBox="1"/>
          <p:nvPr/>
        </p:nvSpPr>
        <p:spPr>
          <a:xfrm>
            <a:off x="1005840" y="2011680"/>
            <a:ext cx="4622292" cy="310896"/>
          </a:xfrm>
          <a:prstGeom prst="rect">
            <a:avLst/>
          </a:prstGeom>
          <a:noFill/>
          <a:ln/>
        </p:spPr>
        <p:txBody>
          <a:bodyPr wrap="square" lIns="0" tIns="0" rIns="0" bIns="0" rtlCol="0" anchor="ctr"/>
          <a:lstStyle/>
          <a:p>
            <a:pPr indent="0" marL="0">
              <a:buNone/>
            </a:pPr>
            <a:r>
              <a:rPr lang="en-US" sz="1350" b="1" dirty="0">
                <a:solidFill>
                  <a:srgbClr val="7FC4BE"/>
                </a:solidFill>
                <a:latin typeface="Calibri" pitchFamily="34" charset="0"/>
                <a:ea typeface="Calibri" pitchFamily="34" charset="-122"/>
                <a:cs typeface="Calibri" pitchFamily="34" charset="-120"/>
              </a:rPr>
              <a:t>1 · A random-pairing null</a:t>
            </a:r>
            <a:endParaRPr lang="en-US" sz="1350" dirty="0"/>
          </a:p>
        </p:txBody>
      </p:sp>
      <p:sp>
        <p:nvSpPr>
          <p:cNvPr id="6" name="Text 4"/>
          <p:cNvSpPr txBox="1"/>
          <p:nvPr/>
        </p:nvSpPr>
        <p:spPr>
          <a:xfrm>
            <a:off x="1005840" y="2395728"/>
            <a:ext cx="4622292" cy="1234440"/>
          </a:xfrm>
          <a:prstGeom prst="rect">
            <a:avLst/>
          </a:prstGeom>
          <a:noFill/>
          <a:ln/>
        </p:spPr>
        <p:txBody>
          <a:bodyPr wrap="square" lIns="0" tIns="0" rIns="0" bIns="0" rtlCol="0" anchor="t"/>
          <a:lstStyle/>
          <a:p>
            <a:pPr indent="0" marL="0">
              <a:buNone/>
            </a:pPr>
            <a:r>
              <a:rPr lang="en-US" sz="1300" dirty="0">
                <a:solidFill>
                  <a:srgbClr val="C6D4DB"/>
                </a:solidFill>
                <a:latin typeface="Calibri" pitchFamily="34" charset="0"/>
                <a:ea typeface="Calibri" pitchFamily="34" charset="-122"/>
                <a:cs typeface="Calibri" pitchFamily="34" charset="-120"/>
              </a:rPr>
              <a:t>Within each subset the image side is shuffled and re-paired against the untouched prompts, 300 times, with a fixed seed. Every figure I report is quoted against its own null, so a result counts only insofar as it exceeds chance.</a:t>
            </a:r>
            <a:endParaRPr lang="en-US" sz="1300" dirty="0"/>
          </a:p>
        </p:txBody>
      </p:sp>
      <p:sp>
        <p:nvSpPr>
          <p:cNvPr id="7" name="Shape 5"/>
          <p:cNvSpPr/>
          <p:nvPr/>
        </p:nvSpPr>
        <p:spPr>
          <a:xfrm>
            <a:off x="6240780" y="1874520"/>
            <a:ext cx="5262372" cy="1627632"/>
          </a:xfrm>
          <a:prstGeom prst="roundRect">
            <a:avLst>
              <a:gd name="adj" fmla="val 2247"/>
            </a:avLst>
          </a:prstGeom>
          <a:solidFill>
            <a:srgbClr val="16232C"/>
          </a:solidFill>
          <a:ln w="12700">
            <a:solidFill>
              <a:srgbClr val="33424D"/>
            </a:solidFill>
            <a:prstDash val="solid"/>
          </a:ln>
        </p:spPr>
      </p:sp>
      <p:sp>
        <p:nvSpPr>
          <p:cNvPr id="8" name="Text 6"/>
          <p:cNvSpPr txBox="1"/>
          <p:nvPr/>
        </p:nvSpPr>
        <p:spPr>
          <a:xfrm>
            <a:off x="6560820" y="2011680"/>
            <a:ext cx="4622292" cy="310896"/>
          </a:xfrm>
          <a:prstGeom prst="rect">
            <a:avLst/>
          </a:prstGeom>
          <a:noFill/>
          <a:ln/>
        </p:spPr>
        <p:txBody>
          <a:bodyPr wrap="square" lIns="0" tIns="0" rIns="0" bIns="0" rtlCol="0" anchor="ctr"/>
          <a:lstStyle/>
          <a:p>
            <a:pPr indent="0" marL="0">
              <a:buNone/>
            </a:pPr>
            <a:r>
              <a:rPr lang="en-US" sz="1350" b="1" dirty="0">
                <a:solidFill>
                  <a:srgbClr val="7FC4BE"/>
                </a:solidFill>
                <a:latin typeface="Calibri" pitchFamily="34" charset="0"/>
                <a:ea typeface="Calibri" pitchFamily="34" charset="-122"/>
                <a:cs typeface="Calibri" pitchFamily="34" charset="-120"/>
              </a:rPr>
              <a:t>2 · A specificity check</a:t>
            </a:r>
            <a:endParaRPr lang="en-US" sz="1350" dirty="0"/>
          </a:p>
        </p:txBody>
      </p:sp>
      <p:sp>
        <p:nvSpPr>
          <p:cNvPr id="9" name="Text 7"/>
          <p:cNvSpPr txBox="1"/>
          <p:nvPr/>
        </p:nvSpPr>
        <p:spPr>
          <a:xfrm>
            <a:off x="6560820" y="2395728"/>
            <a:ext cx="4622292" cy="1234440"/>
          </a:xfrm>
          <a:prstGeom prst="rect">
            <a:avLst/>
          </a:prstGeom>
          <a:noFill/>
          <a:ln/>
        </p:spPr>
        <p:txBody>
          <a:bodyPr wrap="square" lIns="0" tIns="0" rIns="0" bIns="0" rtlCol="0" anchor="t"/>
          <a:lstStyle/>
          <a:p>
            <a:pPr indent="0" marL="0">
              <a:buNone/>
            </a:pPr>
            <a:r>
              <a:rPr lang="en-US" sz="1300" dirty="0">
                <a:solidFill>
                  <a:srgbClr val="C6D4DB"/>
                </a:solidFill>
                <a:latin typeface="Calibri" pitchFamily="34" charset="0"/>
                <a:ea typeface="Calibri" pitchFamily="34" charset="-122"/>
                <a:cs typeface="Calibri" pitchFamily="34" charset="-120"/>
              </a:rPr>
              <a:t>405 prompts carry no feeling — “pigs”, “mickey mouse”. On these the valence–arousal metric returns 76.6% against a null of 76.6%, z = +0.3. The pipeline reports agreement only where the prompt reader finds an emotion.</a:t>
            </a:r>
            <a:endParaRPr lang="en-US" sz="1300" dirty="0"/>
          </a:p>
        </p:txBody>
      </p:sp>
      <p:sp>
        <p:nvSpPr>
          <p:cNvPr id="10" name="Text 8"/>
          <p:cNvSpPr txBox="1"/>
          <p:nvPr/>
        </p:nvSpPr>
        <p:spPr>
          <a:xfrm>
            <a:off x="685800" y="4069080"/>
            <a:ext cx="731520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And the scale does not start at zero</a:t>
            </a:r>
            <a:endParaRPr lang="en-US" sz="1350" dirty="0"/>
          </a:p>
        </p:txBody>
      </p:sp>
      <p:sp>
        <p:nvSpPr>
          <p:cNvPr id="11" name="Shape 9"/>
          <p:cNvSpPr/>
          <p:nvPr/>
        </p:nvSpPr>
        <p:spPr>
          <a:xfrm>
            <a:off x="685800" y="4572000"/>
            <a:ext cx="10817352" cy="457200"/>
          </a:xfrm>
          <a:prstGeom prst="roundRect">
            <a:avLst>
              <a:gd name="adj" fmla="val 8000"/>
            </a:avLst>
          </a:prstGeom>
          <a:solidFill>
            <a:srgbClr val="16232C"/>
          </a:solidFill>
          <a:ln w="12700">
            <a:solidFill>
              <a:srgbClr val="33424D"/>
            </a:solidFill>
            <a:prstDash val="solid"/>
          </a:ln>
        </p:spPr>
      </p:sp>
      <p:sp>
        <p:nvSpPr>
          <p:cNvPr id="12" name="Shape 10"/>
          <p:cNvSpPr/>
          <p:nvPr/>
        </p:nvSpPr>
        <p:spPr>
          <a:xfrm>
            <a:off x="685800" y="4572000"/>
            <a:ext cx="6417073" cy="457200"/>
          </a:xfrm>
          <a:prstGeom prst="rect">
            <a:avLst/>
          </a:prstGeom>
          <a:solidFill>
            <a:srgbClr val="1E3A42"/>
          </a:solidFill>
          <a:ln/>
        </p:spPr>
      </p:sp>
      <p:sp>
        <p:nvSpPr>
          <p:cNvPr id="13" name="Shape 11"/>
          <p:cNvSpPr/>
          <p:nvPr/>
        </p:nvSpPr>
        <p:spPr>
          <a:xfrm>
            <a:off x="685800" y="4443984"/>
            <a:ext cx="32004" cy="713232"/>
          </a:xfrm>
          <a:prstGeom prst="rect">
            <a:avLst/>
          </a:prstGeom>
          <a:solidFill>
            <a:srgbClr val="9FB0B9"/>
          </a:solidFill>
          <a:ln/>
        </p:spPr>
      </p:sp>
      <p:sp>
        <p:nvSpPr>
          <p:cNvPr id="14" name="Shape 12"/>
          <p:cNvSpPr/>
          <p:nvPr/>
        </p:nvSpPr>
        <p:spPr>
          <a:xfrm>
            <a:off x="7102873" y="4443984"/>
            <a:ext cx="32004" cy="713232"/>
          </a:xfrm>
          <a:prstGeom prst="rect">
            <a:avLst/>
          </a:prstGeom>
          <a:solidFill>
            <a:srgbClr val="FFFFFF"/>
          </a:solidFill>
          <a:ln/>
        </p:spPr>
      </p:sp>
      <p:sp>
        <p:nvSpPr>
          <p:cNvPr id="15" name="Shape 13"/>
          <p:cNvSpPr/>
          <p:nvPr/>
        </p:nvSpPr>
        <p:spPr>
          <a:xfrm>
            <a:off x="8569633" y="4443984"/>
            <a:ext cx="32004" cy="713232"/>
          </a:xfrm>
          <a:prstGeom prst="rect">
            <a:avLst/>
          </a:prstGeom>
          <a:solidFill>
            <a:srgbClr val="D9A441"/>
          </a:solidFill>
          <a:ln/>
        </p:spPr>
      </p:sp>
      <p:sp>
        <p:nvSpPr>
          <p:cNvPr id="16" name="Text 14"/>
          <p:cNvSpPr txBox="1"/>
          <p:nvPr/>
        </p:nvSpPr>
        <p:spPr>
          <a:xfrm>
            <a:off x="685800" y="5138928"/>
            <a:ext cx="2743200" cy="292608"/>
          </a:xfrm>
          <a:prstGeom prst="rect">
            <a:avLst/>
          </a:prstGeom>
          <a:noFill/>
          <a:ln/>
        </p:spPr>
        <p:txBody>
          <a:bodyPr wrap="square" lIns="0" tIns="0" rIns="0" bIns="0" rtlCol="0" anchor="ctr"/>
          <a:lstStyle/>
          <a:p>
            <a:pPr algn="l" indent="0" marL="0">
              <a:buNone/>
            </a:pPr>
            <a:r>
              <a:rPr lang="en-US" sz="1200" b="1" dirty="0">
                <a:solidFill>
                  <a:srgbClr val="9FB0B9"/>
                </a:solidFill>
                <a:latin typeface="Calibri" pitchFamily="34" charset="0"/>
                <a:ea typeface="Calibri" pitchFamily="34" charset="-122"/>
                <a:cs typeface="Calibri" pitchFamily="34" charset="-120"/>
              </a:rPr>
              <a:t>41 - metric floor</a:t>
            </a:r>
            <a:endParaRPr lang="en-US" sz="1200" dirty="0"/>
          </a:p>
        </p:txBody>
      </p:sp>
      <p:sp>
        <p:nvSpPr>
          <p:cNvPr id="17" name="Text 15"/>
          <p:cNvSpPr txBox="1"/>
          <p:nvPr/>
        </p:nvSpPr>
        <p:spPr>
          <a:xfrm>
            <a:off x="5731273" y="5138928"/>
            <a:ext cx="27432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76 - random pairings</a:t>
            </a:r>
            <a:endParaRPr lang="en-US" sz="1200" dirty="0"/>
          </a:p>
        </p:txBody>
      </p:sp>
      <p:sp>
        <p:nvSpPr>
          <p:cNvPr id="18" name="Text 16"/>
          <p:cNvSpPr txBox="1"/>
          <p:nvPr/>
        </p:nvSpPr>
        <p:spPr>
          <a:xfrm>
            <a:off x="7198033" y="5138928"/>
            <a:ext cx="2743200" cy="292608"/>
          </a:xfrm>
          <a:prstGeom prst="rect">
            <a:avLst/>
          </a:prstGeom>
          <a:noFill/>
          <a:ln/>
        </p:spPr>
        <p:txBody>
          <a:bodyPr wrap="square" lIns="0" tIns="0" rIns="0" bIns="0" rtlCol="0" anchor="ctr"/>
          <a:lstStyle/>
          <a:p>
            <a:pPr algn="ctr" indent="0" marL="0">
              <a:buNone/>
            </a:pPr>
            <a:r>
              <a:rPr lang="en-US" sz="1200" b="1" dirty="0">
                <a:solidFill>
                  <a:srgbClr val="D9A441"/>
                </a:solidFill>
                <a:latin typeface="Calibri" pitchFamily="34" charset="0"/>
                <a:ea typeface="Calibri" pitchFamily="34" charset="-122"/>
                <a:cs typeface="Calibri" pitchFamily="34" charset="-120"/>
              </a:rPr>
              <a:t>84 - observed</a:t>
            </a:r>
            <a:endParaRPr lang="en-US" sz="1200" dirty="0"/>
          </a:p>
        </p:txBody>
      </p:sp>
      <p:sp>
        <p:nvSpPr>
          <p:cNvPr id="19" name="Text 17"/>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93A6AE"/>
                </a:solidFill>
                <a:latin typeface="Calibri" pitchFamily="34" charset="0"/>
                <a:ea typeface="Calibri" pitchFamily="34" charset="-122"/>
                <a:cs typeface="Calibri" pitchFamily="34" charset="-120"/>
              </a:rPr>
              <a:t>Consequence: a valence–arousal score of 71 reads as a pass but is below chance. Reporting therefore leads with valence-sign and family agreement, which the metric cannot substitute for.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Agreement is above chance, and strongest for face-classified drawings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883664"/>
          <a:ext cx="10817352" cy="914400"/>
        </p:xfrm>
        <a:graphic>
          <a:graphicData uri="http://schemas.openxmlformats.org/drawingml/2006/table">
            <a:tbl>
              <a:tblPr/>
              <a:tblGrid>
                <a:gridCol w="2743200"/>
                <a:gridCol w="3017520"/>
                <a:gridCol w="3017520"/>
                <a:gridCol w="2039112"/>
              </a:tblGrid>
              <a:tr h="384048">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Subset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Valence-sign agreement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Emotion-family agreement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2229"/>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Emotional prompts  (n=607)</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64.0%   vs null 45.6%   z +11.1</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53.1%   vs null 38.8%   z +10.3</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Well above chance</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Face-classified  (n=402)</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73.9%   vs null 53.5%   z +10.4</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61.9%   vs null 45.8%   z +10.3</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Strongest</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Scene-classified  (n=205)</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42.9%   vs null 29.6%   z +5.8</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35.6%   vs null 26.2%   z +4.4</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Above chance, weaker</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Non-emotional  (n=405)</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 degenerate by 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 degenerate by 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9"/>
                          </a:solidFill>
                          <a:latin typeface="Calibri" pitchFamily="34" charset="0"/>
                          <a:ea typeface="Calibri" pitchFamily="34" charset="-122"/>
                          <a:cs typeface="Calibri" pitchFamily="34" charset="-120"/>
                        </a:rPr>
                        <a:t>Specificity check</a:t>
                      </a:r>
                      <a:endParaRPr lang="en-US" sz="1200" dirty="0">
                        <a:latin typeface="Calibri" charset="0"/>
                        <a:ea typeface="Calibri" charset="0"/>
                        <a:cs typeface="Calibri" charset="0"/>
                      </a:endParaRPr>
                    </a:p>
                  </a:txBody>
                  <a:tcPr marL="91440" marR="91440" marT="45720" marB="45720" anchor="ctr">
                    <a:lnL w="12700" cap="flat" cmpd="sng" algn="ctr">
                      <a:solidFill>
                        <a:srgbClr val="D8DDE1"/>
                      </a:solidFill>
                      <a:prstDash val="solid"/>
                      <a:round/>
                      <a:headEnd type="none" w="med" len="med"/>
                      <a:tailEnd type="none" w="med" len="med"/>
                    </a:lnL>
                    <a:lnR w="12700" cap="flat" cmpd="sng" algn="ctr">
                      <a:solidFill>
                        <a:srgbClr val="D8DDE1"/>
                      </a:solidFill>
                      <a:prstDash val="solid"/>
                      <a:round/>
                      <a:headEnd type="none" w="med" len="med"/>
                      <a:tailEnd type="none" w="med" len="med"/>
                    </a:lnR>
                    <a:lnT w="12700" cap="flat" cmpd="sng" algn="ctr">
                      <a:solidFill>
                        <a:srgbClr val="D8DDE1"/>
                      </a:solidFill>
                      <a:prstDash val="solid"/>
                      <a:round/>
                      <a:headEnd type="none" w="med" len="med"/>
                      <a:tailEnd type="none" w="med" len="med"/>
                    </a:lnT>
                    <a:lnB w="12700" cap="flat" cmpd="sng" algn="ctr">
                      <a:solidFill>
                        <a:srgbClr val="D8DD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4187952"/>
            <a:ext cx="2331720" cy="658368"/>
          </a:xfrm>
          <a:prstGeom prst="rect">
            <a:avLst/>
          </a:prstGeom>
          <a:noFill/>
          <a:ln/>
        </p:spPr>
        <p:txBody>
          <a:bodyPr wrap="square" lIns="0" tIns="0" rIns="0" bIns="0" rtlCol="0" anchor="t"/>
          <a:lstStyle/>
          <a:p>
            <a:pPr indent="0" marL="0">
              <a:buNone/>
            </a:pPr>
            <a:r>
              <a:rPr lang="en-US" sz="1250" b="1" dirty="0">
                <a:solidFill>
                  <a:srgbClr val="0D5C63"/>
                </a:solidFill>
                <a:latin typeface="Calibri" pitchFamily="34" charset="0"/>
                <a:ea typeface="Calibri" pitchFamily="34" charset="-122"/>
                <a:cs typeface="Calibri" pitchFamily="34" charset="-120"/>
              </a:rPr>
              <a:t>Repeated prompts</a:t>
            </a:r>
            <a:endParaRPr lang="en-US" sz="1250" dirty="0"/>
          </a:p>
        </p:txBody>
      </p:sp>
      <p:sp>
        <p:nvSpPr>
          <p:cNvPr id="6" name="Text 3"/>
          <p:cNvSpPr txBox="1"/>
          <p:nvPr/>
        </p:nvSpPr>
        <p:spPr>
          <a:xfrm>
            <a:off x="3200400" y="4187952"/>
            <a:ext cx="8302752" cy="713232"/>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Given the same prompt text, the image reader returns the same emotion for 68.8% of drawings within a group, against a permutation null of 59.1% (z +4.9). The generator is not deterministic in what the reader recovers.</a:t>
            </a:r>
            <a:endParaRPr lang="en-US" sz="1250" dirty="0"/>
          </a:p>
        </p:txBody>
      </p:sp>
      <p:sp>
        <p:nvSpPr>
          <p:cNvPr id="7" name="Text 4"/>
          <p:cNvSpPr txBox="1"/>
          <p:nvPr/>
        </p:nvSpPr>
        <p:spPr>
          <a:xfrm>
            <a:off x="685800" y="4919472"/>
            <a:ext cx="2331720" cy="658368"/>
          </a:xfrm>
          <a:prstGeom prst="rect">
            <a:avLst/>
          </a:prstGeom>
          <a:noFill/>
          <a:ln/>
        </p:spPr>
        <p:txBody>
          <a:bodyPr wrap="square" lIns="0" tIns="0" rIns="0" bIns="0" rtlCol="0" anchor="t"/>
          <a:lstStyle/>
          <a:p>
            <a:pPr indent="0" marL="0">
              <a:buNone/>
            </a:pPr>
            <a:r>
              <a:rPr lang="en-US" sz="1250" b="1" dirty="0">
                <a:solidFill>
                  <a:srgbClr val="0D5C63"/>
                </a:solidFill>
                <a:latin typeface="Calibri" pitchFamily="34" charset="0"/>
                <a:ea typeface="Calibri" pitchFamily="34" charset="-122"/>
                <a:cs typeface="Calibri" pitchFamily="34" charset="-120"/>
              </a:rPr>
              <a:t>Method comparison</a:t>
            </a:r>
            <a:endParaRPr lang="en-US" sz="1250" dirty="0"/>
          </a:p>
        </p:txBody>
      </p:sp>
      <p:sp>
        <p:nvSpPr>
          <p:cNvPr id="8" name="Text 5"/>
          <p:cNvSpPr txBox="1"/>
          <p:nvPr/>
        </p:nvSpPr>
        <p:spPr>
          <a:xfrm>
            <a:off x="3200400" y="4919472"/>
            <a:ext cx="8302752" cy="713232"/>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Holding the prompt reader constant and varying only the image reader: describe-then-extract 49.3% family agreement against direct-CLIP 25.3%. Note the prompt reader here is BART-MNLI, not the GoEmotions reader used above.</a:t>
            </a:r>
            <a:endParaRPr lang="en-US" sz="1250" dirty="0"/>
          </a:p>
        </p:txBody>
      </p:sp>
      <p:sp>
        <p:nvSpPr>
          <p:cNvPr id="9" name="Text 6"/>
          <p:cNvSpPr txBox="1"/>
          <p:nvPr/>
        </p:nvSpPr>
        <p:spPr>
          <a:xfrm>
            <a:off x="685800" y="5650992"/>
            <a:ext cx="2331720" cy="658368"/>
          </a:xfrm>
          <a:prstGeom prst="rect">
            <a:avLst/>
          </a:prstGeom>
          <a:noFill/>
          <a:ln/>
        </p:spPr>
        <p:txBody>
          <a:bodyPr wrap="square" lIns="0" tIns="0" rIns="0" bIns="0" rtlCol="0" anchor="t"/>
          <a:lstStyle/>
          <a:p>
            <a:pPr indent="0" marL="0">
              <a:buNone/>
            </a:pPr>
            <a:r>
              <a:rPr lang="en-US" sz="1250" b="1" dirty="0">
                <a:solidFill>
                  <a:srgbClr val="0D5C63"/>
                </a:solidFill>
                <a:latin typeface="Calibri" pitchFamily="34" charset="0"/>
                <a:ea typeface="Calibri" pitchFamily="34" charset="-122"/>
                <a:cs typeface="Calibri" pitchFamily="34" charset="-120"/>
              </a:rPr>
              <a:t>Robustness</a:t>
            </a:r>
            <a:endParaRPr lang="en-US" sz="1250" dirty="0"/>
          </a:p>
        </p:txBody>
      </p:sp>
      <p:sp>
        <p:nvSpPr>
          <p:cNvPr id="10" name="Text 7"/>
          <p:cNvSpPr txBox="1"/>
          <p:nvPr/>
        </p:nvSpPr>
        <p:spPr>
          <a:xfrm>
            <a:off x="3200400" y="5650992"/>
            <a:ext cx="8302752" cy="713232"/>
          </a:xfrm>
          <a:prstGeom prst="rect">
            <a:avLst/>
          </a:prstGeom>
          <a:noFill/>
          <a:ln/>
        </p:spPr>
        <p:txBody>
          <a:bodyPr wrap="square" lIns="0" tIns="0" rIns="0" bIns="0" rtlCol="0" anchor="t"/>
          <a:lstStyle/>
          <a:p>
            <a:pPr indent="0" marL="0">
              <a:buNone/>
            </a:pPr>
            <a:r>
              <a:rPr lang="en-US" sz="1250" dirty="0">
                <a:solidFill>
                  <a:srgbClr val="4A545E"/>
                </a:solidFill>
                <a:latin typeface="Calibri" pitchFamily="34" charset="0"/>
                <a:ea typeface="Calibri" pitchFamily="34" charset="-122"/>
                <a:cs typeface="Calibri" pitchFamily="34" charset="-120"/>
              </a:rPr>
              <a:t>Re-run on the 763 distinct prompts, the overall and face results hold (z +9 to +11). The scene result weakens substantially, to 37.3% (z +3.5).</a:t>
            </a:r>
            <a:endParaRPr lang="en-US" sz="1250" dirty="0"/>
          </a:p>
        </p:txBody>
      </p:sp>
      <p:sp>
        <p:nvSpPr>
          <p:cNvPr id="11" name="Text 8"/>
          <p:cNvSpPr txBox="1"/>
          <p:nvPr/>
        </p:nvSpPr>
        <p:spPr>
          <a:xfrm>
            <a:off x="685800" y="6071616"/>
            <a:ext cx="10817352" cy="347472"/>
          </a:xfrm>
          <a:prstGeom prst="rect">
            <a:avLst/>
          </a:prstGeom>
          <a:noFill/>
          <a:ln/>
        </p:spPr>
        <p:txBody>
          <a:bodyPr wrap="square" lIns="0" tIns="0" rIns="0" bIns="0" rtlCol="0" anchor="t"/>
          <a:lstStyle/>
          <a:p>
            <a:pPr indent="0" marL="0">
              <a:buNone/>
            </a:pPr>
            <a:r>
              <a:rPr lang="en-US" sz="1050" i="1" dirty="0">
                <a:solidFill>
                  <a:srgbClr val="6B747C"/>
                </a:solidFill>
                <a:latin typeface="Calibri" pitchFamily="34" charset="0"/>
                <a:ea typeface="Calibri" pitchFamily="34" charset="-122"/>
                <a:cs typeface="Calibri" pitchFamily="34" charset="-120"/>
              </a:rPr>
              <a:t>No formal significance test of the face–scene difference has been run; both rates are reported against their own nulls instead.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7FA8B5"/>
                </a:solidFill>
                <a:latin typeface="Calibri" pitchFamily="34" charset="0"/>
                <a:ea typeface="Calibri" pitchFamily="34" charset="-122"/>
                <a:cs typeface="Calibri" pitchFamily="34" charset="-120"/>
              </a:rPr>
              <a:t>DEMONSTRATION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running live</a:t>
            </a:r>
            <a:endParaRPr lang="en-US" sz="3200" dirty="0"/>
          </a:p>
        </p:txBody>
      </p:sp>
      <p:sp>
        <p:nvSpPr>
          <p:cNvPr id="4" name="Shape 2"/>
          <p:cNvSpPr/>
          <p:nvPr/>
        </p:nvSpPr>
        <p:spPr>
          <a:xfrm>
            <a:off x="685800" y="1965960"/>
            <a:ext cx="10817352" cy="2029968"/>
          </a:xfrm>
          <a:prstGeom prst="roundRect">
            <a:avLst>
              <a:gd name="adj" fmla="val 1802"/>
            </a:avLst>
          </a:prstGeom>
          <a:solidFill>
            <a:srgbClr val="16232C"/>
          </a:solidFill>
          <a:ln w="12700">
            <a:solidFill>
              <a:srgbClr val="33424D"/>
            </a:solidFill>
            <a:prstDash val="solid"/>
          </a:ln>
        </p:spPr>
      </p:sp>
      <p:sp>
        <p:nvSpPr>
          <p:cNvPr id="5" name="Shape 3"/>
          <p:cNvSpPr/>
          <p:nvPr/>
        </p:nvSpPr>
        <p:spPr>
          <a:xfrm>
            <a:off x="941832" y="2286000"/>
            <a:ext cx="457200" cy="457200"/>
          </a:xfrm>
          <a:prstGeom prst="ellipse">
            <a:avLst/>
          </a:prstGeom>
          <a:solidFill>
            <a:srgbClr val="1E3A42"/>
          </a:solidFill>
          <a:ln w="12700">
            <a:solidFill>
              <a:srgbClr val="2F7B7F"/>
            </a:solidFill>
            <a:prstDash val="solid"/>
          </a:ln>
        </p:spPr>
      </p:sp>
      <p:sp>
        <p:nvSpPr>
          <p:cNvPr id="6" name="Text 4"/>
          <p:cNvSpPr txBox="1"/>
          <p:nvPr/>
        </p:nvSpPr>
        <p:spPr>
          <a:xfrm>
            <a:off x="941832" y="2286000"/>
            <a:ext cx="457200" cy="457200"/>
          </a:xfrm>
          <a:prstGeom prst="rect">
            <a:avLst/>
          </a:prstGeom>
          <a:noFill/>
          <a:ln/>
        </p:spPr>
        <p:txBody>
          <a:bodyPr wrap="square" lIns="0" tIns="0" rIns="0" bIns="0" rtlCol="0" anchor="ctr"/>
          <a:lstStyle/>
          <a:p>
            <a:pPr algn="ctr" indent="0" marL="0">
              <a:buNone/>
            </a:pPr>
            <a:r>
              <a:rPr lang="en-US" sz="1300" b="1" dirty="0">
                <a:solidFill>
                  <a:srgbClr val="7FC4BE"/>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941832" y="2880360"/>
            <a:ext cx="30632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Choose a drawing</a:t>
            </a:r>
            <a:endParaRPr lang="en-US" sz="1400" dirty="0"/>
          </a:p>
        </p:txBody>
      </p:sp>
      <p:sp>
        <p:nvSpPr>
          <p:cNvPr id="8" name="Text 6"/>
          <p:cNvSpPr txBox="1"/>
          <p:nvPr/>
        </p:nvSpPr>
        <p:spPr>
          <a:xfrm>
            <a:off x="941832" y="3246120"/>
            <a:ext cx="3063240" cy="914400"/>
          </a:xfrm>
          <a:prstGeom prst="rect">
            <a:avLst/>
          </a:prstGeom>
          <a:noFill/>
          <a:ln/>
        </p:spPr>
        <p:txBody>
          <a:bodyPr wrap="square" lIns="0" tIns="0" rIns="0" bIns="0" rtlCol="0" anchor="t"/>
          <a:lstStyle/>
          <a:p>
            <a:pPr indent="0" marL="0">
              <a:buNone/>
            </a:pPr>
            <a:r>
              <a:rPr lang="en-US" sz="1250" dirty="0">
                <a:solidFill>
                  <a:srgbClr val="C6D4DB"/>
                </a:solidFill>
                <a:latin typeface="Calibri" pitchFamily="34" charset="0"/>
                <a:ea typeface="Calibri" pitchFamily="34" charset="-122"/>
                <a:cs typeface="Calibri" pitchFamily="34" charset="-120"/>
              </a:rPr>
              <a:t>from the festival dataset, or upload an image</a:t>
            </a:r>
            <a:endParaRPr lang="en-US" sz="1250" dirty="0"/>
          </a:p>
        </p:txBody>
      </p:sp>
      <p:sp>
        <p:nvSpPr>
          <p:cNvPr id="9" name="Shape 7"/>
          <p:cNvSpPr/>
          <p:nvPr/>
        </p:nvSpPr>
        <p:spPr>
          <a:xfrm>
            <a:off x="4567428" y="2286000"/>
            <a:ext cx="457200" cy="457200"/>
          </a:xfrm>
          <a:prstGeom prst="ellipse">
            <a:avLst/>
          </a:prstGeom>
          <a:solidFill>
            <a:srgbClr val="1E3A42"/>
          </a:solidFill>
          <a:ln w="12700">
            <a:solidFill>
              <a:srgbClr val="2F7B7F"/>
            </a:solidFill>
            <a:prstDash val="solid"/>
          </a:ln>
        </p:spPr>
      </p:sp>
      <p:sp>
        <p:nvSpPr>
          <p:cNvPr id="10" name="Text 8"/>
          <p:cNvSpPr txBox="1"/>
          <p:nvPr/>
        </p:nvSpPr>
        <p:spPr>
          <a:xfrm>
            <a:off x="4567428" y="2286000"/>
            <a:ext cx="457200" cy="457200"/>
          </a:xfrm>
          <a:prstGeom prst="rect">
            <a:avLst/>
          </a:prstGeom>
          <a:noFill/>
          <a:ln/>
        </p:spPr>
        <p:txBody>
          <a:bodyPr wrap="square" lIns="0" tIns="0" rIns="0" bIns="0" rtlCol="0" anchor="ctr"/>
          <a:lstStyle/>
          <a:p>
            <a:pPr algn="ctr" indent="0" marL="0">
              <a:buNone/>
            </a:pPr>
            <a:r>
              <a:rPr lang="en-US" sz="1300" b="1" dirty="0">
                <a:solidFill>
                  <a:srgbClr val="7FC4BE"/>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4567428" y="2880360"/>
            <a:ext cx="30632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it described</a:t>
            </a:r>
            <a:endParaRPr lang="en-US" sz="1400" dirty="0"/>
          </a:p>
        </p:txBody>
      </p:sp>
      <p:sp>
        <p:nvSpPr>
          <p:cNvPr id="12" name="Text 10"/>
          <p:cNvSpPr txBox="1"/>
          <p:nvPr/>
        </p:nvSpPr>
        <p:spPr>
          <a:xfrm>
            <a:off x="4567428" y="3246120"/>
            <a:ext cx="3063240" cy="914400"/>
          </a:xfrm>
          <a:prstGeom prst="rect">
            <a:avLst/>
          </a:prstGeom>
          <a:noFill/>
          <a:ln/>
        </p:spPr>
        <p:txBody>
          <a:bodyPr wrap="square" lIns="0" tIns="0" rIns="0" bIns="0" rtlCol="0" anchor="t"/>
          <a:lstStyle/>
          <a:p>
            <a:pPr indent="0" marL="0">
              <a:buNone/>
            </a:pPr>
            <a:r>
              <a:rPr lang="en-US" sz="1250" dirty="0">
                <a:solidFill>
                  <a:srgbClr val="C6D4DB"/>
                </a:solidFill>
                <a:latin typeface="Calibri" pitchFamily="34" charset="0"/>
                <a:ea typeface="Calibri" pitchFamily="34" charset="-122"/>
                <a:cs typeface="Calibri" pitchFamily="34" charset="-120"/>
              </a:rPr>
              <a:t>the five factual answers, then the emotion read from them</a:t>
            </a:r>
            <a:endParaRPr lang="en-US" sz="1250" dirty="0"/>
          </a:p>
        </p:txBody>
      </p:sp>
      <p:sp>
        <p:nvSpPr>
          <p:cNvPr id="13" name="Shape 11"/>
          <p:cNvSpPr/>
          <p:nvPr/>
        </p:nvSpPr>
        <p:spPr>
          <a:xfrm>
            <a:off x="8193024" y="2286000"/>
            <a:ext cx="457200" cy="457200"/>
          </a:xfrm>
          <a:prstGeom prst="ellipse">
            <a:avLst/>
          </a:prstGeom>
          <a:solidFill>
            <a:srgbClr val="1E3A42"/>
          </a:solidFill>
          <a:ln w="12700">
            <a:solidFill>
              <a:srgbClr val="2F7B7F"/>
            </a:solidFill>
            <a:prstDash val="solid"/>
          </a:ln>
        </p:spPr>
      </p:sp>
      <p:sp>
        <p:nvSpPr>
          <p:cNvPr id="14" name="Text 12"/>
          <p:cNvSpPr txBox="1"/>
          <p:nvPr/>
        </p:nvSpPr>
        <p:spPr>
          <a:xfrm>
            <a:off x="8193024" y="2286000"/>
            <a:ext cx="457200" cy="457200"/>
          </a:xfrm>
          <a:prstGeom prst="rect">
            <a:avLst/>
          </a:prstGeom>
          <a:noFill/>
          <a:ln/>
        </p:spPr>
        <p:txBody>
          <a:bodyPr wrap="square" lIns="0" tIns="0" rIns="0" bIns="0" rtlCol="0" anchor="ctr"/>
          <a:lstStyle/>
          <a:p>
            <a:pPr algn="ctr" indent="0" marL="0">
              <a:buNone/>
            </a:pPr>
            <a:r>
              <a:rPr lang="en-US" sz="1300" b="1" dirty="0">
                <a:solidFill>
                  <a:srgbClr val="7FC4BE"/>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8193024" y="2880360"/>
            <a:ext cx="30632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Compare</a:t>
            </a:r>
            <a:endParaRPr lang="en-US" sz="1400" dirty="0"/>
          </a:p>
        </p:txBody>
      </p:sp>
      <p:sp>
        <p:nvSpPr>
          <p:cNvPr id="16" name="Text 14"/>
          <p:cNvSpPr txBox="1"/>
          <p:nvPr/>
        </p:nvSpPr>
        <p:spPr>
          <a:xfrm>
            <a:off x="8193024" y="3246120"/>
            <a:ext cx="3063240" cy="914400"/>
          </a:xfrm>
          <a:prstGeom prst="rect">
            <a:avLst/>
          </a:prstGeom>
          <a:noFill/>
          <a:ln/>
        </p:spPr>
        <p:txBody>
          <a:bodyPr wrap="square" lIns="0" tIns="0" rIns="0" bIns="0" rtlCol="0" anchor="t"/>
          <a:lstStyle/>
          <a:p>
            <a:pPr indent="0" marL="0">
              <a:buNone/>
            </a:pPr>
            <a:r>
              <a:rPr lang="en-US" sz="1250" dirty="0">
                <a:solidFill>
                  <a:srgbClr val="C6D4DB"/>
                </a:solidFill>
                <a:latin typeface="Calibri" pitchFamily="34" charset="0"/>
                <a:ea typeface="Calibri" pitchFamily="34" charset="-122"/>
                <a:cs typeface="Calibri" pitchFamily="34" charset="-120"/>
              </a:rPr>
              <a:t>both readings, and the score against the chance line</a:t>
            </a:r>
            <a:endParaRPr lang="en-US" sz="1250" dirty="0"/>
          </a:p>
        </p:txBody>
      </p:sp>
      <p:sp>
        <p:nvSpPr>
          <p:cNvPr id="17" name="Text 15"/>
          <p:cNvSpPr txBox="1"/>
          <p:nvPr/>
        </p:nvSpPr>
        <p:spPr>
          <a:xfrm>
            <a:off x="685800" y="4315968"/>
            <a:ext cx="10607040" cy="457200"/>
          </a:xfrm>
          <a:prstGeom prst="rect">
            <a:avLst/>
          </a:prstGeom>
          <a:noFill/>
          <a:ln/>
        </p:spPr>
        <p:txBody>
          <a:bodyPr wrap="square" lIns="0" tIns="0" rIns="0" bIns="0" rtlCol="0" anchor="ctr"/>
          <a:lstStyle/>
          <a:p>
            <a:pPr indent="0" marL="0">
              <a:buNone/>
            </a:pPr>
            <a:r>
              <a:rPr lang="en-US" sz="1350" dirty="0">
                <a:solidFill>
                  <a:srgbClr val="C6D4DB"/>
                </a:solidFill>
                <a:latin typeface="Calibri" pitchFamily="34" charset="0"/>
                <a:ea typeface="Calibri" pitchFamily="34" charset="-122"/>
                <a:cs typeface="Calibri" pitchFamily="34" charset="-120"/>
              </a:rPr>
              <a:t>Every figure the interface shows is referenced to the measured chance line, and nothing a visitor types is stored.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10817352" cy="237744"/>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685800" y="768096"/>
            <a:ext cx="10817352" cy="896112"/>
          </a:xfrm>
          <a:prstGeom prst="rect">
            <a:avLst/>
          </a:prstGeom>
          <a:noFill/>
          <a:ln/>
        </p:spPr>
        <p:txBody>
          <a:bodyPr wrap="square" lIns="0" tIns="0" rIns="0" bIns="0" rtlCol="0" anchor="ctr"/>
          <a:lstStyle/>
          <a:p>
            <a:pPr indent="0" marL="0">
              <a:buNone/>
            </a:pPr>
            <a:r>
              <a:rPr lang="en-US" sz="3200" b="1" dirty="0">
                <a:solidFill>
                  <a:srgbClr val="1A2229"/>
                </a:solidFill>
                <a:latin typeface="Cambria" pitchFamily="34" charset="0"/>
                <a:ea typeface="Cambria" pitchFamily="34" charset="-122"/>
                <a:cs typeface="Cambria" pitchFamily="34" charset="-120"/>
              </a:rPr>
              <a:t>What this establishes, and what it does not</a:t>
            </a:r>
            <a:endParaRPr lang="en-US" sz="3200" dirty="0"/>
          </a:p>
        </p:txBody>
      </p:sp>
      <p:sp>
        <p:nvSpPr>
          <p:cNvPr id="4" name="Shape 2"/>
          <p:cNvSpPr/>
          <p:nvPr/>
        </p:nvSpPr>
        <p:spPr>
          <a:xfrm>
            <a:off x="685800" y="1810512"/>
            <a:ext cx="5262372" cy="2487168"/>
          </a:xfrm>
          <a:prstGeom prst="roundRect">
            <a:avLst>
              <a:gd name="adj" fmla="val 1471"/>
            </a:avLst>
          </a:prstGeom>
          <a:solidFill>
            <a:srgbClr val="EEF2F3"/>
          </a:solidFill>
          <a:ln w="12700">
            <a:solidFill>
              <a:srgbClr val="0D5C63"/>
            </a:solidFill>
            <a:prstDash val="solid"/>
          </a:ln>
        </p:spPr>
      </p:sp>
      <p:sp>
        <p:nvSpPr>
          <p:cNvPr id="5" name="Text 3"/>
          <p:cNvSpPr txBox="1"/>
          <p:nvPr/>
        </p:nvSpPr>
        <p:spPr>
          <a:xfrm>
            <a:off x="978408" y="1965960"/>
            <a:ext cx="4677156" cy="292608"/>
          </a:xfrm>
          <a:prstGeom prst="rect">
            <a:avLst/>
          </a:prstGeom>
          <a:noFill/>
          <a:ln/>
        </p:spPr>
        <p:txBody>
          <a:bodyPr wrap="square" lIns="0" tIns="0" rIns="0" bIns="0" rtlCol="0" anchor="ctr"/>
          <a:lstStyle/>
          <a:p>
            <a:pPr indent="0" marL="0">
              <a:buNone/>
            </a:pPr>
            <a:r>
              <a:rPr lang="en-US" sz="1300" b="1" dirty="0">
                <a:solidFill>
                  <a:srgbClr val="0D5C63"/>
                </a:solidFill>
                <a:latin typeface="Calibri" pitchFamily="34" charset="0"/>
                <a:ea typeface="Calibri" pitchFamily="34" charset="-122"/>
                <a:cs typeface="Calibri" pitchFamily="34" charset="-120"/>
              </a:rPr>
              <a:t>Established</a:t>
            </a:r>
            <a:endParaRPr lang="en-US" sz="1300" dirty="0"/>
          </a:p>
        </p:txBody>
      </p:sp>
      <p:sp>
        <p:nvSpPr>
          <p:cNvPr id="6" name="Text 4"/>
          <p:cNvSpPr txBox="1"/>
          <p:nvPr/>
        </p:nvSpPr>
        <p:spPr>
          <a:xfrm>
            <a:off x="978408" y="2331720"/>
            <a:ext cx="4677156" cy="187452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Prompt-reader and image-reader agreement is well above chance on every metric.</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Agreement is substantially higher for face-classified than scene-classified drawings.</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The same prompt does not reliably yield the same recovered emotion (69% vs 59% null).</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Describe-then-extract agrees more than reading emotion from the image directly.</a:t>
            </a:r>
            <a:endParaRPr lang="en-US" sz="1250" dirty="0"/>
          </a:p>
        </p:txBody>
      </p:sp>
      <p:sp>
        <p:nvSpPr>
          <p:cNvPr id="7" name="Shape 5"/>
          <p:cNvSpPr/>
          <p:nvPr/>
        </p:nvSpPr>
        <p:spPr>
          <a:xfrm>
            <a:off x="6240780" y="1810512"/>
            <a:ext cx="5262372" cy="2487168"/>
          </a:xfrm>
          <a:prstGeom prst="roundRect">
            <a:avLst>
              <a:gd name="adj" fmla="val 1471"/>
            </a:avLst>
          </a:prstGeom>
          <a:solidFill>
            <a:srgbClr val="FBF6EC"/>
          </a:solidFill>
          <a:ln w="12700">
            <a:solidFill>
              <a:srgbClr val="9A6410"/>
            </a:solidFill>
            <a:prstDash val="solid"/>
          </a:ln>
        </p:spPr>
      </p:sp>
      <p:sp>
        <p:nvSpPr>
          <p:cNvPr id="8" name="Text 6"/>
          <p:cNvSpPr txBox="1"/>
          <p:nvPr/>
        </p:nvSpPr>
        <p:spPr>
          <a:xfrm>
            <a:off x="6533388" y="1965960"/>
            <a:ext cx="4677156" cy="292608"/>
          </a:xfrm>
          <a:prstGeom prst="rect">
            <a:avLst/>
          </a:prstGeom>
          <a:noFill/>
          <a:ln/>
        </p:spPr>
        <p:txBody>
          <a:bodyPr wrap="square" lIns="0" tIns="0" rIns="0" bIns="0" rtlCol="0" anchor="ctr"/>
          <a:lstStyle/>
          <a:p>
            <a:pPr indent="0" marL="0">
              <a:buNone/>
            </a:pPr>
            <a:r>
              <a:rPr lang="en-US" sz="1300" b="1" dirty="0">
                <a:solidFill>
                  <a:srgbClr val="9A6410"/>
                </a:solidFill>
                <a:latin typeface="Calibri" pitchFamily="34" charset="0"/>
                <a:ea typeface="Calibri" pitchFamily="34" charset="-122"/>
                <a:cs typeface="Calibri" pitchFamily="34" charset="-120"/>
              </a:rPr>
              <a:t>Not established</a:t>
            </a:r>
            <a:endParaRPr lang="en-US" sz="1300" dirty="0"/>
          </a:p>
        </p:txBody>
      </p:sp>
      <p:sp>
        <p:nvSpPr>
          <p:cNvPr id="9" name="Text 7"/>
          <p:cNvSpPr txBox="1"/>
          <p:nvPr/>
        </p:nvSpPr>
        <p:spPr>
          <a:xfrm>
            <a:off x="6533388" y="2331720"/>
            <a:ext cx="4677156" cy="187452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What a human viewer perceives — both readers are automatic, and they disagree with each other.</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That the face–scene gap is statistically significant; no formal test has been run.</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Any effect of colour — the corpus is monochrome but there is no colour condition.</a:t>
            </a:r>
            <a:endParaRPr lang="en-US" sz="1250" dirty="0"/>
          </a:p>
          <a:p>
            <a:pPr marL="342900" indent="-342900">
              <a:spcAft>
                <a:spcPts val="400"/>
              </a:spcAft>
              <a:buSzPct val="100000"/>
              <a:buChar char="•"/>
            </a:pPr>
            <a:r>
              <a:rPr lang="en-US" sz="1250" dirty="0">
                <a:solidFill>
                  <a:srgbClr val="4A545E"/>
                </a:solidFill>
                <a:latin typeface="Calibri" pitchFamily="34" charset="0"/>
                <a:ea typeface="Calibri" pitchFamily="34" charset="-122"/>
                <a:cs typeface="Calibri" pitchFamily="34" charset="-120"/>
              </a:rPr>
              <a:t>Any positive-versus-negative direction; that claim was withdrawn.</a:t>
            </a:r>
            <a:endParaRPr lang="en-US" sz="1250" dirty="0"/>
          </a:p>
        </p:txBody>
      </p:sp>
      <p:sp>
        <p:nvSpPr>
          <p:cNvPr id="10" name="Shape 8"/>
          <p:cNvSpPr/>
          <p:nvPr/>
        </p:nvSpPr>
        <p:spPr>
          <a:xfrm>
            <a:off x="685800" y="4526280"/>
            <a:ext cx="10817352" cy="777240"/>
          </a:xfrm>
          <a:prstGeom prst="roundRect">
            <a:avLst>
              <a:gd name="adj" fmla="val 4706"/>
            </a:avLst>
          </a:prstGeom>
          <a:solidFill>
            <a:srgbClr val="F4F6F7"/>
          </a:solidFill>
          <a:ln w="12700">
            <a:solidFill>
              <a:srgbClr val="D8DDE1"/>
            </a:solidFill>
            <a:prstDash val="solid"/>
          </a:ln>
        </p:spPr>
      </p:sp>
      <p:sp>
        <p:nvSpPr>
          <p:cNvPr id="11" name="Text 9"/>
          <p:cNvSpPr txBox="1"/>
          <p:nvPr/>
        </p:nvSpPr>
        <p:spPr>
          <a:xfrm>
            <a:off x="978408" y="4645152"/>
            <a:ext cx="10241280" cy="548640"/>
          </a:xfrm>
          <a:prstGeom prst="rect">
            <a:avLst/>
          </a:prstGeom>
          <a:noFill/>
          <a:ln/>
        </p:spPr>
        <p:txBody>
          <a:bodyPr wrap="square" lIns="0" tIns="0" rIns="0" bIns="0" rtlCol="0" anchor="ctr"/>
          <a:lstStyle/>
          <a:p>
            <a:pPr indent="0" marL="0">
              <a:buNone/>
            </a:pPr>
            <a:r>
              <a:rPr lang="en-US" sz="1300" dirty="0">
                <a:solidFill>
                  <a:srgbClr val="4A545E"/>
                </a:solidFill>
                <a:latin typeface="Calibri" pitchFamily="34" charset="0"/>
                <a:ea typeface="Calibri" pitchFamily="34" charset="-122"/>
                <a:cs typeface="Calibri" pitchFamily="34" charset="-120"/>
              </a:rPr>
              <a:t>Future work:  human validation of both readers  ·  sketch-trained describers  ·  a formal test and confidence intervals for the face–scene difference</a:t>
            </a:r>
            <a:endParaRPr lang="en-US" sz="1300" dirty="0"/>
          </a:p>
        </p:txBody>
      </p:sp>
      <p:sp>
        <p:nvSpPr>
          <p:cNvPr id="12" name="Text 10"/>
          <p:cNvSpPr txBox="1"/>
          <p:nvPr/>
        </p:nvSpPr>
        <p:spPr>
          <a:xfrm>
            <a:off x="685800" y="5504688"/>
            <a:ext cx="10972800" cy="402336"/>
          </a:xfrm>
          <a:prstGeom prst="rect">
            <a:avLst/>
          </a:prstGeom>
          <a:noFill/>
          <a:ln/>
        </p:spPr>
        <p:txBody>
          <a:bodyPr wrap="square" lIns="0" tIns="0" rIns="0" bIns="0" rtlCol="0" anchor="ctr"/>
          <a:lstStyle/>
          <a:p>
            <a:pPr indent="0" marL="0">
              <a:buNone/>
            </a:pPr>
            <a:r>
              <a:rPr lang="en-US" sz="1750" b="1" dirty="0">
                <a:solidFill>
                  <a:srgbClr val="1A2229"/>
                </a:solidFill>
                <a:latin typeface="Cambria" pitchFamily="34" charset="0"/>
                <a:ea typeface="Cambria" pitchFamily="34" charset="-122"/>
                <a:cs typeface="Cambria" pitchFamily="34" charset="-120"/>
              </a:rPr>
              <a:t>The contribution is a chance-referenced similarity measure for emotional agreement, not a new classifier.</a:t>
            </a:r>
            <a:endParaRPr lang="en-US" sz="1750" dirty="0"/>
          </a:p>
        </p:txBody>
      </p:sp>
      <p:sp>
        <p:nvSpPr>
          <p:cNvPr id="13" name="Text 11"/>
          <p:cNvSpPr txBox="1"/>
          <p:nvPr/>
        </p:nvSpPr>
        <p:spPr>
          <a:xfrm>
            <a:off x="685800" y="6089904"/>
            <a:ext cx="5486400" cy="365760"/>
          </a:xfrm>
          <a:prstGeom prst="rect">
            <a:avLst/>
          </a:prstGeom>
          <a:noFill/>
          <a:ln/>
        </p:spPr>
        <p:txBody>
          <a:bodyPr wrap="square" lIns="0" tIns="0" rIns="0" bIns="0" rtlCol="0" anchor="ctr"/>
          <a:lstStyle/>
          <a:p>
            <a:pPr indent="0" marL="0">
              <a:buNone/>
            </a:pPr>
            <a:r>
              <a:rPr lang="en-US" sz="1500" i="1" dirty="0">
                <a:solidFill>
                  <a:srgbClr val="6B747C"/>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Visualising Emotion</dc:title>
  <dc:subject>PptxGenJS Presentation</dc:subject>
  <dc:creator>Shre Hari Prem Anandh</dc:creator>
  <cp:lastModifiedBy>Shre Hari Prem Anandh</cp:lastModifiedBy>
  <cp:revision>1</cp:revision>
  <dcterms:created xsi:type="dcterms:W3CDTF">2026-09-04T01:39:57Z</dcterms:created>
  <dcterms:modified xsi:type="dcterms:W3CDTF">2026-09-04T01:39:57Z</dcterms:modified>
</cp:coreProperties>
</file>