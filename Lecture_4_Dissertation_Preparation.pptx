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e6a9e2c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e6a9e2c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de58f77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de58f77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a898f1e68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a898f1e68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caea8b49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caea8b49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caea8b49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8caea8b49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898f1e68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7a898f1e68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898f1e68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a898f1e68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898f1e68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7a898f1e68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caea8b4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caea8b4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fcd138b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afcd138b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db39cb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ddb39cb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db39cb6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ddb39cb6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de0c0872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de0c0872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de0c0872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de0c0872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db39cb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ddb39cb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ddb39cb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ddb39cb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ddb39cb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ddb39cb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caea8b49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caea8b49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a898f1e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7a898f1e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de0c087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de0c087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de0c087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de0c087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de0c0872f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8de0c0872f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de0c0872f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8de0c0872f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de0c0872f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8de0c0872f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afcd138b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9afcd138bb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de0c0872f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de0c0872f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e6a9e2cc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e6a9e2cc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overleaf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ites.google.com/sheffield.ac.uk/comughandbook/your-study/dissertation-project/including-images-in-your-dissertati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48825" y="719125"/>
            <a:ext cx="8863800" cy="10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/>
              <a:t>Dissertation Project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/>
              <a:t>Lecture 4: Preparing Your Dissertation</a:t>
            </a:r>
            <a:endParaRPr sz="40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05875" y="2057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Mark Stevenson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(mark.stevenson@sheffield.ac.uk)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ecorative image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764" y="2849976"/>
            <a:ext cx="4798376" cy="21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Outline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Today we’ll look at the LaTeX document </a:t>
            </a:r>
            <a:r>
              <a:rPr lang="en-GB">
                <a:solidFill>
                  <a:schemeClr val="dk1"/>
                </a:solidFill>
              </a:rPr>
              <a:t>preparation</a:t>
            </a:r>
            <a:r>
              <a:rPr lang="en-GB">
                <a:solidFill>
                  <a:schemeClr val="dk1"/>
                </a:solidFill>
              </a:rPr>
              <a:t> system </a:t>
            </a:r>
            <a:r>
              <a:rPr lang="en-GB">
                <a:solidFill>
                  <a:schemeClr val="dk1"/>
                </a:solidFill>
              </a:rPr>
              <a:t>which</a:t>
            </a:r>
            <a:r>
              <a:rPr lang="en-GB">
                <a:solidFill>
                  <a:schemeClr val="dk1"/>
                </a:solidFill>
              </a:rPr>
              <a:t> you may find useful for the final </a:t>
            </a:r>
            <a:r>
              <a:rPr lang="en-GB">
                <a:solidFill>
                  <a:schemeClr val="dk1"/>
                </a:solidFill>
              </a:rPr>
              <a:t>dissertation</a:t>
            </a:r>
            <a:r>
              <a:rPr lang="en-GB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Topics</a:t>
            </a:r>
            <a:r>
              <a:rPr lang="en-GB">
                <a:solidFill>
                  <a:schemeClr val="dk1"/>
                </a:solidFill>
              </a:rPr>
              <a:t> covered: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LaTeX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Getting started with the School’s LaTeX template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Some key commands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Bibtex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LaTeX</a:t>
            </a:r>
            <a:endParaRPr b="1" sz="24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870775"/>
            <a:ext cx="8520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>
                <a:solidFill>
                  <a:schemeClr val="dk1"/>
                </a:solidFill>
              </a:rPr>
              <a:t>Document preparation system designed specifically for academic documents, such as dissertations, particularly within technical fields such as Computer Science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Based on TeX, a typesetting program developed by Donald Knuth from Stanford University while writing “</a:t>
            </a:r>
            <a:r>
              <a:rPr i="1" lang="en-GB">
                <a:solidFill>
                  <a:schemeClr val="dk1"/>
                </a:solidFill>
              </a:rPr>
              <a:t>The Art of Computer Programming</a:t>
            </a:r>
            <a:r>
              <a:rPr lang="en-GB">
                <a:solidFill>
                  <a:schemeClr val="dk1"/>
                </a:solidFill>
              </a:rPr>
              <a:t>” 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Leslie Lamport extended TeX to develop LaTeX which provides macros for common formatting requirements. </a:t>
            </a:r>
            <a:endParaRPr>
              <a:solidFill>
                <a:schemeClr val="dk1"/>
              </a:solidFill>
            </a:endParaRPr>
          </a:p>
          <a:p>
            <a:pPr indent="-171450" lvl="0" marL="177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>
                <a:solidFill>
                  <a:schemeClr val="dk1"/>
                </a:solidFill>
              </a:rPr>
              <a:t>LaTeX is a </a:t>
            </a:r>
            <a:r>
              <a:rPr b="1" lang="en-GB">
                <a:solidFill>
                  <a:schemeClr val="dk1"/>
                </a:solidFill>
              </a:rPr>
              <a:t>markup language</a:t>
            </a:r>
            <a:r>
              <a:rPr lang="en-GB">
                <a:solidFill>
                  <a:schemeClr val="dk1"/>
                </a:solidFill>
              </a:rPr>
              <a:t> (like HTML) and not “what you see is what you get” (WYSIWYG) (like Word or Google Docs).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42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LaTeX: Advantages and Disadvantages</a:t>
            </a:r>
            <a:endParaRPr b="1" sz="24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98300" cy="3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24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Advantages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Well suited to </a:t>
            </a:r>
            <a:r>
              <a:rPr lang="en-GB" sz="1800">
                <a:solidFill>
                  <a:schemeClr val="dk1"/>
                </a:solidFill>
              </a:rPr>
              <a:t>writing academic documents like dissertations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Good support for equations, structuring documents, cross-referencing …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BibTeX makes citations much easier to use and format correctly – it does the formatting for you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Disadvantages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Need to invest some time to learn to use it effectively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(note) There is no formal support for LaTeX users available within the department but your supervisor may be able to provide some advice.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Running </a:t>
            </a: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LaTeX</a:t>
            </a:r>
            <a:endParaRPr sz="24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Overleaf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www.overleaf.com</a:t>
            </a:r>
            <a:r>
              <a:rPr lang="en-GB">
                <a:solidFill>
                  <a:schemeClr val="dk1"/>
                </a:solidFill>
              </a:rPr>
              <a:t>) is a widely used online LaTeX editor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Deals with compiling </a:t>
            </a:r>
            <a:r>
              <a:rPr lang="en-GB" sz="1800">
                <a:solidFill>
                  <a:schemeClr val="dk1"/>
                </a:solidFill>
              </a:rPr>
              <a:t>source</a:t>
            </a:r>
            <a:r>
              <a:rPr lang="en-GB" sz="1800">
                <a:solidFill>
                  <a:schemeClr val="dk1"/>
                </a:solidFill>
              </a:rPr>
              <a:t> into PDF output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Good editor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Allows online collaboration (e.g. share documents with your supervisor)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Note: everything held remotely - good idea to make occasional local backups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You can also install LaTeX on your own machine, but normally more difficult to use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1731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GB" sz="2400"/>
              <a:t>School Dissertation Template </a:t>
            </a:r>
            <a:endParaRPr b="1" sz="240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628650" y="1268050"/>
            <a:ext cx="7886700" cy="3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74650" lvl="0" marL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GB">
                <a:solidFill>
                  <a:schemeClr val="dk1"/>
                </a:solidFill>
              </a:rPr>
              <a:t>It can be hard to get started with LaTeX, and difficult to get it to produce documents in exactly the format you would like</a:t>
            </a:r>
            <a:endParaRPr>
              <a:solidFill>
                <a:schemeClr val="dk1"/>
              </a:solidFill>
            </a:endParaRPr>
          </a:p>
          <a:p>
            <a:pPr indent="-374650" lvl="0" marL="381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GB">
                <a:solidFill>
                  <a:schemeClr val="dk1"/>
                </a:solidFill>
              </a:rPr>
              <a:t>The School provides a LaTeX template for dissertations that can be used with minimal customisation</a:t>
            </a:r>
            <a:endParaRPr>
              <a:solidFill>
                <a:schemeClr val="dk1"/>
              </a:solidFill>
            </a:endParaRPr>
          </a:p>
          <a:p>
            <a:pPr indent="-374650" lvl="0" marL="381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GB">
                <a:solidFill>
                  <a:schemeClr val="dk1"/>
                </a:solidFill>
              </a:rPr>
              <a:t>Available as </a:t>
            </a:r>
            <a:r>
              <a:rPr b="1" lang="en-GB">
                <a:solidFill>
                  <a:schemeClr val="dk1"/>
                </a:solidFill>
              </a:rPr>
              <a:t>COMDissertationTemplate_1.0.zip</a:t>
            </a:r>
            <a:r>
              <a:rPr lang="en-GB">
                <a:solidFill>
                  <a:schemeClr val="dk1"/>
                </a:solidFill>
              </a:rPr>
              <a:t> on Blackboard</a:t>
            </a:r>
            <a:endParaRPr>
              <a:solidFill>
                <a:schemeClr val="dk1"/>
              </a:solidFill>
            </a:endParaRPr>
          </a:p>
          <a:p>
            <a:pPr indent="0" lvl="0" marL="5207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UI for Overleaf 'New Project'&#10;" id="97" name="Google Shape;97;p20"/>
          <p:cNvPicPr preferRelativeResize="0"/>
          <p:nvPr/>
        </p:nvPicPr>
        <p:blipFill rotWithShape="1">
          <a:blip r:embed="rId3">
            <a:alphaModFix/>
          </a:blip>
          <a:srcRect b="5728" l="0" r="37150" t="6282"/>
          <a:stretch/>
        </p:blipFill>
        <p:spPr>
          <a:xfrm>
            <a:off x="1156456" y="919649"/>
            <a:ext cx="4505645" cy="39424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0"/>
          <p:cNvGrpSpPr/>
          <p:nvPr/>
        </p:nvGrpSpPr>
        <p:grpSpPr>
          <a:xfrm>
            <a:off x="1633696" y="1206148"/>
            <a:ext cx="1982231" cy="1886766"/>
            <a:chOff x="683378" y="980597"/>
            <a:chExt cx="2642974" cy="2515688"/>
          </a:xfrm>
        </p:grpSpPr>
        <p:sp>
          <p:nvSpPr>
            <p:cNvPr id="99" name="Google Shape;99;p20"/>
            <p:cNvSpPr/>
            <p:nvPr/>
          </p:nvSpPr>
          <p:spPr>
            <a:xfrm rot="8353311">
              <a:off x="960165" y="999375"/>
              <a:ext cx="432225" cy="1008243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Arrow indicating button on Overleaf interface that should be pressed to create a new project. " id="100" name="Google Shape;100;p20"/>
            <p:cNvSpPr txBox="1"/>
            <p:nvPr/>
          </p:nvSpPr>
          <p:spPr>
            <a:xfrm>
              <a:off x="1439052" y="1864585"/>
              <a:ext cx="188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Press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‘New Project’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Choose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‘Upload Project’</a:t>
              </a:r>
              <a:endParaRPr sz="1100"/>
            </a:p>
          </p:txBody>
        </p:sp>
      </p:grpSp>
      <p:grpSp>
        <p:nvGrpSpPr>
          <p:cNvPr id="101" name="Google Shape;101;p20"/>
          <p:cNvGrpSpPr/>
          <p:nvPr/>
        </p:nvGrpSpPr>
        <p:grpSpPr>
          <a:xfrm>
            <a:off x="5766252" y="1051061"/>
            <a:ext cx="2221287" cy="3560511"/>
            <a:chOff x="6193452" y="773814"/>
            <a:chExt cx="2961716" cy="4747348"/>
          </a:xfrm>
        </p:grpSpPr>
        <p:pic>
          <p:nvPicPr>
            <p:cNvPr descr="GUI for Overleaf 'Upload Project'" id="102" name="Google Shape;102;p20"/>
            <p:cNvPicPr preferRelativeResize="0"/>
            <p:nvPr/>
          </p:nvPicPr>
          <p:blipFill rotWithShape="1">
            <a:blip r:embed="rId4">
              <a:alphaModFix/>
            </a:blip>
            <a:srcRect b="60617" l="19283" r="55451" t="7468"/>
            <a:stretch/>
          </p:blipFill>
          <p:spPr>
            <a:xfrm>
              <a:off x="6193452" y="1245932"/>
              <a:ext cx="2765218" cy="2183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UI for file selection in Overleaf" id="103" name="Google Shape;103;p20"/>
            <p:cNvPicPr preferRelativeResize="0"/>
            <p:nvPr/>
          </p:nvPicPr>
          <p:blipFill rotWithShape="1">
            <a:blip r:embed="rId5">
              <a:alphaModFix/>
            </a:blip>
            <a:srcRect b="27841" l="53117" r="4790" t="22363"/>
            <a:stretch/>
          </p:blipFill>
          <p:spPr>
            <a:xfrm>
              <a:off x="6258668" y="3573016"/>
              <a:ext cx="2634787" cy="19481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 txBox="1"/>
            <p:nvPr/>
          </p:nvSpPr>
          <p:spPr>
            <a:xfrm>
              <a:off x="6258668" y="773814"/>
              <a:ext cx="2896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Upload Zipped Project</a:t>
              </a:r>
              <a:endParaRPr sz="1100"/>
            </a:p>
          </p:txBody>
        </p:sp>
      </p:grpSp>
      <p:pic>
        <p:nvPicPr>
          <p:cNvPr descr="GUI for Overleaf 'Upload Project'" id="105" name="Google Shape;105;p20"/>
          <p:cNvPicPr preferRelativeResize="0"/>
          <p:nvPr/>
        </p:nvPicPr>
        <p:blipFill rotWithShape="1">
          <a:blip r:embed="rId6">
            <a:alphaModFix/>
          </a:blip>
          <a:srcRect b="52693" l="0" r="88969" t="6905"/>
          <a:stretch/>
        </p:blipFill>
        <p:spPr>
          <a:xfrm>
            <a:off x="3603798" y="1825841"/>
            <a:ext cx="1157270" cy="2649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628650" y="56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GB" sz="2400"/>
              <a:t>Using Template in Overleaf </a:t>
            </a:r>
            <a:endParaRPr b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UI for Overleaf showing Latex source file uploaded together with PDF compiled from it. &#10;" id="111" name="Google Shape;111;p21"/>
          <p:cNvPicPr preferRelativeResize="0"/>
          <p:nvPr/>
        </p:nvPicPr>
        <p:blipFill rotWithShape="1">
          <a:blip r:embed="rId3">
            <a:alphaModFix/>
          </a:blip>
          <a:srcRect b="3847" l="0" r="0" t="2564"/>
          <a:stretch/>
        </p:blipFill>
        <p:spPr>
          <a:xfrm>
            <a:off x="1261052" y="789552"/>
            <a:ext cx="6739949" cy="39424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title"/>
          </p:nvPr>
        </p:nvSpPr>
        <p:spPr>
          <a:xfrm>
            <a:off x="628650" y="56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GB"/>
              <a:t>Ready to Go …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68775" y="666575"/>
            <a:ext cx="4321800" cy="4324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\</a:t>
            </a:r>
            <a:r>
              <a:rPr lang="en-GB" sz="4050">
                <a:solidFill>
                  <a:schemeClr val="dk1"/>
                </a:solidFill>
              </a:rPr>
              <a:t>\begin{titlepage}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\begin{center}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\includegraphics[width=5cm]{images/UOSLogo_Portrait_Violet_RGB.png}\\[2cm]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\linespread{1.2}\huge {\bfseries Project title}\\[2cm]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\linespread{1}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{\Large Your name}\\[1cm]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{\large \emph{Supervisor:} Supervisor name}\\[1cm]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\large \emph{A report submitted in fulfilment of the requirements}\\ \emph{for the degree of} your degree (e.g. BSc in Computer Science)\\[0.3cm] 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\textit{in the}\\[0.3cm]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School of Computer Science\\[2cm]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\today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\end{center}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\end{titlepage}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"/>
          </a:p>
        </p:txBody>
      </p:sp>
      <p:pic>
        <p:nvPicPr>
          <p:cNvPr descr="Example of title page compiled from Latex source. Title page is generic and does not yet include project specific information. "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550" y="666575"/>
            <a:ext cx="3339488" cy="432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119" name="Google Shape;119;p22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Title Page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68775" y="666575"/>
            <a:ext cx="4321800" cy="4324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\</a:t>
            </a:r>
            <a:r>
              <a:rPr lang="en-GB" sz="4050">
                <a:solidFill>
                  <a:schemeClr val="dk1"/>
                </a:solidFill>
              </a:rPr>
              <a:t>\begin{titlepage}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\begin{center}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\includegraphics[width=5cm]{images/UOSLogo_Portrait_Violet_RGB.png}\\[2cm]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\linespread{1.2}\huge {\bfseries </a:t>
            </a:r>
            <a:r>
              <a:rPr b="1" lang="en-GB" sz="4050">
                <a:solidFill>
                  <a:schemeClr val="dk1"/>
                </a:solidFill>
              </a:rPr>
              <a:t>Large Language Models for Document Processing</a:t>
            </a:r>
            <a:r>
              <a:rPr lang="en-GB" sz="4050">
                <a:solidFill>
                  <a:schemeClr val="dk1"/>
                </a:solidFill>
              </a:rPr>
              <a:t>}\\[2cm]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\linespread{1}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{\Large Your name}\\[1cm]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{\large \emph{Supervisor:} </a:t>
            </a:r>
            <a:r>
              <a:rPr b="1" lang="en-GB" sz="4050">
                <a:solidFill>
                  <a:schemeClr val="dk1"/>
                </a:solidFill>
              </a:rPr>
              <a:t>Supervisor name</a:t>
            </a:r>
            <a:r>
              <a:rPr lang="en-GB" sz="4050">
                <a:solidFill>
                  <a:schemeClr val="dk1"/>
                </a:solidFill>
              </a:rPr>
              <a:t>}\\[1cm]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\large \emph{A report submitted in fulfilment of the requirements}\\ \emph{for the degree of </a:t>
            </a:r>
            <a:r>
              <a:rPr b="1" lang="en-GB" sz="4050">
                <a:solidFill>
                  <a:schemeClr val="dk1"/>
                </a:solidFill>
              </a:rPr>
              <a:t>BSc in Computer Science</a:t>
            </a:r>
            <a:r>
              <a:rPr lang="en-GB" sz="4050">
                <a:solidFill>
                  <a:schemeClr val="dk1"/>
                </a:solidFill>
              </a:rPr>
              <a:t>}\\[0.3cm] 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\textit{in the}\\[0.3cm]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School of Computer Science\\[2cm]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\today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\end{center}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160"/>
              <a:buFont typeface="Arial"/>
              <a:buNone/>
            </a:pPr>
            <a:r>
              <a:rPr lang="en-GB" sz="4050">
                <a:solidFill>
                  <a:schemeClr val="dk1"/>
                </a:solidFill>
              </a:rPr>
              <a:t>\end{titlepage}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Title Page</a:t>
            </a:r>
            <a:endParaRPr b="1"/>
          </a:p>
        </p:txBody>
      </p:sp>
      <p:pic>
        <p:nvPicPr>
          <p:cNvPr descr="Example of title page compiled from Latex source. Title page is now includes project specific information, e.g. title, student's name and degree course. "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775" y="666575"/>
            <a:ext cx="3339489" cy="432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Comments &amp; Text Formatting </a:t>
            </a:r>
            <a:endParaRPr b="1"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75500" y="666575"/>
            <a:ext cx="8793000" cy="2873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This is a comment - it won't appear in the document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Text from "Nineteen Eighty-Four" by George Orwell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Sentence containing italic and bold text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It was a \textit{bright cold day in April}, and the \textbf{clocks were striking thirteen}.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Sentence containing underlined text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\underline{Winston Smith}, his chin nuzzled into his breast in an effort to escape the vile wind, slipped quickly through the glass doors of \underline{Victory Mansions}, though not quickly enough to prevent a swirl of gritty dust from entering along with him.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Example Latex output to demonstrate text formatting such as italics, bold font and underline"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99" y="3707524"/>
            <a:ext cx="8185225" cy="1119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\emph</a:t>
            </a:r>
            <a:endParaRPr b="1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202200" y="756275"/>
            <a:ext cx="8582400" cy="2415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\emph in normal text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On each landing, opposite the lift-shaft, the poster with the enormous face gazed from the wall. It was one of those pictures which are so contrived that the eyes follow you about when you move. \emph{BIG BROTHER IS WATCHING YOU}, the caption beneath it ran.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% \emph in italic text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\textit{On each landing, opposite the lift-shaft, the poster with the enormous face gazed from the wall. It was one of those pictures which are so contrived that the eyes follow you about when you move. \emph{BIG BROTHER IS WATCHING YOU}, the caption beneath it ran.}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Example Latex output for \emph command"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75" y="3293750"/>
            <a:ext cx="7604875" cy="1568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13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Footnotes</a:t>
            </a:r>
            <a:endParaRPr b="1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709650"/>
            <a:ext cx="85206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Simple footnote example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82750"/>
            <a:ext cx="8520600" cy="572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This is a sentence in the main text.\footnote{This is a footnote that provides some more detail about that sentence.}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Example latex output showing text with footnote (part 1)"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50" y="1874275"/>
            <a:ext cx="3227325" cy="385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Example Latex output showing text with footnote (part 2) " id="149" name="Google Shape;1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350" y="2339750"/>
            <a:ext cx="6071435" cy="47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263250" y="2892450"/>
            <a:ext cx="86175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Example footnote containing URL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nother example Latex output showing text with a second footnote (part 1)" id="151" name="Google Shape;15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350" y="3914800"/>
            <a:ext cx="4711732" cy="385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nother example Latex output showing text with a second footnote (part 2)" id="152" name="Google Shape;15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350" y="4382400"/>
            <a:ext cx="5238522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3447275"/>
            <a:ext cx="6434100" cy="385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The program was implemented using Pytorch.\footnote{\url{https://pytorch.org/}}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280800" y="6772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Equations</a:t>
            </a:r>
            <a:endParaRPr b="1"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202200" y="701850"/>
            <a:ext cx="86610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Mathematical</a:t>
            </a:r>
            <a:r>
              <a:rPr lang="en-GB" sz="1800">
                <a:solidFill>
                  <a:schemeClr val="dk1"/>
                </a:solidFill>
              </a:rPr>
              <a:t> equations can be written either inline (using $...$) or on </a:t>
            </a:r>
            <a:r>
              <a:rPr lang="en-GB" sz="1800">
                <a:solidFill>
                  <a:schemeClr val="dk1"/>
                </a:solidFill>
              </a:rPr>
              <a:t>their</a:t>
            </a:r>
            <a:r>
              <a:rPr lang="en-GB" sz="1800">
                <a:solidFill>
                  <a:schemeClr val="dk1"/>
                </a:solidFill>
              </a:rPr>
              <a:t> own line (using \begin{equation} … \end{equation})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Example Latex output showing equations"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75" y="3761400"/>
            <a:ext cx="7111276" cy="93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27"/>
          <p:cNvSpPr txBox="1"/>
          <p:nvPr/>
        </p:nvSpPr>
        <p:spPr>
          <a:xfrm>
            <a:off x="676750" y="1669975"/>
            <a:ext cx="7111200" cy="185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Bayes Theorem can be written \textit{inline} as $P(A | B ) = \frac{P(B | A) P(A)}{P(B)}$ but looks a lot nicer in \textit{display mode}: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\begin{equation}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P(A | B ) = \frac{P(B | A) P(A)}{P(B)}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\end{equation}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Basic document structure</a:t>
            </a:r>
            <a:endParaRPr b="1"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135450" y="974000"/>
            <a:ext cx="3972600" cy="245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\chapter{Some Useful Latex Commands}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\section{The First 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\subsection{A Subsection}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\subsection{Another Subsection}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\section{The Second 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xample Latex output showing chapter headings"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625" y="797825"/>
            <a:ext cx="4733700" cy="2808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8"/>
          <p:cNvSpPr txBox="1"/>
          <p:nvPr/>
        </p:nvSpPr>
        <p:spPr>
          <a:xfrm>
            <a:off x="280800" y="3998350"/>
            <a:ext cx="86547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Latex automatically handles numbering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\chapter*{.’.}, \section*{...} and \subsection*{...} add an element </a:t>
            </a:r>
            <a:r>
              <a:rPr lang="en-GB" sz="1800">
                <a:solidFill>
                  <a:schemeClr val="dk1"/>
                </a:solidFill>
              </a:rPr>
              <a:t>without</a:t>
            </a:r>
            <a:r>
              <a:rPr lang="en-GB" sz="1800">
                <a:solidFill>
                  <a:schemeClr val="dk1"/>
                </a:solidFill>
              </a:rPr>
              <a:t> incrementing the relevant counter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Cross referencing: \label and \ref</a:t>
            </a:r>
            <a:endParaRPr b="1"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35375" y="738550"/>
            <a:ext cx="5113800" cy="4326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\section{The First Section}</a:t>
            </a:r>
            <a:r>
              <a:rPr b="1" lang="en-GB" sz="1600">
                <a:solidFill>
                  <a:schemeClr val="dk1"/>
                </a:solidFill>
              </a:rPr>
              <a:t>\label{sec:section_ref}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More details will be provided in Section~</a:t>
            </a:r>
            <a:r>
              <a:rPr b="1" lang="en-GB" sz="1600">
                <a:solidFill>
                  <a:schemeClr val="dk1"/>
                </a:solidFill>
              </a:rPr>
              <a:t>\ref{sec:key_part}</a:t>
            </a:r>
            <a:r>
              <a:rPr lang="en-GB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\subsection{A Subsection}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\subsection{Another Subsection}</a:t>
            </a:r>
            <a:r>
              <a:rPr b="1" lang="en-GB" sz="1600">
                <a:solidFill>
                  <a:schemeClr val="dk1"/>
                </a:solidFill>
              </a:rPr>
              <a:t>\label{sec:key_part}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Some more details \ldots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\section{The Second Section}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As explained previously (see Section~</a:t>
            </a:r>
            <a:r>
              <a:rPr b="1" lang="en-GB" sz="1600">
                <a:solidFill>
                  <a:schemeClr val="dk1"/>
                </a:solidFill>
              </a:rPr>
              <a:t>\ref{sec:section_ref}</a:t>
            </a:r>
            <a:r>
              <a:rPr lang="en-GB" sz="1600">
                <a:solidFill>
                  <a:schemeClr val="dk1"/>
                </a:solidFill>
              </a:rPr>
              <a:t>) \ldots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xample Latex output showing sections and cross-references between them. "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225" y="1300425"/>
            <a:ext cx="3699450" cy="2908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280800" y="8522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Lists (numbered and unnumbered)</a:t>
            </a:r>
            <a:endParaRPr b="1"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72700" y="690100"/>
            <a:ext cx="4789200" cy="2115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four ministries in \textit{Nineteen Eighty-Four}: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\begin{enumerate}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Love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Truth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Peace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Plenty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\end{enumerate}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xample Latex output for enumerate environment, showing numbered list. "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100" y="690100"/>
            <a:ext cx="4101821" cy="211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Example Latex output for itemize environment, showing bullet pointed list. &#10;" id="184" name="Google Shape;1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6025" y="2923900"/>
            <a:ext cx="4029975" cy="211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72700" y="2923900"/>
            <a:ext cx="4789200" cy="2115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four ministries in \textit{Nineteen Eighty-Four}: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\begin{itemize}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Love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Truth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Peace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\item Plenty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\end{itemize}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280800" y="1824550"/>
            <a:ext cx="3894000" cy="2436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\begin{figure}[ht]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\includegraphics[width=15cm]{figures/figure1.png}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\caption{A simple figure in \LaTeX. Reproduced from http://tinyurl.com/nqtrlj5 with the permission of the copyright owner.}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\label{fig:graph}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\end{figure}</a:t>
            </a:r>
            <a:endParaRPr/>
          </a:p>
        </p:txBody>
      </p:sp>
      <p:pic>
        <p:nvPicPr>
          <p:cNvPr descr="Example Latex output showing figure. " id="191" name="Google Shape;191;p31" title="Screenshot 2025-10-15 at 14.26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950" y="1824525"/>
            <a:ext cx="4709525" cy="2436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2" name="Google Shape;192;p31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Figures</a:t>
            </a:r>
            <a:endParaRPr b="1"/>
          </a:p>
        </p:txBody>
      </p:sp>
      <p:sp>
        <p:nvSpPr>
          <p:cNvPr id="193" name="Google Shape;193;p31"/>
          <p:cNvSpPr txBox="1"/>
          <p:nvPr/>
        </p:nvSpPr>
        <p:spPr>
          <a:xfrm>
            <a:off x="156925" y="787325"/>
            <a:ext cx="87063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Example figure (requires graphicx package, included using “\usepackage{graphicx}” at start of main document)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268925" y="179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b="1" lang="en-GB"/>
              <a:t>Note on </a:t>
            </a:r>
            <a:r>
              <a:rPr b="1" lang="en-GB"/>
              <a:t>Including Images in Your Dissertation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925925"/>
            <a:ext cx="85206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If you include images in your dissertation, you must cite their source</a:t>
            </a:r>
            <a:endParaRPr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This is so unless you have produced them yourself or you find copyright free images</a:t>
            </a:r>
            <a:endParaRPr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This is should be done under the image itself</a:t>
            </a:r>
            <a:endParaRPr>
              <a:solidFill>
                <a:schemeClr val="dk1"/>
              </a:solidFill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You must only use images (and figures)</a:t>
            </a:r>
            <a:endParaRPr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that you have created yourself, or</a:t>
            </a:r>
            <a:endParaRPr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that come from a copyright free source of images, or</a:t>
            </a:r>
            <a:endParaRPr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that you have permission to use</a:t>
            </a:r>
            <a:endParaRPr>
              <a:solidFill>
                <a:schemeClr val="dk1"/>
              </a:solidFill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If you wish to use an image from a copyrighted source (eg. a journal publication), you must request permission from the copyright owner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solidFill>
                  <a:schemeClr val="dk1"/>
                </a:solidFill>
              </a:rPr>
              <a:t>See the following link:</a:t>
            </a:r>
            <a:endParaRPr sz="1500" u="sng">
              <a:solidFill>
                <a:schemeClr val="dk1"/>
              </a:solidFill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solidFill>
                  <a:schemeClr val="dk1"/>
                </a:solidFill>
              </a:rPr>
              <a:t>https://sites.google.com/sheffield.ac.uk/com-programme-information/programme-information/ug-dissertation-project/including-images-in-your-dissertation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280800" y="117875"/>
            <a:ext cx="8582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Tables</a:t>
            </a:r>
            <a:endParaRPr b="1"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563200" y="1602000"/>
            <a:ext cx="2977200" cy="3341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\begin{table}[ht]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\center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\begin{tabular}{cc|c}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A &amp; B &amp; A XOR B\\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\hline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0 &amp; 0 &amp; 0\\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0 &amp; 1 &amp; 1\\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1 &amp; 0 &amp; 1\\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1 &amp; 1 &amp; 0\\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\end{tabular}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\caption{A simple table in \LaTeX.}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\label{tab:xor}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\end{table}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xample Latex output showing table. "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042775"/>
            <a:ext cx="4291200" cy="22731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33"/>
          <p:cNvSpPr txBox="1"/>
          <p:nvPr/>
        </p:nvSpPr>
        <p:spPr>
          <a:xfrm>
            <a:off x="202650" y="666575"/>
            <a:ext cx="8835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Example of a </a:t>
            </a:r>
            <a:r>
              <a:rPr lang="en-GB" sz="1800">
                <a:solidFill>
                  <a:schemeClr val="dk1"/>
                </a:solidFill>
              </a:rPr>
              <a:t>simple</a:t>
            </a:r>
            <a:r>
              <a:rPr lang="en-GB" sz="1800">
                <a:solidFill>
                  <a:schemeClr val="dk1"/>
                </a:solidFill>
              </a:rPr>
              <a:t> table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Note “tabular” environment (formatting text) and “table” environment (positioning)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78675"/>
            <a:ext cx="8297400" cy="5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Positioning Floats </a:t>
            </a:r>
            <a:endParaRPr b="1"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200450" y="711975"/>
            <a:ext cx="8786400" cy="4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Figures and tables are known as </a:t>
            </a:r>
            <a:r>
              <a:rPr b="1" lang="en-GB" sz="1600">
                <a:solidFill>
                  <a:schemeClr val="dk1"/>
                </a:solidFill>
              </a:rPr>
              <a:t>floats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Floats </a:t>
            </a:r>
            <a:r>
              <a:rPr lang="en-GB" sz="1600">
                <a:solidFill>
                  <a:schemeClr val="dk1"/>
                </a:solidFill>
              </a:rPr>
              <a:t>appear where LaTeX thinks they would look best, not where you have defined them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You have some control over where floats appear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h - place here (approximately)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t - top of a page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b - bottom of a page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p - place on special page only including floats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! - override internal float placement rules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Examples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\begin{table}[tb] - place this table at the top of a page, or the bottom if that’s not possible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\begin{figure}[!htb] - place figure here, or top of page, or bottom of page; even if LaTeX wouldn’t normally do so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additional option “H” is available to place float exactly where is appears in the code (requires \usepackage{float} at start of main document)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Bibtex</a:t>
            </a:r>
            <a:endParaRPr b="1" sz="2400"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835575"/>
            <a:ext cx="8441400" cy="21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One of the most useful features of LaTeX is its ability to handle citations and references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Provide a list of references in a bibliography database (.bib), each of which has a </a:t>
            </a:r>
            <a:r>
              <a:rPr b="1" lang="en-GB">
                <a:solidFill>
                  <a:schemeClr val="dk1"/>
                </a:solidFill>
              </a:rPr>
              <a:t>key</a:t>
            </a:r>
            <a:r>
              <a:rPr lang="en-GB">
                <a:solidFill>
                  <a:schemeClr val="dk1"/>
                </a:solidFill>
              </a:rPr>
              <a:t> (e.g. “machinery1950computing”)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Cite the reference in the text using the </a:t>
            </a:r>
            <a:r>
              <a:rPr b="1" lang="en-GB">
                <a:solidFill>
                  <a:schemeClr val="dk1"/>
                </a:solidFill>
              </a:rPr>
              <a:t>\cite{...}</a:t>
            </a:r>
            <a:r>
              <a:rPr lang="en-GB">
                <a:solidFill>
                  <a:schemeClr val="dk1"/>
                </a:solidFill>
              </a:rPr>
              <a:t> command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Example Latex output showing referencing using Bibtex. This example shows citation in the text. "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75" y="3440025"/>
            <a:ext cx="5750808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Example Latex output showing referencing using Bibtex. This example shows corresponding reference from bibliography. " id="221" name="Google Shape;2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75" y="4215550"/>
            <a:ext cx="5882100" cy="315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5"/>
          <p:cNvSpPr/>
          <p:nvPr/>
        </p:nvSpPr>
        <p:spPr>
          <a:xfrm>
            <a:off x="6479000" y="4123100"/>
            <a:ext cx="1363500" cy="481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Bibliography</a:t>
            </a:r>
            <a:endParaRPr/>
          </a:p>
        </p:txBody>
      </p:sp>
      <p:sp>
        <p:nvSpPr>
          <p:cNvPr id="223" name="Google Shape;223;p35"/>
          <p:cNvSpPr/>
          <p:nvPr/>
        </p:nvSpPr>
        <p:spPr>
          <a:xfrm>
            <a:off x="6479000" y="3464625"/>
            <a:ext cx="1421700" cy="481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body</a:t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424800" y="2646700"/>
            <a:ext cx="8215200" cy="43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 Turing Test was first proposed in 1950 \cite{machinery1950computing}.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Bibliography entries (.bib file) </a:t>
            </a:r>
            <a:endParaRPr b="1" sz="2400"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855650"/>
            <a:ext cx="8561700" cy="4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@article{</a:t>
            </a:r>
            <a:r>
              <a:rPr lang="en-GB">
                <a:solidFill>
                  <a:schemeClr val="dk1"/>
                </a:solidFill>
              </a:rPr>
              <a:t>machinery1950computing</a:t>
            </a:r>
            <a:r>
              <a:rPr lang="en-GB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title={Computing machinery and intelligence},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author={Turing, A.},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journal={Mind},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volume={59},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number={236},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pages={433},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year={1950}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There are </a:t>
            </a:r>
            <a:r>
              <a:rPr b="1" lang="en-GB">
                <a:solidFill>
                  <a:schemeClr val="dk1"/>
                </a:solidFill>
              </a:rPr>
              <a:t>many</a:t>
            </a:r>
            <a:r>
              <a:rPr lang="en-GB">
                <a:solidFill>
                  <a:schemeClr val="dk1"/>
                </a:solidFill>
              </a:rPr>
              <a:t> types of bibliography entry for different forms of publication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Main ones you’re likely to encounter are: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@article - </a:t>
            </a:r>
            <a:r>
              <a:rPr lang="en-GB">
                <a:solidFill>
                  <a:schemeClr val="dk1"/>
                </a:solidFill>
              </a:rPr>
              <a:t>journal</a:t>
            </a:r>
            <a:r>
              <a:rPr lang="en-GB">
                <a:solidFill>
                  <a:schemeClr val="dk1"/>
                </a:solidFill>
              </a:rPr>
              <a:t> publications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@inproceedings - conference paper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Almost all </a:t>
            </a:r>
            <a:r>
              <a:rPr lang="en-GB">
                <a:solidFill>
                  <a:schemeClr val="dk1"/>
                </a:solidFill>
              </a:rPr>
              <a:t>require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at least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author</a:t>
            </a:r>
            <a:r>
              <a:rPr lang="en-GB">
                <a:solidFill>
                  <a:schemeClr val="dk1"/>
                </a:solidFill>
              </a:rPr>
              <a:t>, title and year fields to be populated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Adding </a:t>
            </a: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Bibtex entries</a:t>
            </a:r>
            <a:endParaRPr b="1" sz="2400"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855650"/>
            <a:ext cx="8561700" cy="4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You</a:t>
            </a:r>
            <a:r>
              <a:rPr lang="en-GB">
                <a:solidFill>
                  <a:schemeClr val="dk1"/>
                </a:solidFill>
              </a:rPr>
              <a:t> can add entries yourself, but time consuming and easy to make errors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Google Scholar can be a good source (but entries may need to be post-edited)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etails of paper from Google Scholar" id="237" name="Google Shape;237;p37" title="Screenshot 2025-10-17 at 13.30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75" y="1980750"/>
            <a:ext cx="4072075" cy="13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7"/>
          <p:cNvSpPr txBox="1"/>
          <p:nvPr/>
        </p:nvSpPr>
        <p:spPr>
          <a:xfrm>
            <a:off x="4186750" y="2101125"/>
            <a:ext cx="4827000" cy="26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@article{machinery1950computing,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title={Computing machinery and intelligence-AM Turing},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author={Machinery, Computing},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journal={Mind},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volume={59},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number={236},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pages={433},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year={1950}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9" name="Google Shape;239;p37"/>
          <p:cNvSpPr/>
          <p:nvPr/>
        </p:nvSpPr>
        <p:spPr>
          <a:xfrm rot="-5400000">
            <a:off x="197600" y="3638900"/>
            <a:ext cx="1086900" cy="37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here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Adding Bibtex entries</a:t>
            </a:r>
            <a:endParaRPr b="1" sz="2400"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855650"/>
            <a:ext cx="8561700" cy="4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You can add entries yourself, but time consuming and easy to make errors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Google Scholar can be a good source (but entries may need to be post-edited)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etails of paper from Google Scholar" id="246" name="Google Shape;246;p38" title="Screenshot 2025-10-17 at 13.30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75" y="1980750"/>
            <a:ext cx="4072075" cy="13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8"/>
          <p:cNvSpPr txBox="1"/>
          <p:nvPr/>
        </p:nvSpPr>
        <p:spPr>
          <a:xfrm>
            <a:off x="4186750" y="2101125"/>
            <a:ext cx="4827000" cy="26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@article{machinery1950computing,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title={Computing machinery and intelligence</a:t>
            </a:r>
            <a:r>
              <a:rPr b="1" lang="en-GB" sz="1800">
                <a:solidFill>
                  <a:schemeClr val="dk1"/>
                </a:solidFill>
                <a:highlight>
                  <a:schemeClr val="accent6"/>
                </a:highlight>
              </a:rPr>
              <a:t>-AM Turing</a:t>
            </a:r>
            <a:r>
              <a:rPr lang="en-GB" sz="1800">
                <a:solidFill>
                  <a:schemeClr val="dk1"/>
                </a:solidFill>
              </a:rPr>
              <a:t>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author={</a:t>
            </a:r>
            <a:r>
              <a:rPr b="1" lang="en-GB" sz="1800">
                <a:solidFill>
                  <a:schemeClr val="dk1"/>
                </a:solidFill>
                <a:highlight>
                  <a:schemeClr val="accent6"/>
                </a:highlight>
              </a:rPr>
              <a:t>Machinery, Computing</a:t>
            </a:r>
            <a:r>
              <a:rPr lang="en-GB" sz="1800">
                <a:solidFill>
                  <a:schemeClr val="dk1"/>
                </a:solidFill>
              </a:rPr>
              <a:t>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journal={Mind},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volume={59},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number={236},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pages={433},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year={1950}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38"/>
          <p:cNvSpPr/>
          <p:nvPr/>
        </p:nvSpPr>
        <p:spPr>
          <a:xfrm rot="-5400000">
            <a:off x="197600" y="3638900"/>
            <a:ext cx="1086900" cy="37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here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2400">
                <a:latin typeface="Calibri"/>
                <a:ea typeface="Calibri"/>
                <a:cs typeface="Calibri"/>
                <a:sym typeface="Calibri"/>
              </a:rPr>
              <a:t>Generating the Bibliography</a:t>
            </a:r>
            <a:endParaRPr b="1" sz="2400"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855650"/>
            <a:ext cx="85617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Two key commands: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\bibliography{mybibliography}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Prints references, argument is bibliography file (i.e. mybibliography.bib)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\bibliographystyle{...}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Determines the referencing style to control both how citations appear in the text and bibliography entities 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sz="1800">
                <a:solidFill>
                  <a:schemeClr val="dk1"/>
                </a:solidFill>
              </a:rPr>
              <a:t>\bibliographystyle{acm}                \bibliographystyle{alpha}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Example of Bibtex rendering of reference. "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5" y="3703000"/>
            <a:ext cx="4179000" cy="97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other example of Bibtex rendering of reference. The style file used is different from the previous example, which alter's Bibtex's behaviour. " id="256" name="Google Shape;25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703001"/>
            <a:ext cx="4423550" cy="10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Conclusion</a:t>
            </a:r>
            <a:endParaRPr b="1"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LaTeX well suited to producing academic documents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Using the School’s </a:t>
            </a:r>
            <a:r>
              <a:rPr lang="en-GB">
                <a:solidFill>
                  <a:schemeClr val="dk1"/>
                </a:solidFill>
              </a:rPr>
              <a:t>dissertation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template easiest way to get started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Give yourself enough time to learn have to use LaTeX effectively    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LaTeX offers a </a:t>
            </a:r>
            <a:r>
              <a:rPr b="1" lang="en-GB">
                <a:solidFill>
                  <a:schemeClr val="dk1"/>
                </a:solidFill>
              </a:rPr>
              <a:t>lot</a:t>
            </a:r>
            <a:r>
              <a:rPr lang="en-GB">
                <a:solidFill>
                  <a:schemeClr val="dk1"/>
                </a:solidFill>
              </a:rPr>
              <a:t> more than can be covered here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See links on Blackboard and search online 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