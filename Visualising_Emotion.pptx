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Face drawings (n=402)</c:v>
                </c:pt>
              </c:strCache>
            </c:strRef>
          </c:tx>
          <c:spPr>
            <a:solidFill>
              <a:srgbClr val="0D5C63"/>
            </a:solidFill>
            <a:effectLst/>
          </c:spPr>
          <c:invertIfNegative val="0"/>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Mood direction</c:v>
                  </c:pt>
                  <c:pt idx="1">
                    <c:v>Emotion family</c:v>
                  </c:pt>
                  <c:pt idx="2">
                    <c:v>Top-3 overlap</c:v>
                  </c:pt>
                </c:lvl>
              </c:multiLvlStrCache>
            </c:multiLvlStrRef>
          </c:cat>
          <c:val>
            <c:numRef>
              <c:f>Sheet1!$B$2:$B$4</c:f>
              <c:numCache>
                <c:formatCode>General</c:formatCode>
                <c:ptCount val="3"/>
                <c:pt idx="0">
                  <c:v>73.9</c:v>
                </c:pt>
                <c:pt idx="1">
                  <c:v>61.9</c:v>
                </c:pt>
                <c:pt idx="2">
                  <c:v>53.4</c:v>
                </c:pt>
              </c:numCache>
            </c:numRef>
          </c:val>
        </c:ser>
        <c:ser>
          <c:idx val="1"/>
          <c:order val="1"/>
          <c:tx>
            <c:strRef>
              <c:f>Sheet1!$C$1</c:f>
              <c:strCache>
                <c:ptCount val="1"/>
                <c:pt idx="0">
                  <c:v>Scene drawings (n=205)</c:v>
                </c:pt>
              </c:strCache>
            </c:strRef>
          </c:tx>
          <c:spPr>
            <a:solidFill>
              <a:srgbClr val="C9BFA8"/>
            </a:solidFill>
            <a:effectLst/>
          </c:spPr>
          <c:invertIfNegative val="0"/>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Mood direction</c:v>
                  </c:pt>
                  <c:pt idx="1">
                    <c:v>Emotion family</c:v>
                  </c:pt>
                  <c:pt idx="2">
                    <c:v>Top-3 overlap</c:v>
                  </c:pt>
                </c:lvl>
              </c:multiLvlStrCache>
            </c:multiLvlStrRef>
          </c:cat>
          <c:val>
            <c:numRef>
              <c:f>Sheet1!$C$2:$C$4</c:f>
              <c:numCache>
                <c:formatCode>General</c:formatCode>
                <c:ptCount val="3"/>
                <c:pt idx="0">
                  <c:v>42.9</c:v>
                </c:pt>
                <c:pt idx="1">
                  <c:v>35.6</c:v>
                </c:pt>
                <c:pt idx="2">
                  <c:v>44.9</c:v>
                </c:pt>
              </c:numCache>
            </c:numRef>
          </c:val>
        </c:ser>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F545B"/>
                </a:solidFill>
                <a:latin typeface="Calibri"/>
              </a:defRPr>
            </a:pPr>
            <a:endParaRPr lang="en-US"/>
          </a:p>
        </c:txPr>
        <c:crossAx val="2094734552"/>
        <c:crosses val="autoZero"/>
        <c:auto val="1"/>
        <c:lblAlgn val="ctr"/>
        <c:noMultiLvlLbl val="1"/>
      </c:catAx>
      <c:valAx>
        <c:axId val="2094734552"/>
        <c:scaling>
          <c:orientation val="minMax"/>
          <c:max val="85"/>
          <c:min val="0"/>
        </c:scaling>
        <c:delete val="0"/>
        <c:axPos val="l"/>
        <c:majorGridlines>
          <c:spPr>
            <a:ln w="12700" cap="flat">
              <a:solidFill>
                <a:srgbClr val="E5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F54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Describe → extract (this project)</c:v>
                </c:pt>
              </c:strCache>
            </c:strRef>
          </c:tx>
          <c:spPr>
            <a:solidFill>
              <a:srgbClr val="0D5C63"/>
            </a:solidFill>
            <a:effectLst/>
          </c:spPr>
          <c:invertIfNegative val="0"/>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Emotion family</c:v>
                  </c:pt>
                  <c:pt idx="1">
                    <c:v>Top-3 overlap</c:v>
                  </c:pt>
                </c:lvl>
              </c:multiLvlStrCache>
            </c:multiLvlStrRef>
          </c:cat>
          <c:val>
            <c:numRef>
              <c:f>Sheet1!$B$2:$B$3</c:f>
              <c:numCache>
                <c:formatCode>General</c:formatCode>
                <c:ptCount val="2"/>
                <c:pt idx="0">
                  <c:v>49.3</c:v>
                </c:pt>
                <c:pt idx="1">
                  <c:v>48.6</c:v>
                </c:pt>
              </c:numCache>
            </c:numRef>
          </c:val>
        </c:ser>
        <c:ser>
          <c:idx val="1"/>
          <c:order val="1"/>
          <c:tx>
            <c:strRef>
              <c:f>Sheet1!$C$1</c:f>
              <c:strCache>
                <c:ptCount val="1"/>
                <c:pt idx="0">
                  <c:v>Ask CLIP directly (baseline)</c:v>
                </c:pt>
              </c:strCache>
            </c:strRef>
          </c:tx>
          <c:spPr>
            <a:solidFill>
              <a:srgbClr val="C9BFA8"/>
            </a:solidFill>
            <a:effectLst/>
          </c:spPr>
          <c:invertIfNegative val="0"/>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Emotion family</c:v>
                  </c:pt>
                  <c:pt idx="1">
                    <c:v>Top-3 overlap</c:v>
                  </c:pt>
                </c:lvl>
              </c:multiLvlStrCache>
            </c:multiLvlStrRef>
          </c:cat>
          <c:val>
            <c:numRef>
              <c:f>Sheet1!$C$2:$C$3</c:f>
              <c:numCache>
                <c:formatCode>General</c:formatCode>
                <c:ptCount val="2"/>
                <c:pt idx="0">
                  <c:v>25.3</c:v>
                </c:pt>
                <c:pt idx="1">
                  <c:v>22.8</c:v>
                </c:pt>
              </c:numCache>
            </c:numRef>
          </c:val>
        </c:ser>
        <c:dLbls>
          <c:numFmt formatCode="0.0&quot;%&quot;" sourceLinked="0"/>
          <c:txPr>
            <a:bodyPr/>
            <a:lstStyle/>
            <a:p>
              <a:pPr>
                <a:defRPr b="0" i="0" strike="noStrike" sz="1100" u="none">
                  <a:solidFill>
                    <a:srgbClr val="14161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F545B"/>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12700" cap="flat">
              <a:solidFill>
                <a:srgbClr val="E5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F54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project asks whether an AI drawing actually carries the feeling that was in the words used to make it. The data is real: about a thousand members of the public at a science festival typed how they felt, and DALL-E drew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check 'a red car' — look for a car, check it's red. That is what the evaluation literature does. But 'tired but happy' has no object and no correct answer, and it is mixed. That gap is what this project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people, real feelings, not a benchmark. Before any analysis I had to fix three filename systems, recover hidden timestamps that exposed 13 developer test images, and deal with repeated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four areas is well studied on its own. What nobody had done is check whether a real person's own words about their own feeling survive into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narrow this is. I measure agreement between two automatic readers. I do not claim a human sees the same feeling. Being precise about that is the difference between a defensible claim and an overclaim.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my supervisor specified: describe the picture factually first, then infer the feeling from that description with a different model. The word emotion never appears in any question I ask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five questions. The answers are assembled into one neutral sentence, and a separate model reads the feeling from that sentence. I flag openly that the expression answer is often itself a feeling word, so the stages are not fully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link was tested before I trusted it. These failures shaped the design and are findings in their own right — especially the memory limit, which is why the final design is constrained by what actually runs on the hardware I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backbone of the whole evaluation. I never report a raw percentage. I always report it against what pure chance gives on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most like you to remember. Four hundred people typed things with no feeling in them. On those, my method scores exactly what luck scores. An instrument that reports a signal where there is none cannot be trusted anywhere — mine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found this late and it changed how I report everything. This measure has a floor of 41 and random pairs already score 76. So a 71 looks like a pass but is worse than luck. It also gives about the same value for faces and scenes, so it cannot discriminate — which is why I promoted the other two measures to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finding. Note the careful wording — I do not say faces carry emotion. I say the pipeline finds stronger alignment for drawings it classifies as containing a face, and I flag that the classification and the emotion reading share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surprised me. Give the model exactly the same words again and it conveys the same emotion only about seven times in ten. Only 28 of the 87 repeated prompts are fully consistent. So evaluating a generator on one output per prompt is not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just accept the architecture — I measured it. Describe-then-extract roughly doubles emotion-family agreement against asking CLIP directly, on the same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show this live if there is time. The point of the demo is that the method is inspectable — you can watch it describe a drawing and see exactly where the emotion reading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participants and no new data, so no ethics approval was required. But the dataset contains real names, so I built a documented redaction procedure — and proved it does not change any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state these before anyone asks. The most important one is the first: I measure agreement between two models, not human perception. Only human ratings could settle that, and that study is designed and ready but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contribution is not a new model. It is the question, the dataset, an evaluation design with a working control, a measured method comparison, the consistency finding, and a documented redaction procedure.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F33"/>
        </a:solidFill>
      </p:bgPr>
    </p:bg>
    <p:spTree>
      <p:nvGrpSpPr>
        <p:cNvPr id="1" name=""/>
        <p:cNvGrpSpPr/>
        <p:nvPr/>
      </p:nvGrpSpPr>
      <p:grpSpPr>
        <a:xfrm>
          <a:off x="0" y="0"/>
          <a:ext cx="0" cy="0"/>
          <a:chOff x="0" y="0"/>
          <a:chExt cx="0" cy="0"/>
        </a:xfrm>
      </p:grpSpPr>
      <p:sp>
        <p:nvSpPr>
          <p:cNvPr id="2" name="Shape 0"/>
          <p:cNvSpPr/>
          <p:nvPr/>
        </p:nvSpPr>
        <p:spPr>
          <a:xfrm>
            <a:off x="914400" y="1353312"/>
            <a:ext cx="1371600" cy="0"/>
          </a:xfrm>
          <a:prstGeom prst="line">
            <a:avLst/>
          </a:prstGeom>
          <a:noFill/>
          <a:ln w="31750">
            <a:solidFill>
              <a:srgbClr val="7FC4BE"/>
            </a:solidFill>
            <a:prstDash val="solid"/>
          </a:ln>
        </p:spPr>
      </p:sp>
      <p:sp>
        <p:nvSpPr>
          <p:cNvPr id="3" name="Shape 1"/>
          <p:cNvSpPr/>
          <p:nvPr/>
        </p:nvSpPr>
        <p:spPr>
          <a:xfrm>
            <a:off x="795528" y="1234440"/>
            <a:ext cx="237744" cy="237744"/>
          </a:xfrm>
          <a:prstGeom prst="ellipse">
            <a:avLst/>
          </a:prstGeom>
          <a:solidFill>
            <a:srgbClr val="FFFFFF"/>
          </a:solidFill>
          <a:ln/>
        </p:spPr>
      </p:sp>
      <p:sp>
        <p:nvSpPr>
          <p:cNvPr id="4" name="Shape 2"/>
          <p:cNvSpPr/>
          <p:nvPr/>
        </p:nvSpPr>
        <p:spPr>
          <a:xfrm>
            <a:off x="2167128" y="1234440"/>
            <a:ext cx="237744" cy="237744"/>
          </a:xfrm>
          <a:prstGeom prst="ellipse">
            <a:avLst/>
          </a:prstGeom>
          <a:solidFill>
            <a:srgbClr val="FFFFFF"/>
          </a:solidFill>
          <a:ln w="31750">
            <a:solidFill>
              <a:srgbClr val="7FC4BE"/>
            </a:solidFill>
            <a:prstDash val="solid"/>
          </a:ln>
        </p:spPr>
      </p:sp>
      <p:sp>
        <p:nvSpPr>
          <p:cNvPr id="5" name="Text 3"/>
          <p:cNvSpPr txBox="1"/>
          <p:nvPr/>
        </p:nvSpPr>
        <p:spPr>
          <a:xfrm>
            <a:off x="640080" y="1828800"/>
            <a:ext cx="10607040" cy="11430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Visualising Emotion</a:t>
            </a:r>
            <a:endParaRPr lang="en-US" sz="6000" dirty="0"/>
          </a:p>
        </p:txBody>
      </p:sp>
      <p:sp>
        <p:nvSpPr>
          <p:cNvPr id="6" name="Text 4"/>
          <p:cNvSpPr txBox="1"/>
          <p:nvPr/>
        </p:nvSpPr>
        <p:spPr>
          <a:xfrm>
            <a:off x="640080" y="3017520"/>
            <a:ext cx="9692640" cy="685800"/>
          </a:xfrm>
          <a:prstGeom prst="rect">
            <a:avLst/>
          </a:prstGeom>
          <a:noFill/>
          <a:ln/>
        </p:spPr>
        <p:txBody>
          <a:bodyPr wrap="square" lIns="0" tIns="0" rIns="0" bIns="0" rtlCol="0" anchor="ctr"/>
          <a:lstStyle/>
          <a:p>
            <a:pPr indent="0" marL="0">
              <a:buNone/>
            </a:pPr>
            <a:r>
              <a:rPr lang="en-US" sz="2400" i="1" dirty="0">
                <a:solidFill>
                  <a:srgbClr val="BFD9D6"/>
                </a:solidFill>
                <a:latin typeface="Cambria" pitchFamily="34" charset="0"/>
                <a:ea typeface="Cambria" pitchFamily="34" charset="-122"/>
                <a:cs typeface="Cambria" pitchFamily="34" charset="-120"/>
              </a:rPr>
              <a:t>Does an AI drawing carry the feeling in the words that made it?</a:t>
            </a:r>
            <a:endParaRPr lang="en-US" sz="2400" dirty="0"/>
          </a:p>
        </p:txBody>
      </p:sp>
      <p:sp>
        <p:nvSpPr>
          <p:cNvPr id="7" name="Shape 5"/>
          <p:cNvSpPr/>
          <p:nvPr/>
        </p:nvSpPr>
        <p:spPr>
          <a:xfrm>
            <a:off x="640080" y="3977640"/>
            <a:ext cx="2926080" cy="0"/>
          </a:xfrm>
          <a:prstGeom prst="line">
            <a:avLst/>
          </a:prstGeom>
          <a:noFill/>
          <a:ln w="19050">
            <a:solidFill>
              <a:srgbClr val="2F7B7F"/>
            </a:solidFill>
            <a:prstDash val="solid"/>
          </a:ln>
        </p:spPr>
      </p:sp>
      <p:sp>
        <p:nvSpPr>
          <p:cNvPr id="8" name="Text 6"/>
          <p:cNvSpPr txBox="1"/>
          <p:nvPr/>
        </p:nvSpPr>
        <p:spPr>
          <a:xfrm>
            <a:off x="640080" y="4251960"/>
            <a:ext cx="7315200" cy="1188720"/>
          </a:xfrm>
          <a:prstGeom prst="rect">
            <a:avLst/>
          </a:prstGeom>
          <a:noFill/>
          <a:ln/>
        </p:spPr>
        <p:txBody>
          <a:bodyPr wrap="square" lIns="0" tIns="0" rIns="0" bIns="0" rtlCol="0" anchor="ctr"/>
          <a:lstStyle/>
          <a:p>
            <a:pPr indent="0" marL="0">
              <a:lnSpc>
                <a:spcPts val="2200"/>
              </a:lnSpc>
              <a:buNone/>
            </a:pPr>
            <a:r>
              <a:rPr lang="en-US" sz="1400" b="1" dirty="0">
                <a:solidFill>
                  <a:srgbClr val="BFD9D6"/>
                </a:solidFill>
                <a:latin typeface="Calibri" pitchFamily="34" charset="0"/>
                <a:ea typeface="Calibri" pitchFamily="34" charset="-122"/>
                <a:cs typeface="Calibri" pitchFamily="34" charset="-120"/>
              </a:rPr>
              <a:t>Shre Hari Prem Anandh</a:t>
            </a:r>
            <a:endParaRPr lang="en-US" sz="1400" dirty="0"/>
          </a:p>
          <a:p>
            <a:pPr indent="0" marL="0">
              <a:lnSpc>
                <a:spcPts val="2200"/>
              </a:lnSpc>
              <a:buNone/>
            </a:pPr>
            <a:r>
              <a:rPr lang="en-US" sz="1400" dirty="0">
                <a:solidFill>
                  <a:srgbClr val="BFD9D6"/>
                </a:solidFill>
                <a:latin typeface="Calibri" pitchFamily="34" charset="0"/>
                <a:ea typeface="Calibri" pitchFamily="34" charset="-122"/>
                <a:cs typeface="Calibri" pitchFamily="34" charset="-120"/>
              </a:rPr>
              <a:t>MSc Artificial Intelligence · University of Sheffield</a:t>
            </a:r>
            <a:endParaRPr lang="en-US" sz="1400" dirty="0"/>
          </a:p>
          <a:p>
            <a:pPr indent="0" marL="0">
              <a:lnSpc>
                <a:spcPts val="2200"/>
              </a:lnSpc>
              <a:buNone/>
            </a:pPr>
            <a:r>
              <a:rPr lang="en-US" sz="1400" dirty="0">
                <a:solidFill>
                  <a:srgbClr val="BFD9D6"/>
                </a:solidFill>
                <a:latin typeface="Calibri" pitchFamily="34" charset="0"/>
                <a:ea typeface="Calibri" pitchFamily="34" charset="-122"/>
                <a:cs typeface="Calibri" pitchFamily="34" charset="-120"/>
              </a:rPr>
              <a:t>Supervisor: Dr Chaona Chen</a:t>
            </a:r>
            <a:endParaRPr lang="en-US" sz="1400" dirty="0"/>
          </a:p>
        </p:txBody>
      </p:sp>
      <p:sp>
        <p:nvSpPr>
          <p:cNvPr id="9" name="Text 7"/>
          <p:cNvSpPr txBox="1"/>
          <p:nvPr/>
        </p:nvSpPr>
        <p:spPr>
          <a:xfrm>
            <a:off x="7223760" y="5989320"/>
            <a:ext cx="4343400" cy="365760"/>
          </a:xfrm>
          <a:prstGeom prst="rect">
            <a:avLst/>
          </a:prstGeom>
          <a:noFill/>
          <a:ln/>
        </p:spPr>
        <p:txBody>
          <a:bodyPr wrap="square" lIns="0" tIns="0" rIns="0" bIns="0" rtlCol="0" anchor="ctr"/>
          <a:lstStyle/>
          <a:p>
            <a:pPr algn="r" indent="0" marL="0">
              <a:buNone/>
            </a:pPr>
            <a:r>
              <a:rPr lang="en-US" sz="1100" dirty="0">
                <a:solidFill>
                  <a:srgbClr val="7FC4BE"/>
                </a:solidFill>
                <a:latin typeface="Calibri" pitchFamily="34" charset="0"/>
                <a:ea typeface="Calibri" pitchFamily="34" charset="-122"/>
                <a:cs typeface="Calibri" pitchFamily="34" charset="-120"/>
              </a:rPr>
              <a:t>1,025 real self-reports · 1,012 analysed · 28/28 tests passing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Some prompts can be checked. Feelings cannot.</a:t>
            </a:r>
            <a:endParaRPr lang="en-US" sz="3400" dirty="0"/>
          </a:p>
        </p:txBody>
      </p:sp>
      <p:sp>
        <p:nvSpPr>
          <p:cNvPr id="4" name="Shape 2"/>
          <p:cNvSpPr/>
          <p:nvPr/>
        </p:nvSpPr>
        <p:spPr>
          <a:xfrm>
            <a:off x="640080" y="1874520"/>
            <a:ext cx="5257800" cy="3794760"/>
          </a:xfrm>
          <a:prstGeom prst="roundRect">
            <a:avLst>
              <a:gd name="adj" fmla="val 1446"/>
            </a:avLst>
          </a:prstGeom>
          <a:solidFill>
            <a:srgbClr val="FFFFFF"/>
          </a:solidFill>
          <a:ln w="12700">
            <a:solidFill>
              <a:srgbClr val="DDD8CF"/>
            </a:solidFill>
            <a:prstDash val="solid"/>
          </a:ln>
        </p:spPr>
      </p:sp>
      <p:sp>
        <p:nvSpPr>
          <p:cNvPr id="5" name="Text 3"/>
          <p:cNvSpPr txBox="1"/>
          <p:nvPr/>
        </p:nvSpPr>
        <p:spPr>
          <a:xfrm>
            <a:off x="1005840" y="2194560"/>
            <a:ext cx="4572000" cy="548640"/>
          </a:xfrm>
          <a:prstGeom prst="rect">
            <a:avLst/>
          </a:prstGeom>
          <a:noFill/>
          <a:ln/>
        </p:spPr>
        <p:txBody>
          <a:bodyPr wrap="square" lIns="0" tIns="0" rIns="0" bIns="0" rtlCol="0" anchor="ctr"/>
          <a:lstStyle/>
          <a:p>
            <a:pPr indent="0" marL="0">
              <a:buNone/>
            </a:pPr>
            <a:r>
              <a:rPr lang="en-US" sz="2800" b="1" dirty="0">
                <a:solidFill>
                  <a:srgbClr val="14161A"/>
                </a:solidFill>
                <a:latin typeface="Cambria" pitchFamily="34" charset="0"/>
                <a:ea typeface="Cambria" pitchFamily="34" charset="-122"/>
                <a:cs typeface="Cambria" pitchFamily="34" charset="-120"/>
              </a:rPr>
              <a:t>“a red car”</a:t>
            </a:r>
            <a:endParaRPr lang="en-US" sz="2800" dirty="0"/>
          </a:p>
        </p:txBody>
      </p:sp>
      <p:sp>
        <p:nvSpPr>
          <p:cNvPr id="6" name="Text 4"/>
          <p:cNvSpPr txBox="1"/>
          <p:nvPr/>
        </p:nvSpPr>
        <p:spPr>
          <a:xfrm>
            <a:off x="1005840" y="2926080"/>
            <a:ext cx="4572000" cy="164592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Is there a car?</a:t>
            </a:r>
            <a:endParaRPr lang="en-US" sz="1600" dirty="0"/>
          </a:p>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Is it red?</a:t>
            </a:r>
            <a:endParaRPr lang="en-US" sz="1600" dirty="0"/>
          </a:p>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Done — the prompt names objects.</a:t>
            </a:r>
            <a:endParaRPr lang="en-US" sz="1600" dirty="0"/>
          </a:p>
        </p:txBody>
      </p:sp>
      <p:sp>
        <p:nvSpPr>
          <p:cNvPr id="7" name="Text 5"/>
          <p:cNvSpPr txBox="1"/>
          <p:nvPr/>
        </p:nvSpPr>
        <p:spPr>
          <a:xfrm>
            <a:off x="1005840" y="4892040"/>
            <a:ext cx="4572000" cy="548640"/>
          </a:xfrm>
          <a:prstGeom prst="rect">
            <a:avLst/>
          </a:prstGeom>
          <a:noFill/>
          <a:ln/>
        </p:spPr>
        <p:txBody>
          <a:bodyPr wrap="square" lIns="0" tIns="0" rIns="0" bIns="0" rtlCol="0" anchor="ctr"/>
          <a:lstStyle/>
          <a:p>
            <a:pPr indent="0" marL="0">
              <a:buNone/>
            </a:pPr>
            <a:r>
              <a:rPr lang="en-US" sz="1300" i="1" dirty="0">
                <a:solidFill>
                  <a:srgbClr val="1E6B4F"/>
                </a:solidFill>
                <a:latin typeface="Calibri" pitchFamily="34" charset="0"/>
                <a:ea typeface="Calibri" pitchFamily="34" charset="-122"/>
                <a:cs typeface="Calibri" pitchFamily="34" charset="-120"/>
              </a:rPr>
              <a:t>This is what almost all text-to-image evaluation does.</a:t>
            </a:r>
            <a:endParaRPr lang="en-US" sz="1300" dirty="0"/>
          </a:p>
        </p:txBody>
      </p:sp>
      <p:sp>
        <p:nvSpPr>
          <p:cNvPr id="8" name="Shape 6"/>
          <p:cNvSpPr/>
          <p:nvPr/>
        </p:nvSpPr>
        <p:spPr>
          <a:xfrm>
            <a:off x="6309360" y="1874520"/>
            <a:ext cx="5257800" cy="3794760"/>
          </a:xfrm>
          <a:prstGeom prst="roundRect">
            <a:avLst>
              <a:gd name="adj" fmla="val 1446"/>
            </a:avLst>
          </a:prstGeom>
          <a:solidFill>
            <a:srgbClr val="FBF3E7"/>
          </a:solidFill>
          <a:ln w="12700">
            <a:solidFill>
              <a:srgbClr val="B87614"/>
            </a:solidFill>
            <a:prstDash val="solid"/>
          </a:ln>
        </p:spPr>
      </p:sp>
      <p:sp>
        <p:nvSpPr>
          <p:cNvPr id="9" name="Text 7"/>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800" b="1" dirty="0">
                <a:solidFill>
                  <a:srgbClr val="14161A"/>
                </a:solidFill>
                <a:latin typeface="Cambria" pitchFamily="34" charset="0"/>
                <a:ea typeface="Cambria" pitchFamily="34" charset="-122"/>
                <a:cs typeface="Cambria" pitchFamily="34" charset="-120"/>
              </a:rPr>
              <a:t>“tired but happy”</a:t>
            </a:r>
            <a:endParaRPr lang="en-US" sz="2800" dirty="0"/>
          </a:p>
        </p:txBody>
      </p:sp>
      <p:sp>
        <p:nvSpPr>
          <p:cNvPr id="10" name="Text 8"/>
          <p:cNvSpPr txBox="1"/>
          <p:nvPr/>
        </p:nvSpPr>
        <p:spPr>
          <a:xfrm>
            <a:off x="6675120" y="2926080"/>
            <a:ext cx="4572000" cy="164592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No object to look for.</a:t>
            </a:r>
            <a:endParaRPr lang="en-US" sz="1600" dirty="0"/>
          </a:p>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No answer key.</a:t>
            </a:r>
            <a:endParaRPr lang="en-US" sz="1600" dirty="0"/>
          </a:p>
          <a:p>
            <a:pPr marL="342900" indent="-342900">
              <a:spcAft>
                <a:spcPts val="800"/>
              </a:spcAft>
              <a:buSzPct val="100000"/>
              <a:buChar char="•"/>
            </a:pPr>
            <a:r>
              <a:rPr lang="en-US" sz="1600" dirty="0">
                <a:solidFill>
                  <a:srgbClr val="4F545B"/>
                </a:solidFill>
                <a:latin typeface="Calibri" pitchFamily="34" charset="0"/>
                <a:ea typeface="Calibri" pitchFamily="34" charset="-122"/>
                <a:cs typeface="Calibri" pitchFamily="34" charset="-120"/>
              </a:rPr>
              <a:t>And the feeling is mixed.</a:t>
            </a:r>
            <a:endParaRPr lang="en-US" sz="1600" dirty="0"/>
          </a:p>
        </p:txBody>
      </p:sp>
      <p:sp>
        <p:nvSpPr>
          <p:cNvPr id="11" name="Text 9"/>
          <p:cNvSpPr txBox="1"/>
          <p:nvPr/>
        </p:nvSpPr>
        <p:spPr>
          <a:xfrm>
            <a:off x="6675120" y="4892040"/>
            <a:ext cx="4572000" cy="548640"/>
          </a:xfrm>
          <a:prstGeom prst="rect">
            <a:avLst/>
          </a:prstGeom>
          <a:noFill/>
          <a:ln/>
        </p:spPr>
        <p:txBody>
          <a:bodyPr wrap="square" lIns="0" tIns="0" rIns="0" bIns="0" rtlCol="0" anchor="ctr"/>
          <a:lstStyle/>
          <a:p>
            <a:pPr indent="0" marL="0">
              <a:buNone/>
            </a:pPr>
            <a:r>
              <a:rPr lang="en-US" sz="1300" b="1" i="1" dirty="0">
                <a:solidFill>
                  <a:srgbClr val="B87614"/>
                </a:solidFill>
                <a:latin typeface="Calibri" pitchFamily="34" charset="0"/>
                <a:ea typeface="Calibri" pitchFamily="34" charset="-122"/>
                <a:cs typeface="Calibri" pitchFamily="34" charset="-120"/>
              </a:rPr>
              <a:t>Nobody had built a way to check this.</a:t>
            </a:r>
            <a:endParaRPr lang="en-US" sz="1300" dirty="0"/>
          </a:p>
        </p:txBody>
      </p:sp>
      <p:sp>
        <p:nvSpPr>
          <p:cNvPr id="12" name="Text 10"/>
          <p:cNvSpPr txBox="1"/>
          <p:nvPr/>
        </p:nvSpPr>
        <p:spPr>
          <a:xfrm>
            <a:off x="640080" y="6053328"/>
            <a:ext cx="10908792" cy="365760"/>
          </a:xfrm>
          <a:prstGeom prst="rect">
            <a:avLst/>
          </a:prstGeom>
          <a:noFill/>
          <a:ln/>
        </p:spPr>
        <p:txBody>
          <a:bodyPr wrap="square" lIns="0" tIns="0" rIns="0" bIns="0" rtlCol="0" anchor="ctr"/>
          <a:lstStyle/>
          <a:p>
            <a:pPr indent="0" marL="0">
              <a:buNone/>
            </a:pPr>
            <a:r>
              <a:rPr lang="en-US" sz="1100" i="1" dirty="0">
                <a:solidFill>
                  <a:srgbClr val="6E747B"/>
                </a:solidFill>
                <a:latin typeface="Calibri" pitchFamily="34" charset="0"/>
                <a:ea typeface="Calibri" pitchFamily="34" charset="-122"/>
                <a:cs typeface="Calibri" pitchFamily="34" charset="-120"/>
              </a:rPr>
              <a:t>Median prompt in this dataset: four words. Mixed feelings are common.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THE DATA</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A dataset that cannot be downloaded</a:t>
            </a:r>
            <a:endParaRPr lang="en-US" sz="3400" dirty="0"/>
          </a:p>
        </p:txBody>
      </p:sp>
      <p:sp>
        <p:nvSpPr>
          <p:cNvPr id="4" name="Text 2"/>
          <p:cNvSpPr txBox="1"/>
          <p:nvPr/>
        </p:nvSpPr>
        <p:spPr>
          <a:xfrm>
            <a:off x="640080" y="1737360"/>
            <a:ext cx="10881360" cy="502920"/>
          </a:xfrm>
          <a:prstGeom prst="rect">
            <a:avLst/>
          </a:prstGeom>
          <a:noFill/>
          <a:ln/>
        </p:spPr>
        <p:txBody>
          <a:bodyPr wrap="square" lIns="0" tIns="0" rIns="0" bIns="0" rtlCol="0" anchor="t"/>
          <a:lstStyle/>
          <a:p>
            <a:pPr indent="0" marL="0">
              <a:buNone/>
            </a:pPr>
            <a:r>
              <a:rPr lang="en-US" sz="1500" dirty="0">
                <a:solidFill>
                  <a:srgbClr val="4F545B"/>
                </a:solidFill>
                <a:latin typeface="Calibri" pitchFamily="34" charset="0"/>
                <a:ea typeface="Calibri" pitchFamily="34" charset="-122"/>
                <a:cs typeface="Calibri" pitchFamily="34" charset="-120"/>
              </a:rPr>
              <a:t>Festival of the Mind 2024, Sheffield. Members of the public typed how they felt; DALL·E drew each entry as black-and-white line art.</a:t>
            </a:r>
            <a:endParaRPr lang="en-US" sz="1500" dirty="0"/>
          </a:p>
        </p:txBody>
      </p:sp>
      <p:sp>
        <p:nvSpPr>
          <p:cNvPr id="5" name="Text 3"/>
          <p:cNvSpPr txBox="1"/>
          <p:nvPr/>
        </p:nvSpPr>
        <p:spPr>
          <a:xfrm>
            <a:off x="640080" y="2514600"/>
            <a:ext cx="2468880" cy="822960"/>
          </a:xfrm>
          <a:prstGeom prst="rect">
            <a:avLst/>
          </a:prstGeom>
          <a:noFill/>
          <a:ln/>
        </p:spPr>
        <p:txBody>
          <a:bodyPr wrap="square" lIns="0" tIns="0" rIns="0" bIns="0" rtlCol="0" anchor="b"/>
          <a:lstStyle/>
          <a:p>
            <a:pPr algn="l" indent="0" marL="0">
              <a:buNone/>
            </a:pPr>
            <a:r>
              <a:rPr lang="en-US" sz="4800" b="1" dirty="0">
                <a:solidFill>
                  <a:srgbClr val="0D5C63"/>
                </a:solidFill>
                <a:latin typeface="Cambria" pitchFamily="34" charset="0"/>
                <a:ea typeface="Cambria" pitchFamily="34" charset="-122"/>
                <a:cs typeface="Cambria" pitchFamily="34" charset="-120"/>
              </a:rPr>
              <a:t>1,025</a:t>
            </a:r>
            <a:endParaRPr lang="en-US" sz="4800" dirty="0"/>
          </a:p>
        </p:txBody>
      </p:sp>
      <p:sp>
        <p:nvSpPr>
          <p:cNvPr id="6" name="Text 4"/>
          <p:cNvSpPr txBox="1"/>
          <p:nvPr/>
        </p:nvSpPr>
        <p:spPr>
          <a:xfrm>
            <a:off x="640080" y="3383280"/>
            <a:ext cx="246888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drawings generated</a:t>
            </a:r>
            <a:endParaRPr lang="en-US" sz="1300" dirty="0"/>
          </a:p>
          <a:p>
            <a:pPr algn="l" indent="0" marL="0">
              <a:buNone/>
            </a:pPr>
            <a:r>
              <a:rPr lang="en-US" sz="1300" dirty="0">
                <a:solidFill>
                  <a:srgbClr val="4F545B"/>
                </a:solidFill>
                <a:latin typeface="Calibri" pitchFamily="34" charset="0"/>
                <a:ea typeface="Calibri" pitchFamily="34" charset="-122"/>
                <a:cs typeface="Calibri" pitchFamily="34" charset="-120"/>
              </a:rPr>
              <a:t>0 processing failures</a:t>
            </a:r>
            <a:endParaRPr lang="en-US" sz="1300" dirty="0"/>
          </a:p>
        </p:txBody>
      </p:sp>
      <p:sp>
        <p:nvSpPr>
          <p:cNvPr id="7" name="Text 5"/>
          <p:cNvSpPr txBox="1"/>
          <p:nvPr/>
        </p:nvSpPr>
        <p:spPr>
          <a:xfrm>
            <a:off x="3383280" y="2514600"/>
            <a:ext cx="2468880" cy="822960"/>
          </a:xfrm>
          <a:prstGeom prst="rect">
            <a:avLst/>
          </a:prstGeom>
          <a:noFill/>
          <a:ln/>
        </p:spPr>
        <p:txBody>
          <a:bodyPr wrap="square" lIns="0" tIns="0" rIns="0" bIns="0" rtlCol="0" anchor="b"/>
          <a:lstStyle/>
          <a:p>
            <a:pPr algn="l" indent="0" marL="0">
              <a:buNone/>
            </a:pPr>
            <a:r>
              <a:rPr lang="en-US" sz="4800" b="1" dirty="0">
                <a:solidFill>
                  <a:srgbClr val="0D5C63"/>
                </a:solidFill>
                <a:latin typeface="Cambria" pitchFamily="34" charset="0"/>
                <a:ea typeface="Cambria" pitchFamily="34" charset="-122"/>
                <a:cs typeface="Cambria" pitchFamily="34" charset="-120"/>
              </a:rPr>
              <a:t>1,012</a:t>
            </a:r>
            <a:endParaRPr lang="en-US" sz="4800" dirty="0"/>
          </a:p>
        </p:txBody>
      </p:sp>
      <p:sp>
        <p:nvSpPr>
          <p:cNvPr id="8" name="Text 6"/>
          <p:cNvSpPr txBox="1"/>
          <p:nvPr/>
        </p:nvSpPr>
        <p:spPr>
          <a:xfrm>
            <a:off x="3383280" y="3383280"/>
            <a:ext cx="246888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analysed</a:t>
            </a:r>
            <a:endParaRPr lang="en-US" sz="1300" dirty="0"/>
          </a:p>
          <a:p>
            <a:pPr algn="l" indent="0" marL="0">
              <a:buNone/>
            </a:pPr>
            <a:r>
              <a:rPr lang="en-US" sz="1300" dirty="0">
                <a:solidFill>
                  <a:srgbClr val="4F545B"/>
                </a:solidFill>
                <a:latin typeface="Calibri" pitchFamily="34" charset="0"/>
                <a:ea typeface="Calibri" pitchFamily="34" charset="-122"/>
                <a:cs typeface="Calibri" pitchFamily="34" charset="-120"/>
              </a:rPr>
              <a:t>(13 were pre-festival tests)</a:t>
            </a:r>
            <a:endParaRPr lang="en-US" sz="1300" dirty="0"/>
          </a:p>
        </p:txBody>
      </p:sp>
      <p:sp>
        <p:nvSpPr>
          <p:cNvPr id="9" name="Text 7"/>
          <p:cNvSpPr txBox="1"/>
          <p:nvPr/>
        </p:nvSpPr>
        <p:spPr>
          <a:xfrm>
            <a:off x="6126480" y="2514600"/>
            <a:ext cx="2468880" cy="822960"/>
          </a:xfrm>
          <a:prstGeom prst="rect">
            <a:avLst/>
          </a:prstGeom>
          <a:noFill/>
          <a:ln/>
        </p:spPr>
        <p:txBody>
          <a:bodyPr wrap="square" lIns="0" tIns="0" rIns="0" bIns="0" rtlCol="0" anchor="b"/>
          <a:lstStyle/>
          <a:p>
            <a:pPr algn="l" indent="0" marL="0">
              <a:buNone/>
            </a:pPr>
            <a:r>
              <a:rPr lang="en-US" sz="4800" b="1" dirty="0">
                <a:solidFill>
                  <a:srgbClr val="B87614"/>
                </a:solidFill>
                <a:latin typeface="Cambria" pitchFamily="34" charset="0"/>
                <a:ea typeface="Cambria" pitchFamily="34" charset="-122"/>
                <a:cs typeface="Cambria" pitchFamily="34" charset="-120"/>
              </a:rPr>
              <a:t>607</a:t>
            </a:r>
            <a:endParaRPr lang="en-US" sz="4800" dirty="0"/>
          </a:p>
        </p:txBody>
      </p:sp>
      <p:sp>
        <p:nvSpPr>
          <p:cNvPr id="10" name="Text 8"/>
          <p:cNvSpPr txBox="1"/>
          <p:nvPr/>
        </p:nvSpPr>
        <p:spPr>
          <a:xfrm>
            <a:off x="6126480" y="3383280"/>
            <a:ext cx="246888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prompts carry a feeling</a:t>
            </a:r>
            <a:endParaRPr lang="en-US" sz="1300" dirty="0"/>
          </a:p>
          <a:p>
            <a:pPr algn="l" indent="0" marL="0">
              <a:buNone/>
            </a:pPr>
            <a:r>
              <a:rPr lang="en-US" sz="1300" dirty="0">
                <a:solidFill>
                  <a:srgbClr val="4F545B"/>
                </a:solidFill>
                <a:latin typeface="Calibri" pitchFamily="34" charset="0"/>
                <a:ea typeface="Calibri" pitchFamily="34" charset="-122"/>
                <a:cs typeface="Calibri" pitchFamily="34" charset="-120"/>
              </a:rPr>
              <a:t>405 do not — the control</a:t>
            </a:r>
            <a:endParaRPr lang="en-US" sz="1300" dirty="0"/>
          </a:p>
        </p:txBody>
      </p:sp>
      <p:sp>
        <p:nvSpPr>
          <p:cNvPr id="11" name="Text 9"/>
          <p:cNvSpPr txBox="1"/>
          <p:nvPr/>
        </p:nvSpPr>
        <p:spPr>
          <a:xfrm>
            <a:off x="8869680" y="2514600"/>
            <a:ext cx="2651760" cy="822960"/>
          </a:xfrm>
          <a:prstGeom prst="rect">
            <a:avLst/>
          </a:prstGeom>
          <a:noFill/>
          <a:ln/>
        </p:spPr>
        <p:txBody>
          <a:bodyPr wrap="square" lIns="0" tIns="0" rIns="0" bIns="0" rtlCol="0" anchor="b"/>
          <a:lstStyle/>
          <a:p>
            <a:pPr algn="l" indent="0" marL="0">
              <a:buNone/>
            </a:pPr>
            <a:r>
              <a:rPr lang="en-US" sz="4800" b="1" dirty="0">
                <a:solidFill>
                  <a:srgbClr val="2F6FD0"/>
                </a:solidFill>
                <a:latin typeface="Cambria" pitchFamily="34" charset="0"/>
                <a:ea typeface="Cambria" pitchFamily="34" charset="-122"/>
                <a:cs typeface="Cambria" pitchFamily="34" charset="-120"/>
              </a:rPr>
              <a:t>87</a:t>
            </a:r>
            <a:endParaRPr lang="en-US" sz="4800" dirty="0"/>
          </a:p>
        </p:txBody>
      </p:sp>
      <p:sp>
        <p:nvSpPr>
          <p:cNvPr id="12" name="Text 10"/>
          <p:cNvSpPr txBox="1"/>
          <p:nvPr/>
        </p:nvSpPr>
        <p:spPr>
          <a:xfrm>
            <a:off x="8869680" y="3383280"/>
            <a:ext cx="265176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prompts drawn more than once</a:t>
            </a:r>
            <a:endParaRPr lang="en-US" sz="1300" dirty="0"/>
          </a:p>
          <a:p>
            <a:pPr algn="l" indent="0" marL="0">
              <a:buNone/>
            </a:pPr>
            <a:r>
              <a:rPr lang="en-US" sz="1300" dirty="0">
                <a:solidFill>
                  <a:srgbClr val="4F545B"/>
                </a:solidFill>
                <a:latin typeface="Calibri" pitchFamily="34" charset="0"/>
                <a:ea typeface="Calibri" pitchFamily="34" charset="-122"/>
                <a:cs typeface="Calibri" pitchFamily="34" charset="-120"/>
              </a:rPr>
              <a:t>covering 336 records</a:t>
            </a:r>
            <a:endParaRPr lang="en-US" sz="1300" dirty="0"/>
          </a:p>
        </p:txBody>
      </p:sp>
      <p:sp>
        <p:nvSpPr>
          <p:cNvPr id="13" name="Shape 11"/>
          <p:cNvSpPr/>
          <p:nvPr/>
        </p:nvSpPr>
        <p:spPr>
          <a:xfrm>
            <a:off x="640080" y="4572000"/>
            <a:ext cx="10908792" cy="1508760"/>
          </a:xfrm>
          <a:prstGeom prst="roundRect">
            <a:avLst>
              <a:gd name="adj" fmla="val 3636"/>
            </a:avLst>
          </a:prstGeom>
          <a:solidFill>
            <a:srgbClr val="FFFFFF"/>
          </a:solidFill>
          <a:ln w="12700">
            <a:solidFill>
              <a:srgbClr val="DDD8CF"/>
            </a:solidFill>
            <a:prstDash val="solid"/>
          </a:ln>
        </p:spPr>
      </p:sp>
      <p:sp>
        <p:nvSpPr>
          <p:cNvPr id="14" name="Text 12"/>
          <p:cNvSpPr txBox="1"/>
          <p:nvPr/>
        </p:nvSpPr>
        <p:spPr>
          <a:xfrm>
            <a:off x="960120" y="4754880"/>
            <a:ext cx="10241280" cy="320040"/>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Three traps before any analysis was possible</a:t>
            </a:r>
            <a:endParaRPr lang="en-US" sz="1400" dirty="0"/>
          </a:p>
        </p:txBody>
      </p:sp>
      <p:sp>
        <p:nvSpPr>
          <p:cNvPr id="15" name="Text 13"/>
          <p:cNvSpPr txBox="1"/>
          <p:nvPr/>
        </p:nvSpPr>
        <p:spPr>
          <a:xfrm>
            <a:off x="960120" y="5138928"/>
            <a:ext cx="10241280" cy="86868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4F545B"/>
                </a:solidFill>
                <a:latin typeface="Calibri" pitchFamily="34" charset="0"/>
                <a:ea typeface="Calibri" pitchFamily="34" charset="-122"/>
                <a:cs typeface="Calibri" pitchFamily="34" charset="-120"/>
              </a:rPr>
              <a:t>Three incompatible filename schemes in one folder — a naive loader resolves under 20% of the corpus.</a:t>
            </a:r>
            <a:endParaRPr lang="en-US" sz="1300" dirty="0"/>
          </a:p>
          <a:p>
            <a:pPr marL="342900" indent="-342900">
              <a:spcAft>
                <a:spcPts val="300"/>
              </a:spcAft>
              <a:buSzPct val="100000"/>
              <a:buChar char="•"/>
            </a:pPr>
            <a:r>
              <a:rPr lang="en-US" sz="1300" dirty="0">
                <a:solidFill>
                  <a:srgbClr val="4F545B"/>
                </a:solidFill>
                <a:latin typeface="Calibri" pitchFamily="34" charset="0"/>
                <a:ea typeface="Calibri" pitchFamily="34" charset="-122"/>
                <a:cs typeface="Calibri" pitchFamily="34" charset="-120"/>
              </a:rPr>
              <a:t>Hidden C2PA timestamps inside every PNG revealed that records 1–13 were made before the festival.</a:t>
            </a:r>
            <a:endParaRPr lang="en-US" sz="1300" dirty="0"/>
          </a:p>
          <a:p>
            <a:pPr marL="342900" indent="-342900">
              <a:spcAft>
                <a:spcPts val="300"/>
              </a:spcAft>
              <a:buSzPct val="100000"/>
              <a:buChar char="•"/>
            </a:pPr>
            <a:r>
              <a:rPr lang="en-US" sz="1300" dirty="0">
                <a:solidFill>
                  <a:srgbClr val="4F545B"/>
                </a:solidFill>
                <a:latin typeface="Calibri" pitchFamily="34" charset="0"/>
                <a:ea typeface="Calibri" pitchFamily="34" charset="-122"/>
                <a:cs typeface="Calibri" pitchFamily="34" charset="-120"/>
              </a:rPr>
              <a:t>87 prompts were drawn more than once — which looked like a nuisance and became a finding.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THE GAP</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Four literatures, and the hole between them</a:t>
            </a:r>
            <a:endParaRPr lang="en-US" sz="3400" dirty="0"/>
          </a:p>
        </p:txBody>
      </p:sp>
      <p:sp>
        <p:nvSpPr>
          <p:cNvPr id="4" name="Shape 2"/>
          <p:cNvSpPr/>
          <p:nvPr/>
        </p:nvSpPr>
        <p:spPr>
          <a:xfrm>
            <a:off x="640080" y="1956816"/>
            <a:ext cx="274320" cy="274320"/>
          </a:xfrm>
          <a:prstGeom prst="ellipse">
            <a:avLst/>
          </a:prstGeom>
          <a:solidFill>
            <a:srgbClr val="1E6B4F"/>
          </a:solidFill>
          <a:ln/>
        </p:spPr>
      </p:sp>
      <p:sp>
        <p:nvSpPr>
          <p:cNvPr id="5" name="Text 3"/>
          <p:cNvSpPr txBox="1"/>
          <p:nvPr/>
        </p:nvSpPr>
        <p:spPr>
          <a:xfrm>
            <a:off x="1097280" y="1874520"/>
            <a:ext cx="3200400" cy="6400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Emotion in text</a:t>
            </a:r>
            <a:endParaRPr lang="en-US" sz="1500" dirty="0"/>
          </a:p>
        </p:txBody>
      </p:sp>
      <p:sp>
        <p:nvSpPr>
          <p:cNvPr id="6" name="Text 4"/>
          <p:cNvSpPr txBox="1"/>
          <p:nvPr/>
        </p:nvSpPr>
        <p:spPr>
          <a:xfrm>
            <a:off x="3931920" y="1874520"/>
            <a:ext cx="7589520" cy="64008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Well studied. GoEmotions gives 27 categories and a classifier — but short first-person self-report is the hardest case.</a:t>
            </a:r>
            <a:endParaRPr lang="en-US" sz="1300" dirty="0"/>
          </a:p>
        </p:txBody>
      </p:sp>
      <p:sp>
        <p:nvSpPr>
          <p:cNvPr id="7" name="Shape 5"/>
          <p:cNvSpPr/>
          <p:nvPr/>
        </p:nvSpPr>
        <p:spPr>
          <a:xfrm>
            <a:off x="640080" y="2752344"/>
            <a:ext cx="274320" cy="274320"/>
          </a:xfrm>
          <a:prstGeom prst="ellipse">
            <a:avLst/>
          </a:prstGeom>
          <a:solidFill>
            <a:srgbClr val="1E6B4F"/>
          </a:solidFill>
          <a:ln/>
        </p:spPr>
      </p:sp>
      <p:sp>
        <p:nvSpPr>
          <p:cNvPr id="8" name="Text 6"/>
          <p:cNvSpPr txBox="1"/>
          <p:nvPr/>
        </p:nvSpPr>
        <p:spPr>
          <a:xfrm>
            <a:off x="1097280" y="2670048"/>
            <a:ext cx="3200400" cy="6400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Emotional image generation</a:t>
            </a:r>
            <a:endParaRPr lang="en-US" sz="1500" dirty="0"/>
          </a:p>
        </p:txBody>
      </p:sp>
      <p:sp>
        <p:nvSpPr>
          <p:cNvPr id="9" name="Text 7"/>
          <p:cNvSpPr txBox="1"/>
          <p:nvPr/>
        </p:nvSpPr>
        <p:spPr>
          <a:xfrm>
            <a:off x="3931920" y="2670048"/>
            <a:ext cx="7589520" cy="64008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Well studied. And the strongest evidence says colour, not shape, carries most emotional meaning.</a:t>
            </a:r>
            <a:endParaRPr lang="en-US" sz="1300" dirty="0"/>
          </a:p>
        </p:txBody>
      </p:sp>
      <p:sp>
        <p:nvSpPr>
          <p:cNvPr id="10" name="Shape 8"/>
          <p:cNvSpPr/>
          <p:nvPr/>
        </p:nvSpPr>
        <p:spPr>
          <a:xfrm>
            <a:off x="640080" y="3547872"/>
            <a:ext cx="274320" cy="274320"/>
          </a:xfrm>
          <a:prstGeom prst="ellipse">
            <a:avLst/>
          </a:prstGeom>
          <a:solidFill>
            <a:srgbClr val="1E6B4F"/>
          </a:solidFill>
          <a:ln/>
        </p:spPr>
      </p:sp>
      <p:sp>
        <p:nvSpPr>
          <p:cNvPr id="11" name="Text 9"/>
          <p:cNvSpPr txBox="1"/>
          <p:nvPr/>
        </p:nvSpPr>
        <p:spPr>
          <a:xfrm>
            <a:off x="1097280" y="3465576"/>
            <a:ext cx="3200400" cy="6400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Text-to-image evaluation</a:t>
            </a:r>
            <a:endParaRPr lang="en-US" sz="1500" dirty="0"/>
          </a:p>
        </p:txBody>
      </p:sp>
      <p:sp>
        <p:nvSpPr>
          <p:cNvPr id="12" name="Text 10"/>
          <p:cNvSpPr txBox="1"/>
          <p:nvPr/>
        </p:nvSpPr>
        <p:spPr>
          <a:xfrm>
            <a:off x="3931920" y="3465576"/>
            <a:ext cx="7589520" cy="64008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Well studied — for objects. The metrics check whether the picture contains what the prompt named.</a:t>
            </a:r>
            <a:endParaRPr lang="en-US" sz="1300" dirty="0"/>
          </a:p>
        </p:txBody>
      </p:sp>
      <p:sp>
        <p:nvSpPr>
          <p:cNvPr id="13" name="Shape 11"/>
          <p:cNvSpPr/>
          <p:nvPr/>
        </p:nvSpPr>
        <p:spPr>
          <a:xfrm>
            <a:off x="640080" y="4343400"/>
            <a:ext cx="274320" cy="274320"/>
          </a:xfrm>
          <a:prstGeom prst="ellipse">
            <a:avLst/>
          </a:prstGeom>
          <a:solidFill>
            <a:srgbClr val="B87614"/>
          </a:solidFill>
          <a:ln/>
        </p:spPr>
      </p:sp>
      <p:sp>
        <p:nvSpPr>
          <p:cNvPr id="14" name="Text 12"/>
          <p:cNvSpPr txBox="1"/>
          <p:nvPr/>
        </p:nvSpPr>
        <p:spPr>
          <a:xfrm>
            <a:off x="1097280" y="4261104"/>
            <a:ext cx="3200400" cy="640080"/>
          </a:xfrm>
          <a:prstGeom prst="rect">
            <a:avLst/>
          </a:prstGeom>
          <a:noFill/>
          <a:ln/>
        </p:spPr>
        <p:txBody>
          <a:bodyPr wrap="square" lIns="0" tIns="0" rIns="0" bIns="0" rtlCol="0" anchor="t"/>
          <a:lstStyle/>
          <a:p>
            <a:pPr indent="0" marL="0">
              <a:buNone/>
            </a:pPr>
            <a:r>
              <a:rPr lang="en-US" sz="1500" b="1" dirty="0">
                <a:solidFill>
                  <a:srgbClr val="14161A"/>
                </a:solidFill>
                <a:latin typeface="Calibri" pitchFamily="34" charset="0"/>
                <a:ea typeface="Calibri" pitchFamily="34" charset="-122"/>
                <a:cs typeface="Calibri" pitchFamily="34" charset="-120"/>
              </a:rPr>
              <a:t>Reading emotion from an image</a:t>
            </a:r>
            <a:endParaRPr lang="en-US" sz="1500" dirty="0"/>
          </a:p>
        </p:txBody>
      </p:sp>
      <p:sp>
        <p:nvSpPr>
          <p:cNvPr id="15" name="Text 13"/>
          <p:cNvSpPr txBox="1"/>
          <p:nvPr/>
        </p:nvSpPr>
        <p:spPr>
          <a:xfrm>
            <a:off x="3931920" y="4261104"/>
            <a:ext cx="7589520" cy="64008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Possible but weak. Vision-language models are positively biased, order-sensitive readers.</a:t>
            </a:r>
            <a:endParaRPr lang="en-US" sz="1300" dirty="0"/>
          </a:p>
        </p:txBody>
      </p:sp>
      <p:sp>
        <p:nvSpPr>
          <p:cNvPr id="16" name="Shape 14"/>
          <p:cNvSpPr/>
          <p:nvPr/>
        </p:nvSpPr>
        <p:spPr>
          <a:xfrm>
            <a:off x="640080" y="5120640"/>
            <a:ext cx="10908792" cy="960120"/>
          </a:xfrm>
          <a:prstGeom prst="roundRect">
            <a:avLst>
              <a:gd name="adj" fmla="val 5714"/>
            </a:avLst>
          </a:prstGeom>
          <a:solidFill>
            <a:srgbClr val="E8F0EF"/>
          </a:solidFill>
          <a:ln w="15240">
            <a:solidFill>
              <a:srgbClr val="0D5C63"/>
            </a:solidFill>
            <a:prstDash val="solid"/>
          </a:ln>
        </p:spPr>
      </p:sp>
      <p:sp>
        <p:nvSpPr>
          <p:cNvPr id="17" name="Text 15"/>
          <p:cNvSpPr txBox="1"/>
          <p:nvPr/>
        </p:nvSpPr>
        <p:spPr>
          <a:xfrm>
            <a:off x="960120" y="5212080"/>
            <a:ext cx="10241280" cy="777240"/>
          </a:xfrm>
          <a:prstGeom prst="rect">
            <a:avLst/>
          </a:prstGeom>
          <a:noFill/>
          <a:ln/>
        </p:spPr>
        <p:txBody>
          <a:bodyPr wrap="square" lIns="0" tIns="0" rIns="0" bIns="0" rtlCol="0" anchor="ctr"/>
          <a:lstStyle/>
          <a:p>
            <a:pPr indent="0" marL="0">
              <a:buNone/>
            </a:pPr>
            <a:r>
              <a:rPr lang="en-US" sz="1900" b="1" dirty="0">
                <a:solidFill>
                  <a:srgbClr val="0D5C63"/>
                </a:solidFill>
                <a:latin typeface="Cambria" pitchFamily="34" charset="0"/>
                <a:ea typeface="Cambria" pitchFamily="34" charset="-122"/>
                <a:cs typeface="Cambria" pitchFamily="34" charset="-120"/>
              </a:rPr>
              <a:t>Nobody had asked whether the feeling in a person's own unedited words survives the journey into a drawing.</a:t>
            </a:r>
            <a:endParaRPr lang="en-US" sz="1900" dirty="0"/>
          </a:p>
        </p:txBody>
      </p:sp>
      <p:sp>
        <p:nvSpPr>
          <p:cNvPr id="18" name="Text 16"/>
          <p:cNvSpPr txBox="1"/>
          <p:nvPr/>
        </p:nvSpPr>
        <p:spPr>
          <a:xfrm>
            <a:off x="640080" y="6053328"/>
            <a:ext cx="10908792" cy="365760"/>
          </a:xfrm>
          <a:prstGeom prst="rect">
            <a:avLst/>
          </a:prstGeom>
          <a:noFill/>
          <a:ln/>
        </p:spPr>
        <p:txBody>
          <a:bodyPr wrap="square" lIns="0" tIns="0" rIns="0" bIns="0" rtlCol="0" anchor="ctr"/>
          <a:lstStyle/>
          <a:p>
            <a:pPr indent="0" marL="0">
              <a:buNone/>
            </a:pPr>
            <a:r>
              <a:rPr lang="en-US" sz="1100" i="1" dirty="0">
                <a:solidFill>
                  <a:srgbClr val="6E747B"/>
                </a:solidFill>
                <a:latin typeface="Calibri" pitchFamily="34" charset="0"/>
                <a:ea typeface="Calibri" pitchFamily="34" charset="-122"/>
                <a:cs typeface="Calibri" pitchFamily="34" charset="-120"/>
              </a:rPr>
              <a:t>97 papers collected and read · 73 kept as core evidence · organised into twelve themes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2F33"/>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7FC4BE"/>
                </a:solidFill>
                <a:latin typeface="Calibri" pitchFamily="34" charset="0"/>
                <a:ea typeface="Calibri" pitchFamily="34" charset="-122"/>
                <a:cs typeface="Calibri" pitchFamily="34" charset="-120"/>
              </a:rPr>
              <a:t>THE RESEARCH QUESTION</a:t>
            </a:r>
            <a:endParaRPr lang="en-US" sz="1100" dirty="0"/>
          </a:p>
        </p:txBody>
      </p:sp>
      <p:sp>
        <p:nvSpPr>
          <p:cNvPr id="3" name="Text 1"/>
          <p:cNvSpPr txBox="1"/>
          <p:nvPr/>
        </p:nvSpPr>
        <p:spPr>
          <a:xfrm>
            <a:off x="640080" y="1920240"/>
            <a:ext cx="10881360" cy="2377440"/>
          </a:xfrm>
          <a:prstGeom prst="rect">
            <a:avLst/>
          </a:prstGeom>
          <a:noFill/>
          <a:ln/>
        </p:spPr>
        <p:txBody>
          <a:bodyPr wrap="square" lIns="0" tIns="0" rIns="0" bIns="0" rtlCol="0" anchor="ctr"/>
          <a:lstStyle/>
          <a:p>
            <a:pPr indent="0" marL="0">
              <a:lnSpc>
                <a:spcPts val="4200"/>
              </a:lnSpc>
              <a:buNone/>
            </a:pPr>
            <a:r>
              <a:rPr lang="en-US" sz="3000" dirty="0">
                <a:solidFill>
                  <a:srgbClr val="FFFFFF"/>
                </a:solidFill>
                <a:latin typeface="Cambria" pitchFamily="34" charset="0"/>
                <a:ea typeface="Cambria" pitchFamily="34" charset="-122"/>
                <a:cs typeface="Cambria" pitchFamily="34" charset="-120"/>
              </a:rPr>
              <a:t>To what extent does an automatic image-emotion reader agree with prompt-derived emotion labels for AI-generated monochrome drawings — and how does that agreement vary by visual content and by repeated prompts?</a:t>
            </a:r>
            <a:endParaRPr lang="en-US" sz="3000" dirty="0"/>
          </a:p>
        </p:txBody>
      </p:sp>
      <p:sp>
        <p:nvSpPr>
          <p:cNvPr id="4" name="Shape 2"/>
          <p:cNvSpPr/>
          <p:nvPr/>
        </p:nvSpPr>
        <p:spPr>
          <a:xfrm>
            <a:off x="640080" y="4343400"/>
            <a:ext cx="2560320" cy="0"/>
          </a:xfrm>
          <a:prstGeom prst="line">
            <a:avLst/>
          </a:prstGeom>
          <a:noFill/>
          <a:ln w="19050">
            <a:solidFill>
              <a:srgbClr val="2F7B7F"/>
            </a:solidFill>
            <a:prstDash val="solid"/>
          </a:ln>
        </p:spPr>
      </p:sp>
      <p:sp>
        <p:nvSpPr>
          <p:cNvPr id="5" name="Text 3"/>
          <p:cNvSpPr txBox="1"/>
          <p:nvPr/>
        </p:nvSpPr>
        <p:spPr>
          <a:xfrm>
            <a:off x="640080" y="4663440"/>
            <a:ext cx="10332720" cy="1005840"/>
          </a:xfrm>
          <a:prstGeom prst="rect">
            <a:avLst/>
          </a:prstGeom>
          <a:noFill/>
          <a:ln/>
        </p:spPr>
        <p:txBody>
          <a:bodyPr wrap="square" lIns="0" tIns="0" rIns="0" bIns="0" rtlCol="0" anchor="ctr"/>
          <a:lstStyle/>
          <a:p>
            <a:pPr indent="0" marL="0">
              <a:buNone/>
            </a:pPr>
            <a:r>
              <a:rPr lang="en-US" sz="1600" b="1" dirty="0">
                <a:solidFill>
                  <a:srgbClr val="BFD9D6"/>
                </a:solidFill>
                <a:latin typeface="Calibri" pitchFamily="34" charset="0"/>
                <a:ea typeface="Calibri" pitchFamily="34" charset="-122"/>
                <a:cs typeface="Calibri" pitchFamily="34" charset="-120"/>
              </a:rPr>
              <a:t>This measures agreement between two automatic systems. </a:t>
            </a:r>
            <a:pPr indent="0" marL="0">
              <a:buNone/>
            </a:pPr>
            <a:r>
              <a:rPr lang="en-US" sz="1600" dirty="0">
                <a:solidFill>
                  <a:srgbClr val="BFD9D6"/>
                </a:solidFill>
                <a:latin typeface="Calibri" pitchFamily="34" charset="0"/>
                <a:ea typeface="Calibri" pitchFamily="34" charset="-122"/>
                <a:cs typeface="Calibri" pitchFamily="34" charset="-120"/>
              </a:rPr>
              <a:t>It does not establish that a human viewer perceives the same feeling — and that distinction is carried honestly through every claim I make.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Describe first. Never ask for the emotion.</a:t>
            </a:r>
            <a:endParaRPr lang="en-US" sz="3400" dirty="0"/>
          </a:p>
        </p:txBody>
      </p:sp>
      <p:sp>
        <p:nvSpPr>
          <p:cNvPr id="4" name="Shape 2"/>
          <p:cNvSpPr/>
          <p:nvPr/>
        </p:nvSpPr>
        <p:spPr>
          <a:xfrm>
            <a:off x="640080" y="1874520"/>
            <a:ext cx="3429000" cy="2468880"/>
          </a:xfrm>
          <a:prstGeom prst="roundRect">
            <a:avLst>
              <a:gd name="adj" fmla="val 2222"/>
            </a:avLst>
          </a:prstGeom>
          <a:solidFill>
            <a:srgbClr val="FFFFFF"/>
          </a:solidFill>
          <a:ln w="12700">
            <a:solidFill>
              <a:srgbClr val="DDD8CF"/>
            </a:solidFill>
            <a:prstDash val="solid"/>
          </a:ln>
        </p:spPr>
      </p:sp>
      <p:sp>
        <p:nvSpPr>
          <p:cNvPr id="5" name="Shape 3"/>
          <p:cNvSpPr/>
          <p:nvPr/>
        </p:nvSpPr>
        <p:spPr>
          <a:xfrm>
            <a:off x="960120" y="2194560"/>
            <a:ext cx="548640" cy="548640"/>
          </a:xfrm>
          <a:prstGeom prst="ellipse">
            <a:avLst/>
          </a:prstGeom>
          <a:solidFill>
            <a:srgbClr val="0D5C63"/>
          </a:solidFill>
          <a:ln/>
        </p:spPr>
      </p:sp>
      <p:sp>
        <p:nvSpPr>
          <p:cNvPr id="6" name="Text 4"/>
          <p:cNvSpPr txBox="1"/>
          <p:nvPr/>
        </p:nvSpPr>
        <p:spPr>
          <a:xfrm>
            <a:off x="960120" y="21945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txBox="1"/>
          <p:nvPr/>
        </p:nvSpPr>
        <p:spPr>
          <a:xfrm>
            <a:off x="1645920" y="2240280"/>
            <a:ext cx="2194560" cy="457200"/>
          </a:xfrm>
          <a:prstGeom prst="rect">
            <a:avLst/>
          </a:prstGeom>
          <a:noFill/>
          <a:ln/>
        </p:spPr>
        <p:txBody>
          <a:bodyPr wrap="square" lIns="0" tIns="0" rIns="0" bIns="0" rtlCol="0" anchor="ctr"/>
          <a:lstStyle/>
          <a:p>
            <a:pPr indent="0" marL="0">
              <a:buNone/>
            </a:pPr>
            <a:r>
              <a:rPr lang="en-US" sz="2200" b="1" dirty="0">
                <a:solidFill>
                  <a:srgbClr val="14161A"/>
                </a:solidFill>
                <a:latin typeface="Cambria" pitchFamily="34" charset="0"/>
                <a:ea typeface="Cambria" pitchFamily="34" charset="-122"/>
                <a:cs typeface="Cambria" pitchFamily="34" charset="-120"/>
              </a:rPr>
              <a:t>Describe</a:t>
            </a:r>
            <a:endParaRPr lang="en-US" sz="2200" dirty="0"/>
          </a:p>
        </p:txBody>
      </p:sp>
      <p:sp>
        <p:nvSpPr>
          <p:cNvPr id="8" name="Text 6"/>
          <p:cNvSpPr txBox="1"/>
          <p:nvPr/>
        </p:nvSpPr>
        <p:spPr>
          <a:xfrm>
            <a:off x="960120" y="2971800"/>
            <a:ext cx="2788920" cy="123444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Five plain factual questions to the image model: expression, action, posture, how many people, what is in the picture.</a:t>
            </a:r>
            <a:endParaRPr lang="en-US" sz="1300" dirty="0"/>
          </a:p>
        </p:txBody>
      </p:sp>
      <p:sp>
        <p:nvSpPr>
          <p:cNvPr id="9" name="Shape 7"/>
          <p:cNvSpPr/>
          <p:nvPr/>
        </p:nvSpPr>
        <p:spPr>
          <a:xfrm>
            <a:off x="4343400" y="1874520"/>
            <a:ext cx="3429000" cy="2468880"/>
          </a:xfrm>
          <a:prstGeom prst="roundRect">
            <a:avLst>
              <a:gd name="adj" fmla="val 2222"/>
            </a:avLst>
          </a:prstGeom>
          <a:solidFill>
            <a:srgbClr val="FFFFFF"/>
          </a:solidFill>
          <a:ln w="12700">
            <a:solidFill>
              <a:srgbClr val="DDD8CF"/>
            </a:solidFill>
            <a:prstDash val="solid"/>
          </a:ln>
        </p:spPr>
      </p:sp>
      <p:sp>
        <p:nvSpPr>
          <p:cNvPr id="10" name="Shape 8"/>
          <p:cNvSpPr/>
          <p:nvPr/>
        </p:nvSpPr>
        <p:spPr>
          <a:xfrm>
            <a:off x="4663440" y="2194560"/>
            <a:ext cx="548640" cy="548640"/>
          </a:xfrm>
          <a:prstGeom prst="ellipse">
            <a:avLst/>
          </a:prstGeom>
          <a:solidFill>
            <a:srgbClr val="B87614"/>
          </a:solidFill>
          <a:ln/>
        </p:spPr>
      </p:sp>
      <p:sp>
        <p:nvSpPr>
          <p:cNvPr id="11" name="Text 9"/>
          <p:cNvSpPr txBox="1"/>
          <p:nvPr/>
        </p:nvSpPr>
        <p:spPr>
          <a:xfrm>
            <a:off x="4663440" y="21945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txBox="1"/>
          <p:nvPr/>
        </p:nvSpPr>
        <p:spPr>
          <a:xfrm>
            <a:off x="5349240" y="2240280"/>
            <a:ext cx="2194560" cy="457200"/>
          </a:xfrm>
          <a:prstGeom prst="rect">
            <a:avLst/>
          </a:prstGeom>
          <a:noFill/>
          <a:ln/>
        </p:spPr>
        <p:txBody>
          <a:bodyPr wrap="square" lIns="0" tIns="0" rIns="0" bIns="0" rtlCol="0" anchor="ctr"/>
          <a:lstStyle/>
          <a:p>
            <a:pPr indent="0" marL="0">
              <a:buNone/>
            </a:pPr>
            <a:r>
              <a:rPr lang="en-US" sz="2200" b="1" dirty="0">
                <a:solidFill>
                  <a:srgbClr val="14161A"/>
                </a:solidFill>
                <a:latin typeface="Cambria" pitchFamily="34" charset="0"/>
                <a:ea typeface="Cambria" pitchFamily="34" charset="-122"/>
                <a:cs typeface="Cambria" pitchFamily="34" charset="-120"/>
              </a:rPr>
              <a:t>Read</a:t>
            </a:r>
            <a:endParaRPr lang="en-US" sz="2200" dirty="0"/>
          </a:p>
        </p:txBody>
      </p:sp>
      <p:sp>
        <p:nvSpPr>
          <p:cNvPr id="13" name="Text 11"/>
          <p:cNvSpPr txBox="1"/>
          <p:nvPr/>
        </p:nvSpPr>
        <p:spPr>
          <a:xfrm>
            <a:off x="4663440" y="2971800"/>
            <a:ext cx="2788920" cy="123444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A separate language model infers a feeling from that description. A third model reads the person's own words.</a:t>
            </a:r>
            <a:endParaRPr lang="en-US" sz="1300" dirty="0"/>
          </a:p>
        </p:txBody>
      </p:sp>
      <p:sp>
        <p:nvSpPr>
          <p:cNvPr id="14" name="Shape 12"/>
          <p:cNvSpPr/>
          <p:nvPr/>
        </p:nvSpPr>
        <p:spPr>
          <a:xfrm>
            <a:off x="8046720" y="1874520"/>
            <a:ext cx="3429000" cy="2468880"/>
          </a:xfrm>
          <a:prstGeom prst="roundRect">
            <a:avLst>
              <a:gd name="adj" fmla="val 2222"/>
            </a:avLst>
          </a:prstGeom>
          <a:solidFill>
            <a:srgbClr val="FFFFFF"/>
          </a:solidFill>
          <a:ln w="12700">
            <a:solidFill>
              <a:srgbClr val="DDD8CF"/>
            </a:solidFill>
            <a:prstDash val="solid"/>
          </a:ln>
        </p:spPr>
      </p:sp>
      <p:sp>
        <p:nvSpPr>
          <p:cNvPr id="15" name="Shape 13"/>
          <p:cNvSpPr/>
          <p:nvPr/>
        </p:nvSpPr>
        <p:spPr>
          <a:xfrm>
            <a:off x="8366760" y="2194560"/>
            <a:ext cx="548640" cy="548640"/>
          </a:xfrm>
          <a:prstGeom prst="ellipse">
            <a:avLst/>
          </a:prstGeom>
          <a:solidFill>
            <a:srgbClr val="2F6FD0"/>
          </a:solidFill>
          <a:ln/>
        </p:spPr>
      </p:sp>
      <p:sp>
        <p:nvSpPr>
          <p:cNvPr id="16" name="Text 14"/>
          <p:cNvSpPr txBox="1"/>
          <p:nvPr/>
        </p:nvSpPr>
        <p:spPr>
          <a:xfrm>
            <a:off x="8366760" y="21945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9052560" y="2240280"/>
            <a:ext cx="2194560" cy="457200"/>
          </a:xfrm>
          <a:prstGeom prst="rect">
            <a:avLst/>
          </a:prstGeom>
          <a:noFill/>
          <a:ln/>
        </p:spPr>
        <p:txBody>
          <a:bodyPr wrap="square" lIns="0" tIns="0" rIns="0" bIns="0" rtlCol="0" anchor="ctr"/>
          <a:lstStyle/>
          <a:p>
            <a:pPr indent="0" marL="0">
              <a:buNone/>
            </a:pPr>
            <a:r>
              <a:rPr lang="en-US" sz="2200" b="1" dirty="0">
                <a:solidFill>
                  <a:srgbClr val="14161A"/>
                </a:solidFill>
                <a:latin typeface="Cambria" pitchFamily="34" charset="0"/>
                <a:ea typeface="Cambria" pitchFamily="34" charset="-122"/>
                <a:cs typeface="Cambria" pitchFamily="34" charset="-120"/>
              </a:rPr>
              <a:t>Compare</a:t>
            </a:r>
            <a:endParaRPr lang="en-US" sz="2200" dirty="0"/>
          </a:p>
        </p:txBody>
      </p:sp>
      <p:sp>
        <p:nvSpPr>
          <p:cNvPr id="18" name="Text 16"/>
          <p:cNvSpPr txBox="1"/>
          <p:nvPr/>
        </p:nvSpPr>
        <p:spPr>
          <a:xfrm>
            <a:off x="8366760" y="2971800"/>
            <a:ext cx="2788920" cy="123444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Four measures of closeness — every one referenced to chance.</a:t>
            </a:r>
            <a:endParaRPr lang="en-US" sz="1300" dirty="0"/>
          </a:p>
        </p:txBody>
      </p:sp>
      <p:sp>
        <p:nvSpPr>
          <p:cNvPr id="19" name="Shape 17"/>
          <p:cNvSpPr/>
          <p:nvPr/>
        </p:nvSpPr>
        <p:spPr>
          <a:xfrm>
            <a:off x="640080" y="4709160"/>
            <a:ext cx="10908792" cy="1188720"/>
          </a:xfrm>
          <a:prstGeom prst="roundRect">
            <a:avLst>
              <a:gd name="adj" fmla="val 4615"/>
            </a:avLst>
          </a:prstGeom>
          <a:solidFill>
            <a:srgbClr val="FBF3E7"/>
          </a:solidFill>
          <a:ln w="15240">
            <a:solidFill>
              <a:srgbClr val="B87614"/>
            </a:solidFill>
            <a:prstDash val="solid"/>
          </a:ln>
        </p:spPr>
      </p:sp>
      <p:sp>
        <p:nvSpPr>
          <p:cNvPr id="20" name="Text 18"/>
          <p:cNvSpPr txBox="1"/>
          <p:nvPr/>
        </p:nvSpPr>
        <p:spPr>
          <a:xfrm>
            <a:off x="960120" y="4892040"/>
            <a:ext cx="10241280" cy="822960"/>
          </a:xfrm>
          <a:prstGeom prst="rect">
            <a:avLst/>
          </a:prstGeom>
          <a:noFill/>
          <a:ln/>
        </p:spPr>
        <p:txBody>
          <a:bodyPr wrap="square" lIns="0" tIns="0" rIns="0" bIns="0" rtlCol="0" anchor="ctr"/>
          <a:lstStyle/>
          <a:p>
            <a:pPr indent="0" marL="0">
              <a:buNone/>
            </a:pPr>
            <a:r>
              <a:rPr lang="en-US" sz="1800" b="1" dirty="0">
                <a:solidFill>
                  <a:srgbClr val="14161A"/>
                </a:solidFill>
                <a:latin typeface="Cambria" pitchFamily="34" charset="0"/>
                <a:ea typeface="Cambria" pitchFamily="34" charset="-122"/>
                <a:cs typeface="Cambria" pitchFamily="34" charset="-120"/>
              </a:rPr>
              <a:t>The vision model is never asked “what emotion is this?” — that is the supervisor's design, and it is measurably better.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METHOD · STAGE ONE</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The five questions asked of every drawing</a:t>
            </a:r>
            <a:endParaRPr lang="en-US" sz="3400" dirty="0"/>
          </a:p>
        </p:txBody>
      </p:sp>
      <p:sp>
        <p:nvSpPr>
          <p:cNvPr id="4" name="Shape 2"/>
          <p:cNvSpPr/>
          <p:nvPr/>
        </p:nvSpPr>
        <p:spPr>
          <a:xfrm>
            <a:off x="640080" y="1874520"/>
            <a:ext cx="6766560" cy="530352"/>
          </a:xfrm>
          <a:prstGeom prst="roundRect">
            <a:avLst>
              <a:gd name="adj" fmla="val 8621"/>
            </a:avLst>
          </a:prstGeom>
          <a:solidFill>
            <a:srgbClr val="FFFFFF"/>
          </a:solidFill>
          <a:ln w="12700">
            <a:solidFill>
              <a:srgbClr val="DDD8CF"/>
            </a:solidFill>
            <a:prstDash val="solid"/>
          </a:ln>
        </p:spPr>
      </p:sp>
      <p:sp>
        <p:nvSpPr>
          <p:cNvPr id="5" name="Text 3"/>
          <p:cNvSpPr txBox="1"/>
          <p:nvPr/>
        </p:nvSpPr>
        <p:spPr>
          <a:xfrm>
            <a:off x="822960" y="1874520"/>
            <a:ext cx="365760" cy="530352"/>
          </a:xfrm>
          <a:prstGeom prst="rect">
            <a:avLst/>
          </a:prstGeom>
          <a:noFill/>
          <a:ln/>
        </p:spPr>
        <p:txBody>
          <a:bodyPr wrap="square" lIns="0" tIns="0" rIns="0" bIns="0" rtlCol="0" anchor="ctr"/>
          <a:lstStyle/>
          <a:p>
            <a:pPr algn="ctr" indent="0" marL="0">
              <a:buNone/>
            </a:pPr>
            <a:r>
              <a:rPr lang="en-US" sz="1300" b="1" dirty="0">
                <a:solidFill>
                  <a:srgbClr val="0D5C63"/>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80160" y="1874520"/>
            <a:ext cx="5943600" cy="530352"/>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What is the facial expression?</a:t>
            </a:r>
            <a:endParaRPr lang="en-US" sz="1500" dirty="0"/>
          </a:p>
        </p:txBody>
      </p:sp>
      <p:sp>
        <p:nvSpPr>
          <p:cNvPr id="7" name="Shape 5"/>
          <p:cNvSpPr/>
          <p:nvPr/>
        </p:nvSpPr>
        <p:spPr>
          <a:xfrm>
            <a:off x="640080" y="2587752"/>
            <a:ext cx="6766560" cy="530352"/>
          </a:xfrm>
          <a:prstGeom prst="roundRect">
            <a:avLst>
              <a:gd name="adj" fmla="val 8621"/>
            </a:avLst>
          </a:prstGeom>
          <a:solidFill>
            <a:srgbClr val="FFFFFF"/>
          </a:solidFill>
          <a:ln w="12700">
            <a:solidFill>
              <a:srgbClr val="DDD8CF"/>
            </a:solidFill>
            <a:prstDash val="solid"/>
          </a:ln>
        </p:spPr>
      </p:sp>
      <p:sp>
        <p:nvSpPr>
          <p:cNvPr id="8" name="Text 6"/>
          <p:cNvSpPr txBox="1"/>
          <p:nvPr/>
        </p:nvSpPr>
        <p:spPr>
          <a:xfrm>
            <a:off x="822960" y="2587752"/>
            <a:ext cx="365760" cy="530352"/>
          </a:xfrm>
          <a:prstGeom prst="rect">
            <a:avLst/>
          </a:prstGeom>
          <a:noFill/>
          <a:ln/>
        </p:spPr>
        <p:txBody>
          <a:bodyPr wrap="square" lIns="0" tIns="0" rIns="0" bIns="0" rtlCol="0" anchor="ctr"/>
          <a:lstStyle/>
          <a:p>
            <a:pPr algn="ctr" indent="0" marL="0">
              <a:buNone/>
            </a:pPr>
            <a:r>
              <a:rPr lang="en-US" sz="1300" b="1" dirty="0">
                <a:solidFill>
                  <a:srgbClr val="0D5C63"/>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280160" y="2587752"/>
            <a:ext cx="5943600" cy="530352"/>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What is the person doing?</a:t>
            </a:r>
            <a:endParaRPr lang="en-US" sz="1500" dirty="0"/>
          </a:p>
        </p:txBody>
      </p:sp>
      <p:sp>
        <p:nvSpPr>
          <p:cNvPr id="10" name="Shape 8"/>
          <p:cNvSpPr/>
          <p:nvPr/>
        </p:nvSpPr>
        <p:spPr>
          <a:xfrm>
            <a:off x="640080" y="3300984"/>
            <a:ext cx="6766560" cy="530352"/>
          </a:xfrm>
          <a:prstGeom prst="roundRect">
            <a:avLst>
              <a:gd name="adj" fmla="val 8621"/>
            </a:avLst>
          </a:prstGeom>
          <a:solidFill>
            <a:srgbClr val="FFFFFF"/>
          </a:solidFill>
          <a:ln w="12700">
            <a:solidFill>
              <a:srgbClr val="DDD8CF"/>
            </a:solidFill>
            <a:prstDash val="solid"/>
          </a:ln>
        </p:spPr>
      </p:sp>
      <p:sp>
        <p:nvSpPr>
          <p:cNvPr id="11" name="Text 9"/>
          <p:cNvSpPr txBox="1"/>
          <p:nvPr/>
        </p:nvSpPr>
        <p:spPr>
          <a:xfrm>
            <a:off x="822960" y="3300984"/>
            <a:ext cx="365760" cy="530352"/>
          </a:xfrm>
          <a:prstGeom prst="rect">
            <a:avLst/>
          </a:prstGeom>
          <a:noFill/>
          <a:ln/>
        </p:spPr>
        <p:txBody>
          <a:bodyPr wrap="square" lIns="0" tIns="0" rIns="0" bIns="0" rtlCol="0" anchor="ctr"/>
          <a:lstStyle/>
          <a:p>
            <a:pPr algn="ctr" indent="0" marL="0">
              <a:buNone/>
            </a:pPr>
            <a:r>
              <a:rPr lang="en-US" sz="1300" b="1" dirty="0">
                <a:solidFill>
                  <a:srgbClr val="0D5C63"/>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280160" y="3300984"/>
            <a:ext cx="5943600" cy="530352"/>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What is the body posture?</a:t>
            </a:r>
            <a:endParaRPr lang="en-US" sz="1500" dirty="0"/>
          </a:p>
        </p:txBody>
      </p:sp>
      <p:sp>
        <p:nvSpPr>
          <p:cNvPr id="13" name="Shape 11"/>
          <p:cNvSpPr/>
          <p:nvPr/>
        </p:nvSpPr>
        <p:spPr>
          <a:xfrm>
            <a:off x="640080" y="4014216"/>
            <a:ext cx="6766560" cy="530352"/>
          </a:xfrm>
          <a:prstGeom prst="roundRect">
            <a:avLst>
              <a:gd name="adj" fmla="val 8621"/>
            </a:avLst>
          </a:prstGeom>
          <a:solidFill>
            <a:srgbClr val="FFFFFF"/>
          </a:solidFill>
          <a:ln w="12700">
            <a:solidFill>
              <a:srgbClr val="DDD8CF"/>
            </a:solidFill>
            <a:prstDash val="solid"/>
          </a:ln>
        </p:spPr>
      </p:sp>
      <p:sp>
        <p:nvSpPr>
          <p:cNvPr id="14" name="Text 12"/>
          <p:cNvSpPr txBox="1"/>
          <p:nvPr/>
        </p:nvSpPr>
        <p:spPr>
          <a:xfrm>
            <a:off x="822960" y="4014216"/>
            <a:ext cx="365760" cy="530352"/>
          </a:xfrm>
          <a:prstGeom prst="rect">
            <a:avLst/>
          </a:prstGeom>
          <a:noFill/>
          <a:ln/>
        </p:spPr>
        <p:txBody>
          <a:bodyPr wrap="square" lIns="0" tIns="0" rIns="0" bIns="0" rtlCol="0" anchor="ctr"/>
          <a:lstStyle/>
          <a:p>
            <a:pPr algn="ctr" indent="0" marL="0">
              <a:buNone/>
            </a:pPr>
            <a:r>
              <a:rPr lang="en-US" sz="1300" b="1" dirty="0">
                <a:solidFill>
                  <a:srgbClr val="0D5C63"/>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280160" y="4014216"/>
            <a:ext cx="5943600" cy="530352"/>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How many people are there?</a:t>
            </a:r>
            <a:endParaRPr lang="en-US" sz="1500" dirty="0"/>
          </a:p>
        </p:txBody>
      </p:sp>
      <p:sp>
        <p:nvSpPr>
          <p:cNvPr id="16" name="Shape 14"/>
          <p:cNvSpPr/>
          <p:nvPr/>
        </p:nvSpPr>
        <p:spPr>
          <a:xfrm>
            <a:off x="640080" y="4727448"/>
            <a:ext cx="6766560" cy="530352"/>
          </a:xfrm>
          <a:prstGeom prst="roundRect">
            <a:avLst>
              <a:gd name="adj" fmla="val 8621"/>
            </a:avLst>
          </a:prstGeom>
          <a:solidFill>
            <a:srgbClr val="FFFFFF"/>
          </a:solidFill>
          <a:ln w="12700">
            <a:solidFill>
              <a:srgbClr val="DDD8CF"/>
            </a:solidFill>
            <a:prstDash val="solid"/>
          </a:ln>
        </p:spPr>
      </p:sp>
      <p:sp>
        <p:nvSpPr>
          <p:cNvPr id="17" name="Text 15"/>
          <p:cNvSpPr txBox="1"/>
          <p:nvPr/>
        </p:nvSpPr>
        <p:spPr>
          <a:xfrm>
            <a:off x="822960" y="4727448"/>
            <a:ext cx="365760" cy="530352"/>
          </a:xfrm>
          <a:prstGeom prst="rect">
            <a:avLst/>
          </a:prstGeom>
          <a:noFill/>
          <a:ln/>
        </p:spPr>
        <p:txBody>
          <a:bodyPr wrap="square" lIns="0" tIns="0" rIns="0" bIns="0" rtlCol="0" anchor="ctr"/>
          <a:lstStyle/>
          <a:p>
            <a:pPr algn="ctr" indent="0" marL="0">
              <a:buNone/>
            </a:pPr>
            <a:r>
              <a:rPr lang="en-US" sz="1300" b="1" dirty="0">
                <a:solidFill>
                  <a:srgbClr val="0D5C63"/>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280160" y="4727448"/>
            <a:ext cx="5943600" cy="530352"/>
          </a:xfrm>
          <a:prstGeom prst="rect">
            <a:avLst/>
          </a:prstGeom>
          <a:noFill/>
          <a:ln/>
        </p:spPr>
        <p:txBody>
          <a:bodyPr wrap="square" lIns="0" tIns="0" rIns="0" bIns="0" rtlCol="0" anchor="ctr"/>
          <a:lstStyle/>
          <a:p>
            <a:pPr indent="0" marL="0">
              <a:buNone/>
            </a:pPr>
            <a:r>
              <a:rPr lang="en-US" sz="1500" dirty="0">
                <a:solidFill>
                  <a:srgbClr val="14161A"/>
                </a:solidFill>
                <a:latin typeface="Calibri" pitchFamily="34" charset="0"/>
                <a:ea typeface="Calibri" pitchFamily="34" charset="-122"/>
                <a:cs typeface="Calibri" pitchFamily="34" charset="-120"/>
              </a:rPr>
              <a:t>What is in the picture?</a:t>
            </a:r>
            <a:endParaRPr lang="en-US" sz="1500" dirty="0"/>
          </a:p>
        </p:txBody>
      </p:sp>
      <p:sp>
        <p:nvSpPr>
          <p:cNvPr id="19" name="Shape 17"/>
          <p:cNvSpPr/>
          <p:nvPr/>
        </p:nvSpPr>
        <p:spPr>
          <a:xfrm>
            <a:off x="7772400" y="1874520"/>
            <a:ext cx="3776472" cy="3246120"/>
          </a:xfrm>
          <a:prstGeom prst="roundRect">
            <a:avLst>
              <a:gd name="adj" fmla="val 1690"/>
            </a:avLst>
          </a:prstGeom>
          <a:solidFill>
            <a:srgbClr val="E8F0EF"/>
          </a:solidFill>
          <a:ln w="15240">
            <a:solidFill>
              <a:srgbClr val="0D5C63"/>
            </a:solidFill>
            <a:prstDash val="solid"/>
          </a:ln>
        </p:spPr>
      </p:sp>
      <p:sp>
        <p:nvSpPr>
          <p:cNvPr id="20" name="Text 18"/>
          <p:cNvSpPr txBox="1"/>
          <p:nvPr/>
        </p:nvSpPr>
        <p:spPr>
          <a:xfrm>
            <a:off x="8046720" y="2057400"/>
            <a:ext cx="3291840" cy="365760"/>
          </a:xfrm>
          <a:prstGeom prst="rect">
            <a:avLst/>
          </a:prstGeom>
          <a:noFill/>
          <a:ln/>
        </p:spPr>
        <p:txBody>
          <a:bodyPr wrap="square" lIns="0" tIns="0" rIns="0" bIns="0" rtlCol="0" anchor="ctr"/>
          <a:lstStyle/>
          <a:p>
            <a:pPr indent="0" marL="0">
              <a:buNone/>
            </a:pPr>
            <a:r>
              <a:rPr lang="en-US" sz="1300" b="1" dirty="0">
                <a:solidFill>
                  <a:srgbClr val="0D5C63"/>
                </a:solidFill>
                <a:latin typeface="Calibri" pitchFamily="34" charset="0"/>
                <a:ea typeface="Calibri" pitchFamily="34" charset="-122"/>
                <a:cs typeface="Calibri" pitchFamily="34" charset="-120"/>
              </a:rPr>
              <a:t>Then, one neutral sentence</a:t>
            </a:r>
            <a:endParaRPr lang="en-US" sz="1300" dirty="0"/>
          </a:p>
        </p:txBody>
      </p:sp>
      <p:sp>
        <p:nvSpPr>
          <p:cNvPr id="21" name="Text 19"/>
          <p:cNvSpPr txBox="1"/>
          <p:nvPr/>
        </p:nvSpPr>
        <p:spPr>
          <a:xfrm>
            <a:off x="8046720" y="2450592"/>
            <a:ext cx="3291840" cy="1508760"/>
          </a:xfrm>
          <a:prstGeom prst="rect">
            <a:avLst/>
          </a:prstGeom>
          <a:noFill/>
          <a:ln/>
        </p:spPr>
        <p:txBody>
          <a:bodyPr wrap="square" lIns="0" tIns="0" rIns="0" bIns="0" rtlCol="0" anchor="ctr"/>
          <a:lstStyle/>
          <a:p>
            <a:pPr indent="0" marL="0">
              <a:buNone/>
            </a:pPr>
            <a:r>
              <a:rPr lang="en-US" sz="1500" i="1" dirty="0">
                <a:solidFill>
                  <a:srgbClr val="14161A"/>
                </a:solidFill>
                <a:latin typeface="Cambria" pitchFamily="34" charset="0"/>
                <a:ea typeface="Cambria" pitchFamily="34" charset="-122"/>
                <a:cs typeface="Cambria" pitchFamily="34" charset="-120"/>
              </a:rPr>
              <a:t>“A drawing of one person showing a park. The person is sitting, hunched. The facial expression is sad.”</a:t>
            </a:r>
            <a:endParaRPr lang="en-US" sz="1500" dirty="0"/>
          </a:p>
        </p:txBody>
      </p:sp>
      <p:sp>
        <p:nvSpPr>
          <p:cNvPr id="22" name="Text 20"/>
          <p:cNvSpPr txBox="1"/>
          <p:nvPr/>
        </p:nvSpPr>
        <p:spPr>
          <a:xfrm>
            <a:off x="8046720" y="4005072"/>
            <a:ext cx="3291840" cy="96012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A second model reads a feeling out of that sentence — never out of the picture.</a:t>
            </a:r>
            <a:endParaRPr lang="en-US" sz="1200" dirty="0"/>
          </a:p>
        </p:txBody>
      </p:sp>
      <p:sp>
        <p:nvSpPr>
          <p:cNvPr id="23" name="Text 21"/>
          <p:cNvSpPr txBox="1"/>
          <p:nvPr/>
        </p:nvSpPr>
        <p:spPr>
          <a:xfrm>
            <a:off x="640080" y="6053328"/>
            <a:ext cx="10908792" cy="365760"/>
          </a:xfrm>
          <a:prstGeom prst="rect">
            <a:avLst/>
          </a:prstGeom>
          <a:noFill/>
          <a:ln/>
        </p:spPr>
        <p:txBody>
          <a:bodyPr wrap="square" lIns="0" tIns="0" rIns="0" bIns="0" rtlCol="0" anchor="ctr"/>
          <a:lstStyle/>
          <a:p>
            <a:pPr indent="0" marL="0">
              <a:buNone/>
            </a:pPr>
            <a:r>
              <a:rPr lang="en-US" sz="1100" i="1" dirty="0">
                <a:solidFill>
                  <a:srgbClr val="6E747B"/>
                </a:solidFill>
                <a:latin typeface="Calibri" pitchFamily="34" charset="0"/>
                <a:ea typeface="Calibri" pitchFamily="34" charset="-122"/>
                <a:cs typeface="Calibri" pitchFamily="34" charset="-120"/>
              </a:rPr>
              <a:t>Honest caveat: the expression answer is often already a feeling word, so the two stages are not fully independent. This is reported.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METHOD DEVELOPMENT</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Four things that failed first</a:t>
            </a:r>
            <a:endParaRPr lang="en-US" sz="3400" dirty="0"/>
          </a:p>
        </p:txBody>
      </p:sp>
      <p:sp>
        <p:nvSpPr>
          <p:cNvPr id="4" name="Shape 2"/>
          <p:cNvSpPr/>
          <p:nvPr/>
        </p:nvSpPr>
        <p:spPr>
          <a:xfrm>
            <a:off x="640080" y="1874520"/>
            <a:ext cx="10908792" cy="731520"/>
          </a:xfrm>
          <a:prstGeom prst="roundRect">
            <a:avLst>
              <a:gd name="adj" fmla="val 6250"/>
            </a:avLst>
          </a:prstGeom>
          <a:solidFill>
            <a:srgbClr val="FFFFFF"/>
          </a:solidFill>
          <a:ln w="12700">
            <a:solidFill>
              <a:srgbClr val="DDD8CF"/>
            </a:solidFill>
            <a:prstDash val="solid"/>
          </a:ln>
        </p:spPr>
      </p:sp>
      <p:sp>
        <p:nvSpPr>
          <p:cNvPr id="5" name="Text 3"/>
          <p:cNvSpPr txBox="1"/>
          <p:nvPr/>
        </p:nvSpPr>
        <p:spPr>
          <a:xfrm>
            <a:off x="868680" y="1874520"/>
            <a:ext cx="411480" cy="731520"/>
          </a:xfrm>
          <a:prstGeom prst="rect">
            <a:avLst/>
          </a:prstGeom>
          <a:noFill/>
          <a:ln/>
        </p:spPr>
        <p:txBody>
          <a:bodyPr wrap="square" lIns="0" tIns="0" rIns="0" bIns="0" rtlCol="0" anchor="ctr"/>
          <a:lstStyle/>
          <a:p>
            <a:pPr algn="ctr" indent="0" marL="0">
              <a:buNone/>
            </a:pPr>
            <a:r>
              <a:rPr lang="en-US" sz="1700" b="1" dirty="0">
                <a:solidFill>
                  <a:srgbClr val="C93A3A"/>
                </a:solidFill>
                <a:latin typeface="Calibri" pitchFamily="34" charset="0"/>
                <a:ea typeface="Calibri" pitchFamily="34" charset="-122"/>
                <a:cs typeface="Calibri" pitchFamily="34" charset="-120"/>
              </a:rPr>
              <a:t>✕</a:t>
            </a:r>
            <a:endParaRPr lang="en-US" sz="1700" dirty="0"/>
          </a:p>
        </p:txBody>
      </p:sp>
      <p:sp>
        <p:nvSpPr>
          <p:cNvPr id="6" name="Text 4"/>
          <p:cNvSpPr txBox="1"/>
          <p:nvPr/>
        </p:nvSpPr>
        <p:spPr>
          <a:xfrm>
            <a:off x="1417320" y="1874520"/>
            <a:ext cx="3200400" cy="731520"/>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GoEmotions on the descriptions</a:t>
            </a:r>
            <a:endParaRPr lang="en-US" sz="1400" dirty="0"/>
          </a:p>
        </p:txBody>
      </p:sp>
      <p:sp>
        <p:nvSpPr>
          <p:cNvPr id="7" name="Text 5"/>
          <p:cNvSpPr txBox="1"/>
          <p:nvPr/>
        </p:nvSpPr>
        <p:spPr>
          <a:xfrm>
            <a:off x="4754880" y="1874520"/>
            <a:ext cx="6583680" cy="731520"/>
          </a:xfrm>
          <a:prstGeom prst="rect">
            <a:avLst/>
          </a:prstGeom>
          <a:noFill/>
          <a:ln/>
        </p:spPr>
        <p:txBody>
          <a:bodyPr wrap="square" lIns="0" tIns="0" rIns="0" bIns="0" rtlCol="0" anchor="ctr"/>
          <a:lstStyle/>
          <a:p>
            <a:pPr indent="0" marL="0">
              <a:buNone/>
            </a:pPr>
            <a:r>
              <a:rPr lang="en-US" sz="1300" dirty="0">
                <a:solidFill>
                  <a:srgbClr val="4F545B"/>
                </a:solidFill>
                <a:latin typeface="Calibri" pitchFamily="34" charset="0"/>
                <a:ea typeface="Calibri" pitchFamily="34" charset="-122"/>
                <a:cs typeface="Calibri" pitchFamily="34" charset="-120"/>
              </a:rPr>
              <a:t>Collapsed to “neutral” above 95%. It needs first-person feeling words; a visual description has none.</a:t>
            </a:r>
            <a:endParaRPr lang="en-US" sz="1300" dirty="0"/>
          </a:p>
        </p:txBody>
      </p:sp>
      <p:sp>
        <p:nvSpPr>
          <p:cNvPr id="8" name="Shape 6"/>
          <p:cNvSpPr/>
          <p:nvPr/>
        </p:nvSpPr>
        <p:spPr>
          <a:xfrm>
            <a:off x="640080" y="2779776"/>
            <a:ext cx="10908792" cy="731520"/>
          </a:xfrm>
          <a:prstGeom prst="roundRect">
            <a:avLst>
              <a:gd name="adj" fmla="val 6250"/>
            </a:avLst>
          </a:prstGeom>
          <a:solidFill>
            <a:srgbClr val="FFFFFF"/>
          </a:solidFill>
          <a:ln w="12700">
            <a:solidFill>
              <a:srgbClr val="DDD8CF"/>
            </a:solidFill>
            <a:prstDash val="solid"/>
          </a:ln>
        </p:spPr>
      </p:sp>
      <p:sp>
        <p:nvSpPr>
          <p:cNvPr id="9" name="Text 7"/>
          <p:cNvSpPr txBox="1"/>
          <p:nvPr/>
        </p:nvSpPr>
        <p:spPr>
          <a:xfrm>
            <a:off x="868680" y="2779776"/>
            <a:ext cx="411480" cy="731520"/>
          </a:xfrm>
          <a:prstGeom prst="rect">
            <a:avLst/>
          </a:prstGeom>
          <a:noFill/>
          <a:ln/>
        </p:spPr>
        <p:txBody>
          <a:bodyPr wrap="square" lIns="0" tIns="0" rIns="0" bIns="0" rtlCol="0" anchor="ctr"/>
          <a:lstStyle/>
          <a:p>
            <a:pPr algn="ctr" indent="0" marL="0">
              <a:buNone/>
            </a:pPr>
            <a:r>
              <a:rPr lang="en-US" sz="1700" b="1" dirty="0">
                <a:solidFill>
                  <a:srgbClr val="C93A3A"/>
                </a:solidFill>
                <a:latin typeface="Calibri" pitchFamily="34" charset="0"/>
                <a:ea typeface="Calibri" pitchFamily="34" charset="-122"/>
                <a:cs typeface="Calibri" pitchFamily="34" charset="-120"/>
              </a:rPr>
              <a:t>✕</a:t>
            </a:r>
            <a:endParaRPr lang="en-US" sz="1700" dirty="0"/>
          </a:p>
        </p:txBody>
      </p:sp>
      <p:sp>
        <p:nvSpPr>
          <p:cNvPr id="10" name="Text 8"/>
          <p:cNvSpPr txBox="1"/>
          <p:nvPr/>
        </p:nvSpPr>
        <p:spPr>
          <a:xfrm>
            <a:off x="1417320" y="2779776"/>
            <a:ext cx="3200400" cy="731520"/>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A single image caption</a:t>
            </a:r>
            <a:endParaRPr lang="en-US" sz="1400" dirty="0"/>
          </a:p>
        </p:txBody>
      </p:sp>
      <p:sp>
        <p:nvSpPr>
          <p:cNvPr id="11" name="Text 9"/>
          <p:cNvSpPr txBox="1"/>
          <p:nvPr/>
        </p:nvSpPr>
        <p:spPr>
          <a:xfrm>
            <a:off x="4754880" y="2779776"/>
            <a:ext cx="6583680" cy="731520"/>
          </a:xfrm>
          <a:prstGeom prst="rect">
            <a:avLst/>
          </a:prstGeom>
          <a:noFill/>
          <a:ln/>
        </p:spPr>
        <p:txBody>
          <a:bodyPr wrap="square" lIns="0" tIns="0" rIns="0" bIns="0" rtlCol="0" anchor="ctr"/>
          <a:lstStyle/>
          <a:p>
            <a:pPr indent="0" marL="0">
              <a:buNone/>
            </a:pPr>
            <a:r>
              <a:rPr lang="en-US" sz="1300" dirty="0">
                <a:solidFill>
                  <a:srgbClr val="4F545B"/>
                </a:solidFill>
                <a:latin typeface="Calibri" pitchFamily="34" charset="0"/>
                <a:ea typeface="Calibri" pitchFamily="34" charset="-122"/>
                <a:cs typeface="Calibri" pitchFamily="34" charset="-120"/>
              </a:rPr>
              <a:t>Too terse — “a man with hands in the air”. The reader collapsed to “surprise” for almost everything.</a:t>
            </a:r>
            <a:endParaRPr lang="en-US" sz="1300" dirty="0"/>
          </a:p>
        </p:txBody>
      </p:sp>
      <p:sp>
        <p:nvSpPr>
          <p:cNvPr id="12" name="Shape 10"/>
          <p:cNvSpPr/>
          <p:nvPr/>
        </p:nvSpPr>
        <p:spPr>
          <a:xfrm>
            <a:off x="640080" y="3685032"/>
            <a:ext cx="10908792" cy="731520"/>
          </a:xfrm>
          <a:prstGeom prst="roundRect">
            <a:avLst>
              <a:gd name="adj" fmla="val 6250"/>
            </a:avLst>
          </a:prstGeom>
          <a:solidFill>
            <a:srgbClr val="FFFFFF"/>
          </a:solidFill>
          <a:ln w="12700">
            <a:solidFill>
              <a:srgbClr val="DDD8CF"/>
            </a:solidFill>
            <a:prstDash val="solid"/>
          </a:ln>
        </p:spPr>
      </p:sp>
      <p:sp>
        <p:nvSpPr>
          <p:cNvPr id="13" name="Text 11"/>
          <p:cNvSpPr txBox="1"/>
          <p:nvPr/>
        </p:nvSpPr>
        <p:spPr>
          <a:xfrm>
            <a:off x="868680" y="3685032"/>
            <a:ext cx="411480" cy="731520"/>
          </a:xfrm>
          <a:prstGeom prst="rect">
            <a:avLst/>
          </a:prstGeom>
          <a:noFill/>
          <a:ln/>
        </p:spPr>
        <p:txBody>
          <a:bodyPr wrap="square" lIns="0" tIns="0" rIns="0" bIns="0" rtlCol="0" anchor="ctr"/>
          <a:lstStyle/>
          <a:p>
            <a:pPr algn="ctr" indent="0" marL="0">
              <a:buNone/>
            </a:pPr>
            <a:r>
              <a:rPr lang="en-US" sz="1700" b="1" dirty="0">
                <a:solidFill>
                  <a:srgbClr val="C93A3A"/>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1417320" y="3685032"/>
            <a:ext cx="3200400" cy="731520"/>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Qwen2.5-VL, 3B parameters</a:t>
            </a:r>
            <a:endParaRPr lang="en-US" sz="1400" dirty="0"/>
          </a:p>
        </p:txBody>
      </p:sp>
      <p:sp>
        <p:nvSpPr>
          <p:cNvPr id="15" name="Text 13"/>
          <p:cNvSpPr txBox="1"/>
          <p:nvPr/>
        </p:nvSpPr>
        <p:spPr>
          <a:xfrm>
            <a:off x="4754880" y="3685032"/>
            <a:ext cx="6583680" cy="731520"/>
          </a:xfrm>
          <a:prstGeom prst="rect">
            <a:avLst/>
          </a:prstGeom>
          <a:noFill/>
          <a:ln/>
        </p:spPr>
        <p:txBody>
          <a:bodyPr wrap="square" lIns="0" tIns="0" rIns="0" bIns="0" rtlCol="0" anchor="ctr"/>
          <a:lstStyle/>
          <a:p>
            <a:pPr indent="0" marL="0">
              <a:buNone/>
            </a:pPr>
            <a:r>
              <a:rPr lang="en-US" sz="1300" dirty="0">
                <a:solidFill>
                  <a:srgbClr val="4F545B"/>
                </a:solidFill>
                <a:latin typeface="Calibri" pitchFamily="34" charset="0"/>
                <a:ea typeface="Calibri" pitchFamily="34" charset="-122"/>
                <a:cs typeface="Calibri" pitchFamily="34" charset="-120"/>
              </a:rPr>
              <a:t>Exceeded a 16 GB laptop. Thrashed into swap: 4 hours 45 minutes, zero progress.</a:t>
            </a:r>
            <a:endParaRPr lang="en-US" sz="1300" dirty="0"/>
          </a:p>
        </p:txBody>
      </p:sp>
      <p:sp>
        <p:nvSpPr>
          <p:cNvPr id="16" name="Shape 14"/>
          <p:cNvSpPr/>
          <p:nvPr/>
        </p:nvSpPr>
        <p:spPr>
          <a:xfrm>
            <a:off x="640080" y="4590288"/>
            <a:ext cx="10908792" cy="731520"/>
          </a:xfrm>
          <a:prstGeom prst="roundRect">
            <a:avLst>
              <a:gd name="adj" fmla="val 6250"/>
            </a:avLst>
          </a:prstGeom>
          <a:solidFill>
            <a:srgbClr val="FFFFFF"/>
          </a:solidFill>
          <a:ln w="12700">
            <a:solidFill>
              <a:srgbClr val="DDD8CF"/>
            </a:solidFill>
            <a:prstDash val="solid"/>
          </a:ln>
        </p:spPr>
      </p:sp>
      <p:sp>
        <p:nvSpPr>
          <p:cNvPr id="17" name="Text 15"/>
          <p:cNvSpPr txBox="1"/>
          <p:nvPr/>
        </p:nvSpPr>
        <p:spPr>
          <a:xfrm>
            <a:off x="868680" y="4590288"/>
            <a:ext cx="411480" cy="731520"/>
          </a:xfrm>
          <a:prstGeom prst="rect">
            <a:avLst/>
          </a:prstGeom>
          <a:noFill/>
          <a:ln/>
        </p:spPr>
        <p:txBody>
          <a:bodyPr wrap="square" lIns="0" tIns="0" rIns="0" bIns="0" rtlCol="0" anchor="ctr"/>
          <a:lstStyle/>
          <a:p>
            <a:pPr algn="ctr" indent="0" marL="0">
              <a:buNone/>
            </a:pPr>
            <a:r>
              <a:rPr lang="en-US" sz="1700" b="1" dirty="0">
                <a:solidFill>
                  <a:srgbClr val="C93A3A"/>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1417320" y="4590288"/>
            <a:ext cx="3200400" cy="731520"/>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Asking CLIP for the emotion</a:t>
            </a:r>
            <a:endParaRPr lang="en-US" sz="1400" dirty="0"/>
          </a:p>
        </p:txBody>
      </p:sp>
      <p:sp>
        <p:nvSpPr>
          <p:cNvPr id="19" name="Text 17"/>
          <p:cNvSpPr txBox="1"/>
          <p:nvPr/>
        </p:nvSpPr>
        <p:spPr>
          <a:xfrm>
            <a:off x="4754880" y="4590288"/>
            <a:ext cx="6583680" cy="731520"/>
          </a:xfrm>
          <a:prstGeom prst="rect">
            <a:avLst/>
          </a:prstGeom>
          <a:noFill/>
          <a:ln/>
        </p:spPr>
        <p:txBody>
          <a:bodyPr wrap="square" lIns="0" tIns="0" rIns="0" bIns="0" rtlCol="0" anchor="ctr"/>
          <a:lstStyle/>
          <a:p>
            <a:pPr indent="0" marL="0">
              <a:buNone/>
            </a:pPr>
            <a:r>
              <a:rPr lang="en-US" sz="1300" dirty="0">
                <a:solidFill>
                  <a:srgbClr val="4F545B"/>
                </a:solidFill>
                <a:latin typeface="Calibri" pitchFamily="34" charset="0"/>
                <a:ea typeface="Calibri" pitchFamily="34" charset="-122"/>
                <a:cs typeface="Calibri" pitchFamily="34" charset="-120"/>
              </a:rPr>
              <a:t>Beaten head-to-head — and inspection found arms-raised celebration read as anger, 0.73.</a:t>
            </a:r>
            <a:endParaRPr lang="en-US" sz="1300" dirty="0"/>
          </a:p>
        </p:txBody>
      </p:sp>
      <p:sp>
        <p:nvSpPr>
          <p:cNvPr id="20" name="Shape 18"/>
          <p:cNvSpPr/>
          <p:nvPr/>
        </p:nvSpPr>
        <p:spPr>
          <a:xfrm>
            <a:off x="640080" y="5486400"/>
            <a:ext cx="10908792" cy="731520"/>
          </a:xfrm>
          <a:prstGeom prst="roundRect">
            <a:avLst>
              <a:gd name="adj" fmla="val 6250"/>
            </a:avLst>
          </a:prstGeom>
          <a:solidFill>
            <a:srgbClr val="E8F0EF"/>
          </a:solidFill>
          <a:ln w="17780">
            <a:solidFill>
              <a:srgbClr val="0D5C63"/>
            </a:solidFill>
            <a:prstDash val="solid"/>
          </a:ln>
        </p:spPr>
      </p:sp>
      <p:sp>
        <p:nvSpPr>
          <p:cNvPr id="21" name="Text 19"/>
          <p:cNvSpPr txBox="1"/>
          <p:nvPr/>
        </p:nvSpPr>
        <p:spPr>
          <a:xfrm>
            <a:off x="868680" y="5486400"/>
            <a:ext cx="411480" cy="731520"/>
          </a:xfrm>
          <a:prstGeom prst="rect">
            <a:avLst/>
          </a:prstGeom>
          <a:noFill/>
          <a:ln/>
        </p:spPr>
        <p:txBody>
          <a:bodyPr wrap="square" lIns="0" tIns="0" rIns="0" bIns="0" rtlCol="0" anchor="ctr"/>
          <a:lstStyle/>
          <a:p>
            <a:pPr algn="ctr" indent="0" marL="0">
              <a:buNone/>
            </a:pPr>
            <a:r>
              <a:rPr lang="en-US" sz="1700" b="1" dirty="0">
                <a:solidFill>
                  <a:srgbClr val="0D5C63"/>
                </a:solidFill>
                <a:latin typeface="Calibri" pitchFamily="34" charset="0"/>
                <a:ea typeface="Calibri" pitchFamily="34" charset="-122"/>
                <a:cs typeface="Calibri" pitchFamily="34" charset="-120"/>
              </a:rPr>
              <a:t>✓</a:t>
            </a:r>
            <a:endParaRPr lang="en-US" sz="1700" dirty="0"/>
          </a:p>
        </p:txBody>
      </p:sp>
      <p:sp>
        <p:nvSpPr>
          <p:cNvPr id="22" name="Text 20"/>
          <p:cNvSpPr txBox="1"/>
          <p:nvPr/>
        </p:nvSpPr>
        <p:spPr>
          <a:xfrm>
            <a:off x="1417320" y="5486400"/>
            <a:ext cx="3200400" cy="731520"/>
          </a:xfrm>
          <a:prstGeom prst="rect">
            <a:avLst/>
          </a:prstGeom>
          <a:noFill/>
          <a:ln/>
        </p:spPr>
        <p:txBody>
          <a:bodyPr wrap="square" lIns="0" tIns="0" rIns="0" bIns="0" rtlCol="0" anchor="ctr"/>
          <a:lstStyle/>
          <a:p>
            <a:pPr indent="0" marL="0">
              <a:buNone/>
            </a:pPr>
            <a:r>
              <a:rPr lang="en-US" sz="1400" b="1" dirty="0">
                <a:solidFill>
                  <a:srgbClr val="0D5C63"/>
                </a:solidFill>
                <a:latin typeface="Calibri" pitchFamily="34" charset="0"/>
                <a:ea typeface="Calibri" pitchFamily="34" charset="-122"/>
                <a:cs typeface="Calibri" pitchFamily="34" charset="-120"/>
              </a:rPr>
              <a:t>BLIP-VQA</a:t>
            </a:r>
            <a:endParaRPr lang="en-US" sz="1400" dirty="0"/>
          </a:p>
        </p:txBody>
      </p:sp>
      <p:sp>
        <p:nvSpPr>
          <p:cNvPr id="23" name="Text 21"/>
          <p:cNvSpPr txBox="1"/>
          <p:nvPr/>
        </p:nvSpPr>
        <p:spPr>
          <a:xfrm>
            <a:off x="4754880" y="5486400"/>
            <a:ext cx="6583680" cy="731520"/>
          </a:xfrm>
          <a:prstGeom prst="rect">
            <a:avLst/>
          </a:prstGeom>
          <a:noFill/>
          <a:ln/>
        </p:spPr>
        <p:txBody>
          <a:bodyPr wrap="square" lIns="0" tIns="0" rIns="0" bIns="0" rtlCol="0" anchor="ctr"/>
          <a:lstStyle/>
          <a:p>
            <a:pPr indent="0" marL="0">
              <a:buNone/>
            </a:pPr>
            <a:r>
              <a:rPr lang="en-US" sz="1300" dirty="0">
                <a:solidFill>
                  <a:srgbClr val="0D5C63"/>
                </a:solidFill>
                <a:latin typeface="Calibri" pitchFamily="34" charset="0"/>
                <a:ea typeface="Calibri" pitchFamily="34" charset="-122"/>
                <a:cs typeface="Calibri" pitchFamily="34" charset="-120"/>
              </a:rPr>
              <a:t>0.4B parameters, ~1.5 s per drawing — and its “facial expression” answer is exactly the cue the next stage needs.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RIGOUR</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Every number is measured against luck</a:t>
            </a:r>
            <a:endParaRPr lang="en-US" sz="3400" dirty="0"/>
          </a:p>
        </p:txBody>
      </p:sp>
      <p:sp>
        <p:nvSpPr>
          <p:cNvPr id="4" name="Text 2"/>
          <p:cNvSpPr txBox="1"/>
          <p:nvPr/>
        </p:nvSpPr>
        <p:spPr>
          <a:xfrm>
            <a:off x="640080" y="1737360"/>
            <a:ext cx="10881360" cy="640080"/>
          </a:xfrm>
          <a:prstGeom prst="rect">
            <a:avLst/>
          </a:prstGeom>
          <a:noFill/>
          <a:ln/>
        </p:spPr>
        <p:txBody>
          <a:bodyPr wrap="square" lIns="0" tIns="0" rIns="0" bIns="0" rtlCol="0" anchor="t"/>
          <a:lstStyle/>
          <a:p>
            <a:pPr indent="0" marL="0">
              <a:buNone/>
            </a:pPr>
            <a:r>
              <a:rPr lang="en-US" sz="1600" dirty="0">
                <a:solidFill>
                  <a:srgbClr val="4F545B"/>
                </a:solidFill>
                <a:latin typeface="Calibri" pitchFamily="34" charset="0"/>
                <a:ea typeface="Calibri" pitchFamily="34" charset="-122"/>
                <a:cs typeface="Calibri" pitchFamily="34" charset="-120"/>
              </a:rPr>
              <a:t>Within each subset, the drawings are shuffled and re-paired against the untouched prompts, and all four measures are recomputed. Repeated 300 times, with a fixed seed.</a:t>
            </a:r>
            <a:endParaRPr lang="en-US" sz="1600" dirty="0"/>
          </a:p>
        </p:txBody>
      </p:sp>
      <p:sp>
        <p:nvSpPr>
          <p:cNvPr id="5" name="Shape 3"/>
          <p:cNvSpPr/>
          <p:nvPr/>
        </p:nvSpPr>
        <p:spPr>
          <a:xfrm>
            <a:off x="640080" y="2514600"/>
            <a:ext cx="5257800" cy="2514600"/>
          </a:xfrm>
          <a:prstGeom prst="roundRect">
            <a:avLst>
              <a:gd name="adj" fmla="val 2182"/>
            </a:avLst>
          </a:prstGeom>
          <a:solidFill>
            <a:srgbClr val="FFFFFF"/>
          </a:solidFill>
          <a:ln w="15240">
            <a:solidFill>
              <a:srgbClr val="0D5C63"/>
            </a:solidFill>
            <a:prstDash val="solid"/>
          </a:ln>
        </p:spPr>
      </p:sp>
      <p:sp>
        <p:nvSpPr>
          <p:cNvPr id="6" name="Text 4"/>
          <p:cNvSpPr txBox="1"/>
          <p:nvPr/>
        </p:nvSpPr>
        <p:spPr>
          <a:xfrm>
            <a:off x="960120" y="2724912"/>
            <a:ext cx="4572000" cy="365760"/>
          </a:xfrm>
          <a:prstGeom prst="rect">
            <a:avLst/>
          </a:prstGeom>
          <a:noFill/>
          <a:ln/>
        </p:spPr>
        <p:txBody>
          <a:bodyPr wrap="square" lIns="0" tIns="0" rIns="0" bIns="0" rtlCol="0" anchor="ctr"/>
          <a:lstStyle/>
          <a:p>
            <a:pPr indent="0" marL="0">
              <a:buNone/>
            </a:pPr>
            <a:r>
              <a:rPr lang="en-US" sz="1400" b="1" dirty="0">
                <a:solidFill>
                  <a:srgbClr val="0D5C63"/>
                </a:solidFill>
                <a:latin typeface="Calibri" pitchFamily="34" charset="0"/>
                <a:ea typeface="Calibri" pitchFamily="34" charset="-122"/>
                <a:cs typeface="Calibri" pitchFamily="34" charset="-120"/>
              </a:rPr>
              <a:t>Real pairing</a:t>
            </a:r>
            <a:endParaRPr lang="en-US" sz="1400" dirty="0"/>
          </a:p>
        </p:txBody>
      </p:sp>
      <p:sp>
        <p:nvSpPr>
          <p:cNvPr id="7" name="Shape 5"/>
          <p:cNvSpPr/>
          <p:nvPr/>
        </p:nvSpPr>
        <p:spPr>
          <a:xfrm>
            <a:off x="1325880" y="3401568"/>
            <a:ext cx="4023360" cy="0"/>
          </a:xfrm>
          <a:prstGeom prst="line">
            <a:avLst/>
          </a:prstGeom>
          <a:noFill/>
          <a:ln w="31750">
            <a:solidFill>
              <a:srgbClr val="0D5C63"/>
            </a:solidFill>
            <a:prstDash val="solid"/>
          </a:ln>
        </p:spPr>
      </p:sp>
      <p:sp>
        <p:nvSpPr>
          <p:cNvPr id="8" name="Shape 6"/>
          <p:cNvSpPr/>
          <p:nvPr/>
        </p:nvSpPr>
        <p:spPr>
          <a:xfrm>
            <a:off x="1234440" y="3310128"/>
            <a:ext cx="182880" cy="182880"/>
          </a:xfrm>
          <a:prstGeom prst="ellipse">
            <a:avLst/>
          </a:prstGeom>
          <a:solidFill>
            <a:srgbClr val="0D5C63"/>
          </a:solidFill>
          <a:ln/>
        </p:spPr>
      </p:sp>
      <p:sp>
        <p:nvSpPr>
          <p:cNvPr id="9" name="Shape 7"/>
          <p:cNvSpPr/>
          <p:nvPr/>
        </p:nvSpPr>
        <p:spPr>
          <a:xfrm>
            <a:off x="5257800" y="3310128"/>
            <a:ext cx="182880" cy="182880"/>
          </a:xfrm>
          <a:prstGeom prst="ellipse">
            <a:avLst/>
          </a:prstGeom>
          <a:solidFill>
            <a:srgbClr val="FFFFFF"/>
          </a:solidFill>
          <a:ln w="31750">
            <a:solidFill>
              <a:srgbClr val="0D5C63"/>
            </a:solidFill>
            <a:prstDash val="solid"/>
          </a:ln>
        </p:spPr>
      </p:sp>
      <p:sp>
        <p:nvSpPr>
          <p:cNvPr id="10" name="Shape 8"/>
          <p:cNvSpPr/>
          <p:nvPr/>
        </p:nvSpPr>
        <p:spPr>
          <a:xfrm>
            <a:off x="1325880" y="3877056"/>
            <a:ext cx="4023360" cy="0"/>
          </a:xfrm>
          <a:prstGeom prst="line">
            <a:avLst/>
          </a:prstGeom>
          <a:noFill/>
          <a:ln w="31750">
            <a:solidFill>
              <a:srgbClr val="0D5C63"/>
            </a:solidFill>
            <a:prstDash val="solid"/>
          </a:ln>
        </p:spPr>
      </p:sp>
      <p:sp>
        <p:nvSpPr>
          <p:cNvPr id="11" name="Shape 9"/>
          <p:cNvSpPr/>
          <p:nvPr/>
        </p:nvSpPr>
        <p:spPr>
          <a:xfrm>
            <a:off x="1234440" y="3785616"/>
            <a:ext cx="182880" cy="182880"/>
          </a:xfrm>
          <a:prstGeom prst="ellipse">
            <a:avLst/>
          </a:prstGeom>
          <a:solidFill>
            <a:srgbClr val="0D5C63"/>
          </a:solidFill>
          <a:ln/>
        </p:spPr>
      </p:sp>
      <p:sp>
        <p:nvSpPr>
          <p:cNvPr id="12" name="Shape 10"/>
          <p:cNvSpPr/>
          <p:nvPr/>
        </p:nvSpPr>
        <p:spPr>
          <a:xfrm>
            <a:off x="5257800" y="3785616"/>
            <a:ext cx="182880" cy="182880"/>
          </a:xfrm>
          <a:prstGeom prst="ellipse">
            <a:avLst/>
          </a:prstGeom>
          <a:solidFill>
            <a:srgbClr val="FFFFFF"/>
          </a:solidFill>
          <a:ln w="31750">
            <a:solidFill>
              <a:srgbClr val="0D5C63"/>
            </a:solidFill>
            <a:prstDash val="solid"/>
          </a:ln>
        </p:spPr>
      </p:sp>
      <p:sp>
        <p:nvSpPr>
          <p:cNvPr id="13" name="Shape 11"/>
          <p:cNvSpPr/>
          <p:nvPr/>
        </p:nvSpPr>
        <p:spPr>
          <a:xfrm>
            <a:off x="1325880" y="4352544"/>
            <a:ext cx="4023360" cy="0"/>
          </a:xfrm>
          <a:prstGeom prst="line">
            <a:avLst/>
          </a:prstGeom>
          <a:noFill/>
          <a:ln w="31750">
            <a:solidFill>
              <a:srgbClr val="0D5C63"/>
            </a:solidFill>
            <a:prstDash val="solid"/>
          </a:ln>
        </p:spPr>
      </p:sp>
      <p:sp>
        <p:nvSpPr>
          <p:cNvPr id="14" name="Shape 12"/>
          <p:cNvSpPr/>
          <p:nvPr/>
        </p:nvSpPr>
        <p:spPr>
          <a:xfrm>
            <a:off x="1234440" y="4261104"/>
            <a:ext cx="182880" cy="182880"/>
          </a:xfrm>
          <a:prstGeom prst="ellipse">
            <a:avLst/>
          </a:prstGeom>
          <a:solidFill>
            <a:srgbClr val="0D5C63"/>
          </a:solidFill>
          <a:ln/>
        </p:spPr>
      </p:sp>
      <p:sp>
        <p:nvSpPr>
          <p:cNvPr id="15" name="Shape 13"/>
          <p:cNvSpPr/>
          <p:nvPr/>
        </p:nvSpPr>
        <p:spPr>
          <a:xfrm>
            <a:off x="5257800" y="4261104"/>
            <a:ext cx="182880" cy="182880"/>
          </a:xfrm>
          <a:prstGeom prst="ellipse">
            <a:avLst/>
          </a:prstGeom>
          <a:solidFill>
            <a:srgbClr val="FFFFFF"/>
          </a:solidFill>
          <a:ln w="31750">
            <a:solidFill>
              <a:srgbClr val="0D5C63"/>
            </a:solidFill>
            <a:prstDash val="solid"/>
          </a:ln>
        </p:spPr>
      </p:sp>
      <p:sp>
        <p:nvSpPr>
          <p:cNvPr id="16" name="Text 14"/>
          <p:cNvSpPr txBox="1"/>
          <p:nvPr/>
        </p:nvSpPr>
        <p:spPr>
          <a:xfrm>
            <a:off x="960120" y="4617720"/>
            <a:ext cx="4572000" cy="320040"/>
          </a:xfrm>
          <a:prstGeom prst="rect">
            <a:avLst/>
          </a:prstGeom>
          <a:noFill/>
          <a:ln/>
        </p:spPr>
        <p:txBody>
          <a:bodyPr wrap="square" lIns="0" tIns="0" rIns="0" bIns="0" rtlCol="0" anchor="ctr"/>
          <a:lstStyle/>
          <a:p>
            <a:pPr indent="0" marL="0">
              <a:buNone/>
            </a:pPr>
            <a:r>
              <a:rPr lang="en-US" sz="1200" i="1" dirty="0">
                <a:solidFill>
                  <a:srgbClr val="4F545B"/>
                </a:solidFill>
                <a:latin typeface="Calibri" pitchFamily="34" charset="0"/>
                <a:ea typeface="Calibri" pitchFamily="34" charset="-122"/>
                <a:cs typeface="Calibri" pitchFamily="34" charset="-120"/>
              </a:rPr>
              <a:t>each drawing with its own words</a:t>
            </a:r>
            <a:endParaRPr lang="en-US" sz="1200" dirty="0"/>
          </a:p>
        </p:txBody>
      </p:sp>
      <p:sp>
        <p:nvSpPr>
          <p:cNvPr id="17" name="Shape 15"/>
          <p:cNvSpPr/>
          <p:nvPr/>
        </p:nvSpPr>
        <p:spPr>
          <a:xfrm>
            <a:off x="6309360" y="2514600"/>
            <a:ext cx="5257800" cy="2514600"/>
          </a:xfrm>
          <a:prstGeom prst="roundRect">
            <a:avLst>
              <a:gd name="adj" fmla="val 2182"/>
            </a:avLst>
          </a:prstGeom>
          <a:solidFill>
            <a:srgbClr val="FFFFFF"/>
          </a:solidFill>
          <a:ln w="12700">
            <a:solidFill>
              <a:srgbClr val="DDD8CF"/>
            </a:solidFill>
            <a:prstDash val="solid"/>
          </a:ln>
        </p:spPr>
      </p:sp>
      <p:sp>
        <p:nvSpPr>
          <p:cNvPr id="18" name="Text 16"/>
          <p:cNvSpPr txBox="1"/>
          <p:nvPr/>
        </p:nvSpPr>
        <p:spPr>
          <a:xfrm>
            <a:off x="6629400" y="2724912"/>
            <a:ext cx="4572000" cy="365760"/>
          </a:xfrm>
          <a:prstGeom prst="rect">
            <a:avLst/>
          </a:prstGeom>
          <a:noFill/>
          <a:ln/>
        </p:spPr>
        <p:txBody>
          <a:bodyPr wrap="square" lIns="0" tIns="0" rIns="0" bIns="0" rtlCol="0" anchor="ctr"/>
          <a:lstStyle/>
          <a:p>
            <a:pPr indent="0" marL="0">
              <a:buNone/>
            </a:pPr>
            <a:r>
              <a:rPr lang="en-US" sz="1400" b="1" dirty="0">
                <a:solidFill>
                  <a:srgbClr val="4F545B"/>
                </a:solidFill>
                <a:latin typeface="Calibri" pitchFamily="34" charset="0"/>
                <a:ea typeface="Calibri" pitchFamily="34" charset="-122"/>
                <a:cs typeface="Calibri" pitchFamily="34" charset="-120"/>
              </a:rPr>
              <a:t>Shuffled — 300 times</a:t>
            </a:r>
            <a:endParaRPr lang="en-US" sz="1400" dirty="0"/>
          </a:p>
        </p:txBody>
      </p:sp>
      <p:sp>
        <p:nvSpPr>
          <p:cNvPr id="19" name="Shape 17"/>
          <p:cNvSpPr/>
          <p:nvPr/>
        </p:nvSpPr>
        <p:spPr>
          <a:xfrm>
            <a:off x="6995160" y="3401568"/>
            <a:ext cx="4023360" cy="0"/>
          </a:xfrm>
          <a:prstGeom prst="line">
            <a:avLst/>
          </a:prstGeom>
          <a:noFill/>
          <a:ln w="31750">
            <a:solidFill>
              <a:srgbClr val="8A9096"/>
            </a:solidFill>
            <a:prstDash val="solid"/>
          </a:ln>
        </p:spPr>
      </p:sp>
      <p:sp>
        <p:nvSpPr>
          <p:cNvPr id="20" name="Shape 18"/>
          <p:cNvSpPr/>
          <p:nvPr/>
        </p:nvSpPr>
        <p:spPr>
          <a:xfrm>
            <a:off x="6903720" y="3310128"/>
            <a:ext cx="182880" cy="182880"/>
          </a:xfrm>
          <a:prstGeom prst="ellipse">
            <a:avLst/>
          </a:prstGeom>
          <a:solidFill>
            <a:srgbClr val="8A9096"/>
          </a:solidFill>
          <a:ln/>
        </p:spPr>
      </p:sp>
      <p:sp>
        <p:nvSpPr>
          <p:cNvPr id="21" name="Shape 19"/>
          <p:cNvSpPr/>
          <p:nvPr/>
        </p:nvSpPr>
        <p:spPr>
          <a:xfrm>
            <a:off x="10927080" y="3310128"/>
            <a:ext cx="182880" cy="182880"/>
          </a:xfrm>
          <a:prstGeom prst="ellipse">
            <a:avLst/>
          </a:prstGeom>
          <a:solidFill>
            <a:srgbClr val="FFFFFF"/>
          </a:solidFill>
          <a:ln w="31750">
            <a:solidFill>
              <a:srgbClr val="8A9096"/>
            </a:solidFill>
            <a:prstDash val="solid"/>
          </a:ln>
        </p:spPr>
      </p:sp>
      <p:sp>
        <p:nvSpPr>
          <p:cNvPr id="22" name="Shape 20"/>
          <p:cNvSpPr/>
          <p:nvPr/>
        </p:nvSpPr>
        <p:spPr>
          <a:xfrm>
            <a:off x="6995160" y="3877056"/>
            <a:ext cx="4023360" cy="0"/>
          </a:xfrm>
          <a:prstGeom prst="line">
            <a:avLst/>
          </a:prstGeom>
          <a:noFill/>
          <a:ln w="31750">
            <a:solidFill>
              <a:srgbClr val="8A9096"/>
            </a:solidFill>
            <a:prstDash val="solid"/>
          </a:ln>
        </p:spPr>
      </p:sp>
      <p:sp>
        <p:nvSpPr>
          <p:cNvPr id="23" name="Shape 21"/>
          <p:cNvSpPr/>
          <p:nvPr/>
        </p:nvSpPr>
        <p:spPr>
          <a:xfrm>
            <a:off x="6903720" y="3785616"/>
            <a:ext cx="182880" cy="182880"/>
          </a:xfrm>
          <a:prstGeom prst="ellipse">
            <a:avLst/>
          </a:prstGeom>
          <a:solidFill>
            <a:srgbClr val="8A9096"/>
          </a:solidFill>
          <a:ln/>
        </p:spPr>
      </p:sp>
      <p:sp>
        <p:nvSpPr>
          <p:cNvPr id="24" name="Shape 22"/>
          <p:cNvSpPr/>
          <p:nvPr/>
        </p:nvSpPr>
        <p:spPr>
          <a:xfrm>
            <a:off x="10927080" y="3785616"/>
            <a:ext cx="182880" cy="182880"/>
          </a:xfrm>
          <a:prstGeom prst="ellipse">
            <a:avLst/>
          </a:prstGeom>
          <a:solidFill>
            <a:srgbClr val="FFFFFF"/>
          </a:solidFill>
          <a:ln w="31750">
            <a:solidFill>
              <a:srgbClr val="8A9096"/>
            </a:solidFill>
            <a:prstDash val="solid"/>
          </a:ln>
        </p:spPr>
      </p:sp>
      <p:sp>
        <p:nvSpPr>
          <p:cNvPr id="25" name="Shape 23"/>
          <p:cNvSpPr/>
          <p:nvPr/>
        </p:nvSpPr>
        <p:spPr>
          <a:xfrm>
            <a:off x="6995160" y="4352544"/>
            <a:ext cx="4023360" cy="0"/>
          </a:xfrm>
          <a:prstGeom prst="line">
            <a:avLst/>
          </a:prstGeom>
          <a:noFill/>
          <a:ln w="31750">
            <a:solidFill>
              <a:srgbClr val="8A9096"/>
            </a:solidFill>
            <a:prstDash val="solid"/>
          </a:ln>
        </p:spPr>
      </p:sp>
      <p:sp>
        <p:nvSpPr>
          <p:cNvPr id="26" name="Shape 24"/>
          <p:cNvSpPr/>
          <p:nvPr/>
        </p:nvSpPr>
        <p:spPr>
          <a:xfrm>
            <a:off x="6903720" y="4261104"/>
            <a:ext cx="182880" cy="182880"/>
          </a:xfrm>
          <a:prstGeom prst="ellipse">
            <a:avLst/>
          </a:prstGeom>
          <a:solidFill>
            <a:srgbClr val="8A9096"/>
          </a:solidFill>
          <a:ln/>
        </p:spPr>
      </p:sp>
      <p:sp>
        <p:nvSpPr>
          <p:cNvPr id="27" name="Shape 25"/>
          <p:cNvSpPr/>
          <p:nvPr/>
        </p:nvSpPr>
        <p:spPr>
          <a:xfrm>
            <a:off x="10927080" y="4261104"/>
            <a:ext cx="182880" cy="182880"/>
          </a:xfrm>
          <a:prstGeom prst="ellipse">
            <a:avLst/>
          </a:prstGeom>
          <a:solidFill>
            <a:srgbClr val="FFFFFF"/>
          </a:solidFill>
          <a:ln w="31750">
            <a:solidFill>
              <a:srgbClr val="8A9096"/>
            </a:solidFill>
            <a:prstDash val="solid"/>
          </a:ln>
        </p:spPr>
      </p:sp>
      <p:sp>
        <p:nvSpPr>
          <p:cNvPr id="28" name="Text 26"/>
          <p:cNvSpPr txBox="1"/>
          <p:nvPr/>
        </p:nvSpPr>
        <p:spPr>
          <a:xfrm>
            <a:off x="6629400" y="4617720"/>
            <a:ext cx="4572000" cy="320040"/>
          </a:xfrm>
          <a:prstGeom prst="rect">
            <a:avLst/>
          </a:prstGeom>
          <a:noFill/>
          <a:ln/>
        </p:spPr>
        <p:txBody>
          <a:bodyPr wrap="square" lIns="0" tIns="0" rIns="0" bIns="0" rtlCol="0" anchor="ctr"/>
          <a:lstStyle/>
          <a:p>
            <a:pPr indent="0" marL="0">
              <a:buNone/>
            </a:pPr>
            <a:r>
              <a:rPr lang="en-US" sz="1200" i="1" dirty="0">
                <a:solidFill>
                  <a:srgbClr val="4F545B"/>
                </a:solidFill>
                <a:latin typeface="Calibri" pitchFamily="34" charset="0"/>
                <a:ea typeface="Calibri" pitchFamily="34" charset="-122"/>
                <a:cs typeface="Calibri" pitchFamily="34" charset="-120"/>
              </a:rPr>
              <a:t>each drawing with a stranger's words</a:t>
            </a:r>
            <a:endParaRPr lang="en-US" sz="1200" dirty="0"/>
          </a:p>
        </p:txBody>
      </p:sp>
      <p:sp>
        <p:nvSpPr>
          <p:cNvPr id="29" name="Shape 27"/>
          <p:cNvSpPr/>
          <p:nvPr/>
        </p:nvSpPr>
        <p:spPr>
          <a:xfrm>
            <a:off x="640080" y="5376672"/>
            <a:ext cx="10908792" cy="868680"/>
          </a:xfrm>
          <a:prstGeom prst="roundRect">
            <a:avLst>
              <a:gd name="adj" fmla="val 6316"/>
            </a:avLst>
          </a:prstGeom>
          <a:solidFill>
            <a:srgbClr val="E8F0EF"/>
          </a:solidFill>
          <a:ln w="15240">
            <a:solidFill>
              <a:srgbClr val="0D5C63"/>
            </a:solidFill>
            <a:prstDash val="solid"/>
          </a:ln>
        </p:spPr>
      </p:sp>
      <p:sp>
        <p:nvSpPr>
          <p:cNvPr id="30" name="Text 28"/>
          <p:cNvSpPr txBox="1"/>
          <p:nvPr/>
        </p:nvSpPr>
        <p:spPr>
          <a:xfrm>
            <a:off x="960120" y="5468112"/>
            <a:ext cx="10241280" cy="685800"/>
          </a:xfrm>
          <a:prstGeom prst="rect">
            <a:avLst/>
          </a:prstGeom>
          <a:noFill/>
          <a:ln/>
        </p:spPr>
        <p:txBody>
          <a:bodyPr wrap="square" lIns="0" tIns="0" rIns="0" bIns="0" rtlCol="0" anchor="ctr"/>
          <a:lstStyle/>
          <a:p>
            <a:pPr indent="0" marL="0">
              <a:buNone/>
            </a:pPr>
            <a:r>
              <a:rPr lang="en-US" sz="1800" b="1" dirty="0">
                <a:solidFill>
                  <a:srgbClr val="0D5C63"/>
                </a:solidFill>
                <a:latin typeface="Cambria" pitchFamily="34" charset="0"/>
                <a:ea typeface="Cambria" pitchFamily="34" charset="-122"/>
                <a:cs typeface="Cambria" pitchFamily="34" charset="-120"/>
              </a:rPr>
              <a:t>A result counts only insofar as it beats the shuffle. Every figure in this talk is quoted against its own null.</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2F33"/>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7FC4BE"/>
                </a:solidFill>
                <a:latin typeface="Calibri" pitchFamily="34" charset="0"/>
                <a:ea typeface="Calibri" pitchFamily="34" charset="-122"/>
                <a:cs typeface="Calibri" pitchFamily="34" charset="-120"/>
              </a:rPr>
              <a:t>RIGOUR · THE VALIDITY CHECK</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 control that passes</a:t>
            </a:r>
            <a:endParaRPr lang="en-US" sz="3400" dirty="0"/>
          </a:p>
        </p:txBody>
      </p:sp>
      <p:sp>
        <p:nvSpPr>
          <p:cNvPr id="4" name="Text 2"/>
          <p:cNvSpPr txBox="1"/>
          <p:nvPr/>
        </p:nvSpPr>
        <p:spPr>
          <a:xfrm>
            <a:off x="640080" y="1737360"/>
            <a:ext cx="10881360" cy="457200"/>
          </a:xfrm>
          <a:prstGeom prst="rect">
            <a:avLst/>
          </a:prstGeom>
          <a:noFill/>
          <a:ln/>
        </p:spPr>
        <p:txBody>
          <a:bodyPr wrap="square" lIns="0" tIns="0" rIns="0" bIns="0" rtlCol="0" anchor="ctr"/>
          <a:lstStyle/>
          <a:p>
            <a:pPr indent="0" marL="0">
              <a:buNone/>
            </a:pPr>
            <a:r>
              <a:rPr lang="en-US" sz="1700" dirty="0">
                <a:solidFill>
                  <a:srgbClr val="BFD9D6"/>
                </a:solidFill>
                <a:latin typeface="Calibri" pitchFamily="34" charset="0"/>
                <a:ea typeface="Calibri" pitchFamily="34" charset="-122"/>
                <a:cs typeface="Calibri" pitchFamily="34" charset="-120"/>
              </a:rPr>
              <a:t>405 of the 1,012 prompts contain no feeling at all.</a:t>
            </a:r>
            <a:endParaRPr lang="en-US" sz="1700" dirty="0"/>
          </a:p>
        </p:txBody>
      </p:sp>
      <p:sp>
        <p:nvSpPr>
          <p:cNvPr id="5" name="Shape 3"/>
          <p:cNvSpPr/>
          <p:nvPr/>
        </p:nvSpPr>
        <p:spPr>
          <a:xfrm>
            <a:off x="640080" y="2377440"/>
            <a:ext cx="2423160" cy="777240"/>
          </a:xfrm>
          <a:prstGeom prst="roundRect">
            <a:avLst>
              <a:gd name="adj" fmla="val 7059"/>
            </a:avLst>
          </a:prstGeom>
          <a:solidFill>
            <a:srgbClr val="0E4145"/>
          </a:solidFill>
          <a:ln w="12700">
            <a:solidFill>
              <a:srgbClr val="2F7B7F"/>
            </a:solidFill>
            <a:prstDash val="solid"/>
          </a:ln>
        </p:spPr>
      </p:sp>
      <p:sp>
        <p:nvSpPr>
          <p:cNvPr id="6" name="Text 4"/>
          <p:cNvSpPr txBox="1"/>
          <p:nvPr/>
        </p:nvSpPr>
        <p:spPr>
          <a:xfrm>
            <a:off x="640080" y="2377440"/>
            <a:ext cx="2423160" cy="777240"/>
          </a:xfrm>
          <a:prstGeom prst="rect">
            <a:avLst/>
          </a:prstGeom>
          <a:noFill/>
          <a:ln/>
        </p:spPr>
        <p:txBody>
          <a:bodyPr wrap="square" lIns="0" tIns="0" rIns="0" bIns="0"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“pigs”</a:t>
            </a:r>
            <a:endParaRPr lang="en-US" sz="1900" dirty="0"/>
          </a:p>
        </p:txBody>
      </p:sp>
      <p:sp>
        <p:nvSpPr>
          <p:cNvPr id="7" name="Shape 5"/>
          <p:cNvSpPr/>
          <p:nvPr/>
        </p:nvSpPr>
        <p:spPr>
          <a:xfrm>
            <a:off x="3291840" y="2377440"/>
            <a:ext cx="2423160" cy="777240"/>
          </a:xfrm>
          <a:prstGeom prst="roundRect">
            <a:avLst>
              <a:gd name="adj" fmla="val 7059"/>
            </a:avLst>
          </a:prstGeom>
          <a:solidFill>
            <a:srgbClr val="0E4145"/>
          </a:solidFill>
          <a:ln w="12700">
            <a:solidFill>
              <a:srgbClr val="2F7B7F"/>
            </a:solidFill>
            <a:prstDash val="solid"/>
          </a:ln>
        </p:spPr>
      </p:sp>
      <p:sp>
        <p:nvSpPr>
          <p:cNvPr id="8" name="Text 6"/>
          <p:cNvSpPr txBox="1"/>
          <p:nvPr/>
        </p:nvSpPr>
        <p:spPr>
          <a:xfrm>
            <a:off x="3291840" y="2377440"/>
            <a:ext cx="2423160" cy="777240"/>
          </a:xfrm>
          <a:prstGeom prst="rect">
            <a:avLst/>
          </a:prstGeom>
          <a:noFill/>
          <a:ln/>
        </p:spPr>
        <p:txBody>
          <a:bodyPr wrap="square" lIns="0" tIns="0" rIns="0" bIns="0"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“mickey mouse”</a:t>
            </a:r>
            <a:endParaRPr lang="en-US" sz="1900" dirty="0"/>
          </a:p>
        </p:txBody>
      </p:sp>
      <p:sp>
        <p:nvSpPr>
          <p:cNvPr id="9" name="Shape 7"/>
          <p:cNvSpPr/>
          <p:nvPr/>
        </p:nvSpPr>
        <p:spPr>
          <a:xfrm>
            <a:off x="5943600" y="2377440"/>
            <a:ext cx="2423160" cy="777240"/>
          </a:xfrm>
          <a:prstGeom prst="roundRect">
            <a:avLst>
              <a:gd name="adj" fmla="val 7059"/>
            </a:avLst>
          </a:prstGeom>
          <a:solidFill>
            <a:srgbClr val="0E4145"/>
          </a:solidFill>
          <a:ln w="12700">
            <a:solidFill>
              <a:srgbClr val="2F7B7F"/>
            </a:solidFill>
            <a:prstDash val="solid"/>
          </a:ln>
        </p:spPr>
      </p:sp>
      <p:sp>
        <p:nvSpPr>
          <p:cNvPr id="10" name="Text 8"/>
          <p:cNvSpPr txBox="1"/>
          <p:nvPr/>
        </p:nvSpPr>
        <p:spPr>
          <a:xfrm>
            <a:off x="5943600" y="2377440"/>
            <a:ext cx="2423160" cy="777240"/>
          </a:xfrm>
          <a:prstGeom prst="rect">
            <a:avLst/>
          </a:prstGeom>
          <a:noFill/>
          <a:ln/>
        </p:spPr>
        <p:txBody>
          <a:bodyPr wrap="square" lIns="0" tIns="0" rIns="0" bIns="0"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“disney characters”</a:t>
            </a:r>
            <a:endParaRPr lang="en-US" sz="1900" dirty="0"/>
          </a:p>
        </p:txBody>
      </p:sp>
      <p:sp>
        <p:nvSpPr>
          <p:cNvPr id="11" name="Text 9"/>
          <p:cNvSpPr txBox="1"/>
          <p:nvPr/>
        </p:nvSpPr>
        <p:spPr>
          <a:xfrm>
            <a:off x="640080" y="3429000"/>
            <a:ext cx="10881360" cy="411480"/>
          </a:xfrm>
          <a:prstGeom prst="rect">
            <a:avLst/>
          </a:prstGeom>
          <a:noFill/>
          <a:ln/>
        </p:spPr>
        <p:txBody>
          <a:bodyPr wrap="square" lIns="0" tIns="0" rIns="0" bIns="0" rtlCol="0" anchor="ctr"/>
          <a:lstStyle/>
          <a:p>
            <a:pPr indent="0" marL="0">
              <a:buNone/>
            </a:pPr>
            <a:r>
              <a:rPr lang="en-US" sz="1600" dirty="0">
                <a:solidFill>
                  <a:srgbClr val="BFD9D6"/>
                </a:solidFill>
                <a:latin typeface="Calibri" pitchFamily="34" charset="0"/>
                <a:ea typeface="Calibri" pitchFamily="34" charset="-122"/>
                <a:cs typeface="Calibri" pitchFamily="34" charset="-120"/>
              </a:rPr>
              <a:t>If my method were inventing emotion, it would score above chance here.</a:t>
            </a:r>
            <a:endParaRPr lang="en-US" sz="1600" dirty="0"/>
          </a:p>
        </p:txBody>
      </p:sp>
      <p:sp>
        <p:nvSpPr>
          <p:cNvPr id="12" name="Shape 10"/>
          <p:cNvSpPr/>
          <p:nvPr/>
        </p:nvSpPr>
        <p:spPr>
          <a:xfrm>
            <a:off x="640080" y="4041648"/>
            <a:ext cx="10908792" cy="1371600"/>
          </a:xfrm>
          <a:prstGeom prst="roundRect">
            <a:avLst>
              <a:gd name="adj" fmla="val 4000"/>
            </a:avLst>
          </a:prstGeom>
          <a:solidFill>
            <a:srgbClr val="0E4145"/>
          </a:solidFill>
          <a:ln w="17780">
            <a:solidFill>
              <a:srgbClr val="3FA39B"/>
            </a:solidFill>
            <a:prstDash val="solid"/>
          </a:ln>
        </p:spPr>
      </p:sp>
      <p:sp>
        <p:nvSpPr>
          <p:cNvPr id="13" name="Text 11"/>
          <p:cNvSpPr txBox="1"/>
          <p:nvPr/>
        </p:nvSpPr>
        <p:spPr>
          <a:xfrm>
            <a:off x="1005840" y="4178808"/>
            <a:ext cx="237744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76.6%</a:t>
            </a:r>
            <a:endParaRPr lang="en-US" sz="4000" dirty="0"/>
          </a:p>
        </p:txBody>
      </p:sp>
      <p:sp>
        <p:nvSpPr>
          <p:cNvPr id="14" name="Text 12"/>
          <p:cNvSpPr txBox="1"/>
          <p:nvPr/>
        </p:nvSpPr>
        <p:spPr>
          <a:xfrm>
            <a:off x="3383280" y="4178808"/>
            <a:ext cx="1645920" cy="109728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measured</a:t>
            </a:r>
            <a:endParaRPr lang="en-US" sz="1300" dirty="0"/>
          </a:p>
        </p:txBody>
      </p:sp>
      <p:sp>
        <p:nvSpPr>
          <p:cNvPr id="15" name="Text 13"/>
          <p:cNvSpPr txBox="1"/>
          <p:nvPr/>
        </p:nvSpPr>
        <p:spPr>
          <a:xfrm>
            <a:off x="4846320" y="4178808"/>
            <a:ext cx="2377440" cy="1097280"/>
          </a:xfrm>
          <a:prstGeom prst="rect">
            <a:avLst/>
          </a:prstGeom>
          <a:noFill/>
          <a:ln/>
        </p:spPr>
        <p:txBody>
          <a:bodyPr wrap="square" lIns="0" tIns="0" rIns="0" bIns="0" rtlCol="0" anchor="ctr"/>
          <a:lstStyle/>
          <a:p>
            <a:pPr indent="0" marL="0">
              <a:buNone/>
            </a:pPr>
            <a:r>
              <a:rPr lang="en-US" sz="4000" b="1" dirty="0">
                <a:solidFill>
                  <a:srgbClr val="7FC4BE"/>
                </a:solidFill>
                <a:latin typeface="Cambria" pitchFamily="34" charset="0"/>
                <a:ea typeface="Cambria" pitchFamily="34" charset="-122"/>
                <a:cs typeface="Cambria" pitchFamily="34" charset="-120"/>
              </a:rPr>
              <a:t>76.6%</a:t>
            </a:r>
            <a:endParaRPr lang="en-US" sz="4000" dirty="0"/>
          </a:p>
        </p:txBody>
      </p:sp>
      <p:sp>
        <p:nvSpPr>
          <p:cNvPr id="16" name="Text 14"/>
          <p:cNvSpPr txBox="1"/>
          <p:nvPr/>
        </p:nvSpPr>
        <p:spPr>
          <a:xfrm>
            <a:off x="7223760" y="4178808"/>
            <a:ext cx="1828800" cy="109728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pure chance</a:t>
            </a:r>
            <a:endParaRPr lang="en-US" sz="1300" dirty="0"/>
          </a:p>
        </p:txBody>
      </p:sp>
      <p:sp>
        <p:nvSpPr>
          <p:cNvPr id="17" name="Text 15"/>
          <p:cNvSpPr txBox="1"/>
          <p:nvPr/>
        </p:nvSpPr>
        <p:spPr>
          <a:xfrm>
            <a:off x="9052560" y="4178808"/>
            <a:ext cx="2103120" cy="1097280"/>
          </a:xfrm>
          <a:prstGeom prst="rect">
            <a:avLst/>
          </a:prstGeom>
          <a:noFill/>
          <a:ln/>
        </p:spPr>
        <p:txBody>
          <a:bodyPr wrap="square" lIns="0" tIns="0" rIns="0" bIns="0" rtlCol="0" anchor="ctr"/>
          <a:lstStyle/>
          <a:p>
            <a:pPr algn="r" indent="0" marL="0">
              <a:buNone/>
            </a:pPr>
            <a:r>
              <a:rPr lang="en-US" sz="2800" b="1" dirty="0">
                <a:solidFill>
                  <a:srgbClr val="7FC4BE"/>
                </a:solidFill>
                <a:latin typeface="Cambria" pitchFamily="34" charset="0"/>
                <a:ea typeface="Cambria" pitchFamily="34" charset="-122"/>
                <a:cs typeface="Cambria" pitchFamily="34" charset="-120"/>
              </a:rPr>
              <a:t>z = +0.3</a:t>
            </a:r>
            <a:endParaRPr lang="en-US" sz="2800" dirty="0"/>
          </a:p>
        </p:txBody>
      </p:sp>
      <p:sp>
        <p:nvSpPr>
          <p:cNvPr id="18" name="Text 16"/>
          <p:cNvSpPr txBox="1"/>
          <p:nvPr/>
        </p:nvSpPr>
        <p:spPr>
          <a:xfrm>
            <a:off x="640080" y="5669280"/>
            <a:ext cx="1088136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It finds emotion only where emotion exists. That is why the other numbers can be believed.</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2F33"/>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7FC4BE"/>
                </a:solidFill>
                <a:latin typeface="Calibri" pitchFamily="34" charset="0"/>
                <a:ea typeface="Calibri" pitchFamily="34" charset="-122"/>
                <a:cs typeface="Calibri" pitchFamily="34" charset="-120"/>
              </a:rPr>
              <a:t>RIGOUR · CALIBRATING THE SCALE</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Chance is not zero</a:t>
            </a:r>
            <a:endParaRPr lang="en-US" sz="3400" dirty="0"/>
          </a:p>
        </p:txBody>
      </p:sp>
      <p:sp>
        <p:nvSpPr>
          <p:cNvPr id="4" name="Text 2"/>
          <p:cNvSpPr txBox="1"/>
          <p:nvPr/>
        </p:nvSpPr>
        <p:spPr>
          <a:xfrm>
            <a:off x="640080" y="1737360"/>
            <a:ext cx="10881360" cy="457200"/>
          </a:xfrm>
          <a:prstGeom prst="rect">
            <a:avLst/>
          </a:prstGeom>
          <a:noFill/>
          <a:ln/>
        </p:spPr>
        <p:txBody>
          <a:bodyPr wrap="square" lIns="0" tIns="0" rIns="0" bIns="0" rtlCol="0" anchor="ctr"/>
          <a:lstStyle/>
          <a:p>
            <a:pPr indent="0" marL="0">
              <a:buNone/>
            </a:pPr>
            <a:r>
              <a:rPr lang="en-US" sz="1700" dirty="0">
                <a:solidFill>
                  <a:srgbClr val="BFD9D6"/>
                </a:solidFill>
                <a:latin typeface="Calibri" pitchFamily="34" charset="0"/>
                <a:ea typeface="Calibri" pitchFamily="34" charset="-122"/>
                <a:cs typeface="Calibri" pitchFamily="34" charset="-120"/>
              </a:rPr>
              <a:t>The similarity measure cannot reach 0 — and randomly paired items already score 76.</a:t>
            </a:r>
            <a:endParaRPr lang="en-US" sz="1700" dirty="0"/>
          </a:p>
        </p:txBody>
      </p:sp>
      <p:sp>
        <p:nvSpPr>
          <p:cNvPr id="5" name="Shape 3"/>
          <p:cNvSpPr/>
          <p:nvPr/>
        </p:nvSpPr>
        <p:spPr>
          <a:xfrm>
            <a:off x="640080" y="2743200"/>
            <a:ext cx="10908792" cy="566928"/>
          </a:xfrm>
          <a:prstGeom prst="roundRect">
            <a:avLst>
              <a:gd name="adj" fmla="val 12903"/>
            </a:avLst>
          </a:prstGeom>
          <a:solidFill>
            <a:srgbClr val="0E4145"/>
          </a:solidFill>
          <a:ln w="12700">
            <a:solidFill>
              <a:srgbClr val="2F7B7F"/>
            </a:solidFill>
            <a:prstDash val="solid"/>
          </a:ln>
        </p:spPr>
      </p:sp>
      <p:sp>
        <p:nvSpPr>
          <p:cNvPr id="6" name="Shape 4"/>
          <p:cNvSpPr/>
          <p:nvPr/>
        </p:nvSpPr>
        <p:spPr>
          <a:xfrm>
            <a:off x="640080" y="2743200"/>
            <a:ext cx="6471317" cy="566928"/>
          </a:xfrm>
          <a:prstGeom prst="rect">
            <a:avLst/>
          </a:prstGeom>
          <a:solidFill>
            <a:srgbClr val="1B5F5B"/>
          </a:solidFill>
          <a:ln/>
        </p:spPr>
      </p:sp>
      <p:sp>
        <p:nvSpPr>
          <p:cNvPr id="7" name="Shape 5"/>
          <p:cNvSpPr/>
          <p:nvPr/>
        </p:nvSpPr>
        <p:spPr>
          <a:xfrm>
            <a:off x="640080" y="2578608"/>
            <a:ext cx="32004" cy="896112"/>
          </a:xfrm>
          <a:prstGeom prst="rect">
            <a:avLst/>
          </a:prstGeom>
          <a:solidFill>
            <a:srgbClr val="9FB4B3"/>
          </a:solidFill>
          <a:ln/>
        </p:spPr>
      </p:sp>
      <p:sp>
        <p:nvSpPr>
          <p:cNvPr id="8" name="Shape 6"/>
          <p:cNvSpPr/>
          <p:nvPr/>
        </p:nvSpPr>
        <p:spPr>
          <a:xfrm>
            <a:off x="7111397" y="2578608"/>
            <a:ext cx="32004" cy="896112"/>
          </a:xfrm>
          <a:prstGeom prst="rect">
            <a:avLst/>
          </a:prstGeom>
          <a:solidFill>
            <a:srgbClr val="FFFFFF"/>
          </a:solidFill>
          <a:ln/>
        </p:spPr>
      </p:sp>
      <p:sp>
        <p:nvSpPr>
          <p:cNvPr id="9" name="Shape 7"/>
          <p:cNvSpPr/>
          <p:nvPr/>
        </p:nvSpPr>
        <p:spPr>
          <a:xfrm>
            <a:off x="8590556" y="2578608"/>
            <a:ext cx="45720" cy="896112"/>
          </a:xfrm>
          <a:prstGeom prst="rect">
            <a:avLst/>
          </a:prstGeom>
          <a:solidFill>
            <a:srgbClr val="F0B040"/>
          </a:solidFill>
          <a:ln/>
        </p:spPr>
      </p:sp>
      <p:sp>
        <p:nvSpPr>
          <p:cNvPr id="10" name="Text 8"/>
          <p:cNvSpPr txBox="1"/>
          <p:nvPr/>
        </p:nvSpPr>
        <p:spPr>
          <a:xfrm>
            <a:off x="594360" y="3456432"/>
            <a:ext cx="2377440" cy="777240"/>
          </a:xfrm>
          <a:prstGeom prst="rect">
            <a:avLst/>
          </a:prstGeom>
          <a:noFill/>
          <a:ln/>
        </p:spPr>
        <p:txBody>
          <a:bodyPr wrap="square" lIns="0" tIns="0" rIns="0" bIns="0" rtlCol="0" anchor="ctr"/>
          <a:lstStyle/>
          <a:p>
            <a:pPr algn="l" indent="0" marL="0">
              <a:buNone/>
            </a:pPr>
            <a:r>
              <a:rPr lang="en-US" sz="1300" b="1" dirty="0">
                <a:solidFill>
                  <a:srgbClr val="9FB4B3"/>
                </a:solidFill>
                <a:latin typeface="Calibri" pitchFamily="34" charset="0"/>
                <a:ea typeface="Calibri" pitchFamily="34" charset="-122"/>
                <a:cs typeface="Calibri" pitchFamily="34" charset="-120"/>
              </a:rPr>
              <a:t>41</a:t>
            </a:r>
            <a:endParaRPr lang="en-US" sz="1300" dirty="0"/>
          </a:p>
          <a:p>
            <a:pPr algn="l" indent="0" marL="0">
              <a:buNone/>
            </a:pPr>
            <a:r>
              <a:rPr lang="en-US" sz="1300" b="1" dirty="0">
                <a:solidFill>
                  <a:srgbClr val="9FB4B3"/>
                </a:solidFill>
                <a:latin typeface="Calibri" pitchFamily="34" charset="0"/>
                <a:ea typeface="Calibri" pitchFamily="34" charset="-122"/>
                <a:cs typeface="Calibri" pitchFamily="34" charset="-120"/>
              </a:rPr>
              <a:t>floor — impossible to go lower</a:t>
            </a:r>
            <a:endParaRPr lang="en-US" sz="1300" dirty="0"/>
          </a:p>
        </p:txBody>
      </p:sp>
      <p:sp>
        <p:nvSpPr>
          <p:cNvPr id="11" name="Text 9"/>
          <p:cNvSpPr txBox="1"/>
          <p:nvPr/>
        </p:nvSpPr>
        <p:spPr>
          <a:xfrm>
            <a:off x="5922677" y="3456432"/>
            <a:ext cx="23774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76</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random pairings</a:t>
            </a:r>
            <a:endParaRPr lang="en-US" sz="1300" dirty="0"/>
          </a:p>
        </p:txBody>
      </p:sp>
      <p:sp>
        <p:nvSpPr>
          <p:cNvPr id="12" name="Text 10"/>
          <p:cNvSpPr txBox="1"/>
          <p:nvPr/>
        </p:nvSpPr>
        <p:spPr>
          <a:xfrm>
            <a:off x="7401836" y="3456432"/>
            <a:ext cx="2377440" cy="777240"/>
          </a:xfrm>
          <a:prstGeom prst="rect">
            <a:avLst/>
          </a:prstGeom>
          <a:noFill/>
          <a:ln/>
        </p:spPr>
        <p:txBody>
          <a:bodyPr wrap="square" lIns="0" tIns="0" rIns="0" bIns="0" rtlCol="0" anchor="ctr"/>
          <a:lstStyle/>
          <a:p>
            <a:pPr algn="ctr" indent="0" marL="0">
              <a:buNone/>
            </a:pPr>
            <a:r>
              <a:rPr lang="en-US" sz="1300" b="1" dirty="0">
                <a:solidFill>
                  <a:srgbClr val="F0B040"/>
                </a:solidFill>
                <a:latin typeface="Calibri" pitchFamily="34" charset="0"/>
                <a:ea typeface="Calibri" pitchFamily="34" charset="-122"/>
                <a:cs typeface="Calibri" pitchFamily="34" charset="-120"/>
              </a:rPr>
              <a:t>84</a:t>
            </a:r>
            <a:endParaRPr lang="en-US" sz="1300" dirty="0"/>
          </a:p>
          <a:p>
            <a:pPr algn="ctr" indent="0" marL="0">
              <a:buNone/>
            </a:pPr>
            <a:r>
              <a:rPr lang="en-US" sz="1300" b="1" dirty="0">
                <a:solidFill>
                  <a:srgbClr val="F0B040"/>
                </a:solidFill>
                <a:latin typeface="Calibri" pitchFamily="34" charset="0"/>
                <a:ea typeface="Calibri" pitchFamily="34" charset="-122"/>
                <a:cs typeface="Calibri" pitchFamily="34" charset="-120"/>
              </a:rPr>
              <a:t>my result</a:t>
            </a:r>
            <a:endParaRPr lang="en-US" sz="1300" dirty="0"/>
          </a:p>
        </p:txBody>
      </p:sp>
      <p:sp>
        <p:nvSpPr>
          <p:cNvPr id="13" name="Shape 11"/>
          <p:cNvSpPr/>
          <p:nvPr/>
        </p:nvSpPr>
        <p:spPr>
          <a:xfrm>
            <a:off x="640080" y="4709160"/>
            <a:ext cx="5349240" cy="1417320"/>
          </a:xfrm>
          <a:prstGeom prst="roundRect">
            <a:avLst>
              <a:gd name="adj" fmla="val 3871"/>
            </a:avLst>
          </a:prstGeom>
          <a:solidFill>
            <a:srgbClr val="0E4145"/>
          </a:solidFill>
          <a:ln w="17780">
            <a:solidFill>
              <a:srgbClr val="9E3B33"/>
            </a:solidFill>
            <a:prstDash val="solid"/>
          </a:ln>
        </p:spPr>
      </p:sp>
      <p:sp>
        <p:nvSpPr>
          <p:cNvPr id="14" name="Text 12"/>
          <p:cNvSpPr txBox="1"/>
          <p:nvPr/>
        </p:nvSpPr>
        <p:spPr>
          <a:xfrm>
            <a:off x="960120" y="4864608"/>
            <a:ext cx="4754880" cy="1143000"/>
          </a:xfrm>
          <a:prstGeom prst="rect">
            <a:avLst/>
          </a:prstGeom>
          <a:noFill/>
          <a:ln/>
        </p:spPr>
        <p:txBody>
          <a:bodyPr wrap="square" lIns="0" tIns="0" rIns="0" bIns="0" rtlCol="0" anchor="ctr"/>
          <a:lstStyle/>
          <a:p>
            <a:pPr indent="0" marL="0">
              <a:buNone/>
            </a:pPr>
            <a:r>
              <a:rPr lang="en-US" sz="2000" b="1" dirty="0">
                <a:solidFill>
                  <a:srgbClr val="F09490"/>
                </a:solidFill>
                <a:latin typeface="Cambria" pitchFamily="34" charset="0"/>
                <a:ea typeface="Cambria" pitchFamily="34" charset="-122"/>
                <a:cs typeface="Cambria" pitchFamily="34" charset="-120"/>
              </a:rPr>
              <a:t>A score of 71 looks like a pass.</a:t>
            </a:r>
            <a:endParaRPr lang="en-US" sz="2000" dirty="0"/>
          </a:p>
          <a:p>
            <a:pPr indent="0" marL="0">
              <a:buNone/>
            </a:pPr>
            <a:r>
              <a:rPr lang="en-US" sz="2000" b="1" dirty="0">
                <a:solidFill>
                  <a:srgbClr val="F09490"/>
                </a:solidFill>
                <a:latin typeface="Cambria" pitchFamily="34" charset="0"/>
                <a:ea typeface="Cambria" pitchFamily="34" charset="-122"/>
                <a:cs typeface="Cambria" pitchFamily="34" charset="-120"/>
              </a:rPr>
              <a:t>It is below chance.</a:t>
            </a:r>
            <a:endParaRPr lang="en-US" sz="2000" dirty="0"/>
          </a:p>
        </p:txBody>
      </p:sp>
      <p:sp>
        <p:nvSpPr>
          <p:cNvPr id="15" name="Shape 13"/>
          <p:cNvSpPr/>
          <p:nvPr/>
        </p:nvSpPr>
        <p:spPr>
          <a:xfrm>
            <a:off x="6263640" y="4709160"/>
            <a:ext cx="5285232" cy="1417320"/>
          </a:xfrm>
          <a:prstGeom prst="roundRect">
            <a:avLst>
              <a:gd name="adj" fmla="val 3871"/>
            </a:avLst>
          </a:prstGeom>
          <a:solidFill>
            <a:srgbClr val="0E4145"/>
          </a:solidFill>
          <a:ln w="12700">
            <a:solidFill>
              <a:srgbClr val="2F7B7F"/>
            </a:solidFill>
            <a:prstDash val="solid"/>
          </a:ln>
        </p:spPr>
      </p:sp>
      <p:sp>
        <p:nvSpPr>
          <p:cNvPr id="16" name="Text 14"/>
          <p:cNvSpPr txBox="1"/>
          <p:nvPr/>
        </p:nvSpPr>
        <p:spPr>
          <a:xfrm>
            <a:off x="6583680" y="4864608"/>
            <a:ext cx="4663440" cy="1143000"/>
          </a:xfrm>
          <a:prstGeom prst="rect">
            <a:avLst/>
          </a:prstGeom>
          <a:noFill/>
          <a:ln/>
        </p:spPr>
        <p:txBody>
          <a:bodyPr wrap="square" lIns="0" tIns="0" rIns="0" bIns="0" rtlCol="0" anchor="ctr"/>
          <a:lstStyle/>
          <a:p>
            <a:pPr indent="0" marL="0">
              <a:buNone/>
            </a:pPr>
            <a:r>
              <a:rPr lang="en-US" sz="1400" dirty="0">
                <a:solidFill>
                  <a:srgbClr val="BFD9D6"/>
                </a:solidFill>
                <a:latin typeface="Calibri" pitchFamily="34" charset="0"/>
                <a:ea typeface="Calibri" pitchFamily="34" charset="-122"/>
                <a:cs typeface="Calibri" pitchFamily="34" charset="-120"/>
              </a:rPr>
              <a:t>So I changed what I report: mood-direction and emotion-family agreement now lead, and this score is always shown against its chance line.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FINDING ONE</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Alignment is far stronger when there is a face</a:t>
            </a:r>
            <a:endParaRPr lang="en-US" sz="3400" dirty="0"/>
          </a:p>
        </p:txBody>
      </p:sp>
      <p:graphicFrame>
        <p:nvGraphicFramePr>
          <p:cNvPr id="4" name="Chart 0" descr=""/>
          <p:cNvGraphicFramePr/>
          <p:nvPr/>
        </p:nvGraphicFramePr>
        <p:xfrm>
          <a:off x="640080" y="178308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783080"/>
            <a:ext cx="3730752" cy="1783080"/>
          </a:xfrm>
          <a:prstGeom prst="roundRect">
            <a:avLst>
              <a:gd name="adj" fmla="val 3077"/>
            </a:avLst>
          </a:prstGeom>
          <a:solidFill>
            <a:srgbClr val="FFFFFF"/>
          </a:solidFill>
          <a:ln w="12700">
            <a:solidFill>
              <a:srgbClr val="DDD8CF"/>
            </a:solidFill>
            <a:prstDash val="solid"/>
          </a:ln>
        </p:spPr>
      </p:sp>
      <p:sp>
        <p:nvSpPr>
          <p:cNvPr id="6" name="Text 3"/>
          <p:cNvSpPr txBox="1"/>
          <p:nvPr/>
        </p:nvSpPr>
        <p:spPr>
          <a:xfrm>
            <a:off x="8092440" y="1938528"/>
            <a:ext cx="3200400" cy="685800"/>
          </a:xfrm>
          <a:prstGeom prst="rect">
            <a:avLst/>
          </a:prstGeom>
          <a:noFill/>
          <a:ln/>
        </p:spPr>
        <p:txBody>
          <a:bodyPr wrap="square" lIns="0" tIns="0" rIns="0" bIns="0" rtlCol="0" anchor="ctr"/>
          <a:lstStyle/>
          <a:p>
            <a:pPr indent="0" marL="0">
              <a:buNone/>
            </a:pPr>
            <a:r>
              <a:rPr lang="en-US" sz="4400" b="1" dirty="0">
                <a:solidFill>
                  <a:srgbClr val="0D5C63"/>
                </a:solidFill>
                <a:latin typeface="Cambria" pitchFamily="34" charset="0"/>
                <a:ea typeface="Cambria" pitchFamily="34" charset="-122"/>
                <a:cs typeface="Cambria" pitchFamily="34" charset="-120"/>
              </a:rPr>
              <a:t>1.7×</a:t>
            </a:r>
            <a:endParaRPr lang="en-US" sz="4400" dirty="0"/>
          </a:p>
        </p:txBody>
      </p:sp>
      <p:sp>
        <p:nvSpPr>
          <p:cNvPr id="7" name="Text 4"/>
          <p:cNvSpPr txBox="1"/>
          <p:nvPr/>
        </p:nvSpPr>
        <p:spPr>
          <a:xfrm>
            <a:off x="8092440" y="2697480"/>
            <a:ext cx="3200400" cy="77724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better alignment on both mood direction and emotion family</a:t>
            </a:r>
            <a:endParaRPr lang="en-US" sz="1300" dirty="0"/>
          </a:p>
        </p:txBody>
      </p:sp>
      <p:sp>
        <p:nvSpPr>
          <p:cNvPr id="8" name="Shape 5"/>
          <p:cNvSpPr/>
          <p:nvPr/>
        </p:nvSpPr>
        <p:spPr>
          <a:xfrm>
            <a:off x="7818120" y="3977640"/>
            <a:ext cx="3730752" cy="1965960"/>
          </a:xfrm>
          <a:prstGeom prst="roundRect">
            <a:avLst>
              <a:gd name="adj" fmla="val 2791"/>
            </a:avLst>
          </a:prstGeom>
          <a:solidFill>
            <a:srgbClr val="FBF3E7"/>
          </a:solidFill>
          <a:ln w="12700">
            <a:solidFill>
              <a:srgbClr val="B87614"/>
            </a:solidFill>
            <a:prstDash val="solid"/>
          </a:ln>
        </p:spPr>
      </p:sp>
      <p:sp>
        <p:nvSpPr>
          <p:cNvPr id="9" name="Text 6"/>
          <p:cNvSpPr txBox="1"/>
          <p:nvPr/>
        </p:nvSpPr>
        <p:spPr>
          <a:xfrm>
            <a:off x="8092440" y="4160520"/>
            <a:ext cx="3200400" cy="320040"/>
          </a:xfrm>
          <a:prstGeom prst="rect">
            <a:avLst/>
          </a:prstGeom>
          <a:noFill/>
          <a:ln/>
        </p:spPr>
        <p:txBody>
          <a:bodyPr wrap="square" lIns="0" tIns="0" rIns="0" bIns="0" rtlCol="0" anchor="ctr"/>
          <a:lstStyle/>
          <a:p>
            <a:pPr indent="0" marL="0">
              <a:buNone/>
            </a:pPr>
            <a:r>
              <a:rPr lang="en-US" sz="1300" b="1" dirty="0">
                <a:solidFill>
                  <a:srgbClr val="B87614"/>
                </a:solidFill>
                <a:latin typeface="Calibri" pitchFamily="34" charset="0"/>
                <a:ea typeface="Calibri" pitchFamily="34" charset="-122"/>
                <a:cs typeface="Calibri" pitchFamily="34" charset="-120"/>
              </a:rPr>
              <a:t>Stated carefully</a:t>
            </a:r>
            <a:endParaRPr lang="en-US" sz="1300" dirty="0"/>
          </a:p>
        </p:txBody>
      </p:sp>
      <p:sp>
        <p:nvSpPr>
          <p:cNvPr id="10" name="Text 7"/>
          <p:cNvSpPr txBox="1"/>
          <p:nvPr/>
        </p:nvSpPr>
        <p:spPr>
          <a:xfrm>
            <a:off x="8092440" y="4526280"/>
            <a:ext cx="3200400" cy="132588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The pipeline finds stronger alignment for drawings it classifies as containing a readable face. That classification and the emotion reading share a source — so this is partly circular, and I say so.</a:t>
            </a:r>
            <a:endParaRPr lang="en-US" sz="1200" dirty="0"/>
          </a:p>
        </p:txBody>
      </p:sp>
      <p:sp>
        <p:nvSpPr>
          <p:cNvPr id="11" name="Text 8"/>
          <p:cNvSpPr txBox="1"/>
          <p:nvPr/>
        </p:nvSpPr>
        <p:spPr>
          <a:xfrm>
            <a:off x="640080" y="6053328"/>
            <a:ext cx="10908792" cy="365760"/>
          </a:xfrm>
          <a:prstGeom prst="rect">
            <a:avLst/>
          </a:prstGeom>
          <a:noFill/>
          <a:ln/>
        </p:spPr>
        <p:txBody>
          <a:bodyPr wrap="square" lIns="0" tIns="0" rIns="0" bIns="0" rtlCol="0" anchor="ctr"/>
          <a:lstStyle/>
          <a:p>
            <a:pPr indent="0" marL="0">
              <a:buNone/>
            </a:pPr>
            <a:r>
              <a:rPr lang="en-US" sz="1100" i="1" dirty="0">
                <a:solidFill>
                  <a:srgbClr val="6E747B"/>
                </a:solidFill>
                <a:latin typeface="Calibri" pitchFamily="34" charset="0"/>
                <a:ea typeface="Calibri" pitchFamily="34" charset="-122"/>
                <a:cs typeface="Calibri" pitchFamily="34" charset="-120"/>
              </a:rPr>
              <a:t>All above chance (z +4.4 to +10.4). Holds on distinct prompts only: face 71.8% vs scene 37.3%.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FINDING TWO</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The generator is inconsistent with itself</a:t>
            </a:r>
            <a:endParaRPr lang="en-US" sz="3400" dirty="0"/>
          </a:p>
        </p:txBody>
      </p:sp>
      <p:sp>
        <p:nvSpPr>
          <p:cNvPr id="4" name="Text 2"/>
          <p:cNvSpPr txBox="1"/>
          <p:nvPr/>
        </p:nvSpPr>
        <p:spPr>
          <a:xfrm>
            <a:off x="640080" y="1737360"/>
            <a:ext cx="10881360" cy="457200"/>
          </a:xfrm>
          <a:prstGeom prst="rect">
            <a:avLst/>
          </a:prstGeom>
          <a:noFill/>
          <a:ln/>
        </p:spPr>
        <p:txBody>
          <a:bodyPr wrap="square" lIns="0" tIns="0" rIns="0" bIns="0" rtlCol="0" anchor="t"/>
          <a:lstStyle/>
          <a:p>
            <a:pPr indent="0" marL="0">
              <a:buNone/>
            </a:pPr>
            <a:r>
              <a:rPr lang="en-US" sz="1600" dirty="0">
                <a:solidFill>
                  <a:srgbClr val="4F545B"/>
                </a:solidFill>
                <a:latin typeface="Calibri" pitchFamily="34" charset="0"/>
                <a:ea typeface="Calibri" pitchFamily="34" charset="-122"/>
                <a:cs typeface="Calibri" pitchFamily="34" charset="-120"/>
              </a:rPr>
              <a:t>87 prompts were drawn between 2 and 42 times each. Same words in — different feeling out.</a:t>
            </a:r>
            <a:endParaRPr lang="en-US" sz="1600" dirty="0"/>
          </a:p>
        </p:txBody>
      </p:sp>
      <p:sp>
        <p:nvSpPr>
          <p:cNvPr id="5" name="Text 3"/>
          <p:cNvSpPr txBox="1"/>
          <p:nvPr/>
        </p:nvSpPr>
        <p:spPr>
          <a:xfrm>
            <a:off x="640080" y="2514600"/>
            <a:ext cx="3291840" cy="822960"/>
          </a:xfrm>
          <a:prstGeom prst="rect">
            <a:avLst/>
          </a:prstGeom>
          <a:noFill/>
          <a:ln/>
        </p:spPr>
        <p:txBody>
          <a:bodyPr wrap="square" lIns="0" tIns="0" rIns="0" bIns="0" rtlCol="0" anchor="b"/>
          <a:lstStyle/>
          <a:p>
            <a:pPr algn="l" indent="0" marL="0">
              <a:buNone/>
            </a:pPr>
            <a:r>
              <a:rPr lang="en-US" sz="4800" b="1" dirty="0">
                <a:solidFill>
                  <a:srgbClr val="2F6FD0"/>
                </a:solidFill>
                <a:latin typeface="Cambria" pitchFamily="34" charset="0"/>
                <a:ea typeface="Cambria" pitchFamily="34" charset="-122"/>
                <a:cs typeface="Cambria" pitchFamily="34" charset="-120"/>
              </a:rPr>
              <a:t>68.8%</a:t>
            </a:r>
            <a:endParaRPr lang="en-US" sz="4800" dirty="0"/>
          </a:p>
        </p:txBody>
      </p:sp>
      <p:sp>
        <p:nvSpPr>
          <p:cNvPr id="6" name="Text 4"/>
          <p:cNvSpPr txBox="1"/>
          <p:nvPr/>
        </p:nvSpPr>
        <p:spPr>
          <a:xfrm>
            <a:off x="640080" y="3383280"/>
            <a:ext cx="329184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of the time the redrawn image conveys the SAME emotion</a:t>
            </a:r>
            <a:endParaRPr lang="en-US" sz="1300" dirty="0"/>
          </a:p>
        </p:txBody>
      </p:sp>
      <p:sp>
        <p:nvSpPr>
          <p:cNvPr id="7" name="Text 5"/>
          <p:cNvSpPr txBox="1"/>
          <p:nvPr/>
        </p:nvSpPr>
        <p:spPr>
          <a:xfrm>
            <a:off x="4448556" y="2514600"/>
            <a:ext cx="3291840" cy="822960"/>
          </a:xfrm>
          <a:prstGeom prst="rect">
            <a:avLst/>
          </a:prstGeom>
          <a:noFill/>
          <a:ln/>
        </p:spPr>
        <p:txBody>
          <a:bodyPr wrap="square" lIns="0" tIns="0" rIns="0" bIns="0" rtlCol="0" anchor="b"/>
          <a:lstStyle/>
          <a:p>
            <a:pPr algn="l" indent="0" marL="0">
              <a:buNone/>
            </a:pPr>
            <a:r>
              <a:rPr lang="en-US" sz="4800" b="1" dirty="0">
                <a:solidFill>
                  <a:srgbClr val="B87614"/>
                </a:solidFill>
                <a:latin typeface="Cambria" pitchFamily="34" charset="0"/>
                <a:ea typeface="Cambria" pitchFamily="34" charset="-122"/>
                <a:cs typeface="Cambria" pitchFamily="34" charset="-120"/>
              </a:rPr>
              <a:t>28 / 87</a:t>
            </a:r>
            <a:endParaRPr lang="en-US" sz="4800" dirty="0"/>
          </a:p>
        </p:txBody>
      </p:sp>
      <p:sp>
        <p:nvSpPr>
          <p:cNvPr id="8" name="Text 6"/>
          <p:cNvSpPr txBox="1"/>
          <p:nvPr/>
        </p:nvSpPr>
        <p:spPr>
          <a:xfrm>
            <a:off x="4448556" y="3383280"/>
            <a:ext cx="329184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repeated prompts are fully consistent across all their drawings</a:t>
            </a:r>
            <a:endParaRPr lang="en-US" sz="1300" dirty="0"/>
          </a:p>
        </p:txBody>
      </p:sp>
      <p:sp>
        <p:nvSpPr>
          <p:cNvPr id="9" name="Text 7"/>
          <p:cNvSpPr txBox="1"/>
          <p:nvPr/>
        </p:nvSpPr>
        <p:spPr>
          <a:xfrm>
            <a:off x="8257032" y="2514600"/>
            <a:ext cx="3291840" cy="822960"/>
          </a:xfrm>
          <a:prstGeom prst="rect">
            <a:avLst/>
          </a:prstGeom>
          <a:noFill/>
          <a:ln/>
        </p:spPr>
        <p:txBody>
          <a:bodyPr wrap="square" lIns="0" tIns="0" rIns="0" bIns="0" rtlCol="0" anchor="b"/>
          <a:lstStyle/>
          <a:p>
            <a:pPr algn="l" indent="0" marL="0">
              <a:buNone/>
            </a:pPr>
            <a:r>
              <a:rPr lang="en-US" sz="4800" b="1" dirty="0">
                <a:solidFill>
                  <a:srgbClr val="0D5C63"/>
                </a:solidFill>
                <a:latin typeface="Cambria" pitchFamily="34" charset="0"/>
                <a:ea typeface="Cambria" pitchFamily="34" charset="-122"/>
                <a:cs typeface="Cambria" pitchFamily="34" charset="-120"/>
              </a:rPr>
              <a:t>336</a:t>
            </a:r>
            <a:endParaRPr lang="en-US" sz="4800" dirty="0"/>
          </a:p>
        </p:txBody>
      </p:sp>
      <p:sp>
        <p:nvSpPr>
          <p:cNvPr id="10" name="Text 8"/>
          <p:cNvSpPr txBox="1"/>
          <p:nvPr/>
        </p:nvSpPr>
        <p:spPr>
          <a:xfrm>
            <a:off x="8257032" y="3383280"/>
            <a:ext cx="3291840" cy="777240"/>
          </a:xfrm>
          <a:prstGeom prst="rect">
            <a:avLst/>
          </a:prstGeom>
          <a:noFill/>
          <a:ln/>
        </p:spPr>
        <p:txBody>
          <a:bodyPr wrap="square" lIns="0" tIns="0" rIns="0" bIns="0" rtlCol="0" anchor="t"/>
          <a:lstStyle/>
          <a:p>
            <a:pPr algn="l" indent="0" marL="0">
              <a:buNone/>
            </a:pPr>
            <a:r>
              <a:rPr lang="en-US" sz="1300" dirty="0">
                <a:solidFill>
                  <a:srgbClr val="4F545B"/>
                </a:solidFill>
                <a:latin typeface="Calibri" pitchFamily="34" charset="0"/>
                <a:ea typeface="Calibri" pitchFamily="34" charset="-122"/>
                <a:cs typeface="Calibri" pitchFamily="34" charset="-120"/>
              </a:rPr>
              <a:t>records sit inside a repeated-prompt group</a:t>
            </a:r>
            <a:endParaRPr lang="en-US" sz="1300" dirty="0"/>
          </a:p>
        </p:txBody>
      </p:sp>
      <p:sp>
        <p:nvSpPr>
          <p:cNvPr id="11" name="Shape 9"/>
          <p:cNvSpPr/>
          <p:nvPr/>
        </p:nvSpPr>
        <p:spPr>
          <a:xfrm>
            <a:off x="640080" y="4663440"/>
            <a:ext cx="10908792" cy="1508760"/>
          </a:xfrm>
          <a:prstGeom prst="roundRect">
            <a:avLst>
              <a:gd name="adj" fmla="val 3636"/>
            </a:avLst>
          </a:prstGeom>
          <a:solidFill>
            <a:srgbClr val="E8F0EF"/>
          </a:solidFill>
          <a:ln w="15240">
            <a:solidFill>
              <a:srgbClr val="0D5C63"/>
            </a:solidFill>
            <a:prstDash val="solid"/>
          </a:ln>
        </p:spPr>
      </p:sp>
      <p:sp>
        <p:nvSpPr>
          <p:cNvPr id="12" name="Text 10"/>
          <p:cNvSpPr txBox="1"/>
          <p:nvPr/>
        </p:nvSpPr>
        <p:spPr>
          <a:xfrm>
            <a:off x="960120" y="4846320"/>
            <a:ext cx="10241280" cy="457200"/>
          </a:xfrm>
          <a:prstGeom prst="rect">
            <a:avLst/>
          </a:prstGeom>
          <a:noFill/>
          <a:ln/>
        </p:spPr>
        <p:txBody>
          <a:bodyPr wrap="square" lIns="0" tIns="0" rIns="0" bIns="0" rtlCol="0" anchor="ctr"/>
          <a:lstStyle/>
          <a:p>
            <a:pPr indent="0" marL="0">
              <a:buNone/>
            </a:pPr>
            <a:r>
              <a:rPr lang="en-US" sz="2100" b="1" dirty="0">
                <a:solidFill>
                  <a:srgbClr val="0D5C63"/>
                </a:solidFill>
                <a:latin typeface="Cambria" pitchFamily="34" charset="0"/>
                <a:ea typeface="Cambria" pitchFamily="34" charset="-122"/>
                <a:cs typeface="Cambria" pitchFamily="34" charset="-120"/>
              </a:rPr>
              <a:t>A single drawing is one sample of the model's behaviour — not a fixed answer.</a:t>
            </a:r>
            <a:endParaRPr lang="en-US" sz="2100" dirty="0"/>
          </a:p>
        </p:txBody>
      </p:sp>
      <p:sp>
        <p:nvSpPr>
          <p:cNvPr id="13" name="Text 11"/>
          <p:cNvSpPr txBox="1"/>
          <p:nvPr/>
        </p:nvSpPr>
        <p:spPr>
          <a:xfrm>
            <a:off x="960120" y="5394960"/>
            <a:ext cx="10241280" cy="640080"/>
          </a:xfrm>
          <a:prstGeom prst="rect">
            <a:avLst/>
          </a:prstGeom>
          <a:noFill/>
          <a:ln/>
        </p:spPr>
        <p:txBody>
          <a:bodyPr wrap="square" lIns="0" tIns="0" rIns="0" bIns="0" rtlCol="0" anchor="ctr"/>
          <a:lstStyle/>
          <a:p>
            <a:pPr indent="0" marL="0">
              <a:buNone/>
            </a:pPr>
            <a:r>
              <a:rPr lang="en-US" sz="1400" dirty="0">
                <a:solidFill>
                  <a:srgbClr val="4F545B"/>
                </a:solidFill>
                <a:latin typeface="Calibri" pitchFamily="34" charset="0"/>
                <a:ea typeface="Calibri" pitchFamily="34" charset="-122"/>
                <a:cs typeface="Calibri" pitchFamily="34" charset="-120"/>
              </a:rPr>
              <a:t>That is a caution for anyone evaluating a generative model on a single output — including the standard benchmarks.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FINDING THREE</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The architecture choice was worth 24 points</a:t>
            </a:r>
            <a:endParaRPr lang="en-US" sz="3400" dirty="0"/>
          </a:p>
        </p:txBody>
      </p:sp>
      <p:graphicFrame>
        <p:nvGraphicFramePr>
          <p:cNvPr id="4" name="Chart 0" descr=""/>
          <p:cNvGraphicFramePr/>
          <p:nvPr/>
        </p:nvGraphicFramePr>
        <p:xfrm>
          <a:off x="640080" y="178308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18120" y="1810512"/>
            <a:ext cx="3730752" cy="1005840"/>
          </a:xfrm>
          <a:prstGeom prst="rect">
            <a:avLst/>
          </a:prstGeom>
          <a:noFill/>
          <a:ln/>
        </p:spPr>
        <p:txBody>
          <a:bodyPr wrap="square" lIns="0" tIns="0" rIns="0" bIns="0" rtlCol="0" anchor="t"/>
          <a:lstStyle/>
          <a:p>
            <a:pPr indent="0" marL="0">
              <a:buNone/>
            </a:pPr>
            <a:r>
              <a:rPr lang="en-US" sz="1400" dirty="0">
                <a:solidFill>
                  <a:srgbClr val="4F545B"/>
                </a:solidFill>
                <a:latin typeface="Calibri" pitchFamily="34" charset="0"/>
                <a:ea typeface="Calibri" pitchFamily="34" charset="-122"/>
                <a:cs typeface="Calibri" pitchFamily="34" charset="-120"/>
              </a:rPr>
              <a:t>Head-to-head on the same records, with the prompt side held constant and only the image reader changed.</a:t>
            </a:r>
            <a:endParaRPr lang="en-US" sz="1400" dirty="0"/>
          </a:p>
        </p:txBody>
      </p:sp>
      <p:sp>
        <p:nvSpPr>
          <p:cNvPr id="6" name="Shape 3"/>
          <p:cNvSpPr/>
          <p:nvPr/>
        </p:nvSpPr>
        <p:spPr>
          <a:xfrm>
            <a:off x="7818120" y="2971800"/>
            <a:ext cx="3730752" cy="1508760"/>
          </a:xfrm>
          <a:prstGeom prst="roundRect">
            <a:avLst>
              <a:gd name="adj" fmla="val 3636"/>
            </a:avLst>
          </a:prstGeom>
          <a:solidFill>
            <a:srgbClr val="E8F0EF"/>
          </a:solidFill>
          <a:ln w="15240">
            <a:solidFill>
              <a:srgbClr val="0D5C63"/>
            </a:solidFill>
            <a:prstDash val="solid"/>
          </a:ln>
        </p:spPr>
      </p:sp>
      <p:sp>
        <p:nvSpPr>
          <p:cNvPr id="7" name="Text 4"/>
          <p:cNvSpPr txBox="1"/>
          <p:nvPr/>
        </p:nvSpPr>
        <p:spPr>
          <a:xfrm>
            <a:off x="8092440" y="3127248"/>
            <a:ext cx="3200400" cy="411480"/>
          </a:xfrm>
          <a:prstGeom prst="rect">
            <a:avLst/>
          </a:prstGeom>
          <a:noFill/>
          <a:ln/>
        </p:spPr>
        <p:txBody>
          <a:bodyPr wrap="square" lIns="0" tIns="0" rIns="0" bIns="0" rtlCol="0" anchor="ctr"/>
          <a:lstStyle/>
          <a:p>
            <a:pPr indent="0" marL="0">
              <a:buNone/>
            </a:pPr>
            <a:r>
              <a:rPr lang="en-US" sz="2400" b="1" dirty="0">
                <a:solidFill>
                  <a:srgbClr val="0D5C63"/>
                </a:solidFill>
                <a:latin typeface="Cambria" pitchFamily="34" charset="0"/>
                <a:ea typeface="Cambria" pitchFamily="34" charset="-122"/>
                <a:cs typeface="Cambria" pitchFamily="34" charset="-120"/>
              </a:rPr>
              <a:t>Roughly double</a:t>
            </a:r>
            <a:endParaRPr lang="en-US" sz="2400" dirty="0"/>
          </a:p>
        </p:txBody>
      </p:sp>
      <p:sp>
        <p:nvSpPr>
          <p:cNvPr id="8" name="Text 5"/>
          <p:cNvSpPr txBox="1"/>
          <p:nvPr/>
        </p:nvSpPr>
        <p:spPr>
          <a:xfrm>
            <a:off x="8092440" y="3547872"/>
            <a:ext cx="3200400" cy="822960"/>
          </a:xfrm>
          <a:prstGeom prst="rect">
            <a:avLst/>
          </a:prstGeom>
          <a:noFill/>
          <a:ln/>
        </p:spPr>
        <p:txBody>
          <a:bodyPr wrap="square" lIns="0" tIns="0" rIns="0" bIns="0" rtlCol="0" anchor="t"/>
          <a:lstStyle/>
          <a:p>
            <a:pPr indent="0" marL="0">
              <a:buNone/>
            </a:pPr>
            <a:r>
              <a:rPr lang="en-US" sz="1250" dirty="0">
                <a:solidFill>
                  <a:srgbClr val="4F545B"/>
                </a:solidFill>
                <a:latin typeface="Calibri" pitchFamily="34" charset="0"/>
                <a:ea typeface="Calibri" pitchFamily="34" charset="-122"/>
                <a:cs typeface="Calibri" pitchFamily="34" charset="-120"/>
              </a:rPr>
              <a:t>So the supervisor's redirection was empirically justified, not simply accepted. Asking a vision model for an emotion directly performs poorly on line art.</a:t>
            </a:r>
            <a:endParaRPr lang="en-US" sz="1250" dirty="0"/>
          </a:p>
        </p:txBody>
      </p:sp>
      <p:sp>
        <p:nvSpPr>
          <p:cNvPr id="9" name="Shape 6"/>
          <p:cNvSpPr/>
          <p:nvPr/>
        </p:nvSpPr>
        <p:spPr>
          <a:xfrm>
            <a:off x="7818120" y="4663440"/>
            <a:ext cx="3730752" cy="1463040"/>
          </a:xfrm>
          <a:prstGeom prst="roundRect">
            <a:avLst>
              <a:gd name="adj" fmla="val 3750"/>
            </a:avLst>
          </a:prstGeom>
          <a:solidFill>
            <a:srgbClr val="FFFFFF"/>
          </a:solidFill>
          <a:ln w="12700">
            <a:solidFill>
              <a:srgbClr val="DDD8CF"/>
            </a:solidFill>
            <a:prstDash val="solid"/>
          </a:ln>
        </p:spPr>
      </p:sp>
      <p:sp>
        <p:nvSpPr>
          <p:cNvPr id="10" name="Text 7"/>
          <p:cNvSpPr txBox="1"/>
          <p:nvPr/>
        </p:nvSpPr>
        <p:spPr>
          <a:xfrm>
            <a:off x="8092440" y="4828032"/>
            <a:ext cx="3200400" cy="457200"/>
          </a:xfrm>
          <a:prstGeom prst="rect">
            <a:avLst/>
          </a:prstGeom>
          <a:noFill/>
          <a:ln/>
        </p:spPr>
        <p:txBody>
          <a:bodyPr wrap="square" lIns="0" tIns="0" rIns="0" bIns="0" rtlCol="0" anchor="ctr"/>
          <a:lstStyle/>
          <a:p>
            <a:pPr indent="0" marL="0">
              <a:buNone/>
            </a:pPr>
            <a:r>
              <a:rPr lang="en-US" sz="2200" b="1" dirty="0">
                <a:solidFill>
                  <a:srgbClr val="14161A"/>
                </a:solidFill>
                <a:latin typeface="Cambria" pitchFamily="34" charset="0"/>
                <a:ea typeface="Cambria" pitchFamily="34" charset="-122"/>
                <a:cs typeface="Cambria" pitchFamily="34" charset="-120"/>
              </a:rPr>
              <a:t>83.7% vs 74.2%</a:t>
            </a:r>
            <a:endParaRPr lang="en-US" sz="2200" dirty="0"/>
          </a:p>
        </p:txBody>
      </p:sp>
      <p:sp>
        <p:nvSpPr>
          <p:cNvPr id="11" name="Text 8"/>
          <p:cNvSpPr txBox="1"/>
          <p:nvPr/>
        </p:nvSpPr>
        <p:spPr>
          <a:xfrm>
            <a:off x="8092440" y="5303520"/>
            <a:ext cx="3200400" cy="73152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on valence–arousal similarity — the measure that cannot separate faces from scenes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BUILT ALONGSIDE</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A live instrument, not a screenshot</a:t>
            </a:r>
            <a:endParaRPr lang="en-US" sz="3400" dirty="0"/>
          </a:p>
        </p:txBody>
      </p:sp>
      <p:sp>
        <p:nvSpPr>
          <p:cNvPr id="4" name="Text 2"/>
          <p:cNvSpPr txBox="1"/>
          <p:nvPr/>
        </p:nvSpPr>
        <p:spPr>
          <a:xfrm>
            <a:off x="640080" y="1737360"/>
            <a:ext cx="10881360" cy="594360"/>
          </a:xfrm>
          <a:prstGeom prst="rect">
            <a:avLst/>
          </a:prstGeom>
          <a:noFill/>
          <a:ln/>
        </p:spPr>
        <p:txBody>
          <a:bodyPr wrap="square" lIns="0" tIns="0" rIns="0" bIns="0" rtlCol="0" anchor="t"/>
          <a:lstStyle/>
          <a:p>
            <a:pPr indent="0" marL="0">
              <a:buNone/>
            </a:pPr>
            <a:r>
              <a:rPr lang="en-US" sz="1600" dirty="0">
                <a:solidFill>
                  <a:srgbClr val="4F545B"/>
                </a:solidFill>
                <a:latin typeface="Calibri" pitchFamily="34" charset="0"/>
                <a:ea typeface="Calibri" pitchFamily="34" charset="-122"/>
                <a:cs typeface="Calibri" pitchFamily="34" charset="-120"/>
              </a:rPr>
              <a:t>The pipeline runs in a browser: pick a drawing or upload one, watch the five answers appear, see both readings side by side, and see the similarity scored against chance.</a:t>
            </a:r>
            <a:endParaRPr lang="en-US" sz="1600" dirty="0"/>
          </a:p>
        </p:txBody>
      </p:sp>
      <p:sp>
        <p:nvSpPr>
          <p:cNvPr id="5" name="Shape 3"/>
          <p:cNvSpPr/>
          <p:nvPr/>
        </p:nvSpPr>
        <p:spPr>
          <a:xfrm>
            <a:off x="640080" y="2514600"/>
            <a:ext cx="3429000" cy="1737360"/>
          </a:xfrm>
          <a:prstGeom prst="roundRect">
            <a:avLst>
              <a:gd name="adj" fmla="val 3158"/>
            </a:avLst>
          </a:prstGeom>
          <a:solidFill>
            <a:srgbClr val="FFFFFF"/>
          </a:solidFill>
          <a:ln w="12700">
            <a:solidFill>
              <a:srgbClr val="DDD8CF"/>
            </a:solidFill>
            <a:prstDash val="solid"/>
          </a:ln>
        </p:spPr>
      </p:sp>
      <p:sp>
        <p:nvSpPr>
          <p:cNvPr id="6" name="Text 4"/>
          <p:cNvSpPr txBox="1"/>
          <p:nvPr/>
        </p:nvSpPr>
        <p:spPr>
          <a:xfrm>
            <a:off x="914400" y="2724912"/>
            <a:ext cx="2880360" cy="365760"/>
          </a:xfrm>
          <a:prstGeom prst="rect">
            <a:avLst/>
          </a:prstGeom>
          <a:noFill/>
          <a:ln/>
        </p:spPr>
        <p:txBody>
          <a:bodyPr wrap="square" lIns="0" tIns="0" rIns="0" bIns="0" rtlCol="0" anchor="ctr"/>
          <a:lstStyle/>
          <a:p>
            <a:pPr indent="0" marL="0">
              <a:buNone/>
            </a:pPr>
            <a:r>
              <a:rPr lang="en-US" sz="1500" b="1" dirty="0">
                <a:solidFill>
                  <a:srgbClr val="0D5C63"/>
                </a:solidFill>
                <a:latin typeface="Calibri" pitchFamily="34" charset="0"/>
                <a:ea typeface="Calibri" pitchFamily="34" charset="-122"/>
                <a:cs typeface="Calibri" pitchFamily="34" charset="-120"/>
              </a:rPr>
              <a:t>Choose a drawing</a:t>
            </a:r>
            <a:endParaRPr lang="en-US" sz="1500" dirty="0"/>
          </a:p>
        </p:txBody>
      </p:sp>
      <p:sp>
        <p:nvSpPr>
          <p:cNvPr id="7" name="Text 5"/>
          <p:cNvSpPr txBox="1"/>
          <p:nvPr/>
        </p:nvSpPr>
        <p:spPr>
          <a:xfrm>
            <a:off x="914400" y="3154680"/>
            <a:ext cx="2880360" cy="96012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from the dataset, or upload your own image</a:t>
            </a:r>
            <a:endParaRPr lang="en-US" sz="1300" dirty="0"/>
          </a:p>
        </p:txBody>
      </p:sp>
      <p:sp>
        <p:nvSpPr>
          <p:cNvPr id="8" name="Shape 6"/>
          <p:cNvSpPr/>
          <p:nvPr/>
        </p:nvSpPr>
        <p:spPr>
          <a:xfrm>
            <a:off x="4343400" y="2514600"/>
            <a:ext cx="3429000" cy="1737360"/>
          </a:xfrm>
          <a:prstGeom prst="roundRect">
            <a:avLst>
              <a:gd name="adj" fmla="val 3158"/>
            </a:avLst>
          </a:prstGeom>
          <a:solidFill>
            <a:srgbClr val="FFFFFF"/>
          </a:solidFill>
          <a:ln w="12700">
            <a:solidFill>
              <a:srgbClr val="DDD8CF"/>
            </a:solidFill>
            <a:prstDash val="solid"/>
          </a:ln>
        </p:spPr>
      </p:sp>
      <p:sp>
        <p:nvSpPr>
          <p:cNvPr id="9" name="Text 7"/>
          <p:cNvSpPr txBox="1"/>
          <p:nvPr/>
        </p:nvSpPr>
        <p:spPr>
          <a:xfrm>
            <a:off x="4617720" y="2724912"/>
            <a:ext cx="2880360" cy="365760"/>
          </a:xfrm>
          <a:prstGeom prst="rect">
            <a:avLst/>
          </a:prstGeom>
          <a:noFill/>
          <a:ln/>
        </p:spPr>
        <p:txBody>
          <a:bodyPr wrap="square" lIns="0" tIns="0" rIns="0" bIns="0" rtlCol="0" anchor="ctr"/>
          <a:lstStyle/>
          <a:p>
            <a:pPr indent="0" marL="0">
              <a:buNone/>
            </a:pPr>
            <a:r>
              <a:rPr lang="en-US" sz="1500" b="1" dirty="0">
                <a:solidFill>
                  <a:srgbClr val="0D5C63"/>
                </a:solidFill>
                <a:latin typeface="Calibri" pitchFamily="34" charset="0"/>
                <a:ea typeface="Calibri" pitchFamily="34" charset="-122"/>
                <a:cs typeface="Calibri" pitchFamily="34" charset="-120"/>
              </a:rPr>
              <a:t>Watch it described</a:t>
            </a:r>
            <a:endParaRPr lang="en-US" sz="1500" dirty="0"/>
          </a:p>
        </p:txBody>
      </p:sp>
      <p:sp>
        <p:nvSpPr>
          <p:cNvPr id="10" name="Text 8"/>
          <p:cNvSpPr txBox="1"/>
          <p:nvPr/>
        </p:nvSpPr>
        <p:spPr>
          <a:xfrm>
            <a:off x="4617720" y="3154680"/>
            <a:ext cx="2880360" cy="96012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five factual answers — emotion never asked</a:t>
            </a:r>
            <a:endParaRPr lang="en-US" sz="1300" dirty="0"/>
          </a:p>
        </p:txBody>
      </p:sp>
      <p:sp>
        <p:nvSpPr>
          <p:cNvPr id="11" name="Shape 9"/>
          <p:cNvSpPr/>
          <p:nvPr/>
        </p:nvSpPr>
        <p:spPr>
          <a:xfrm>
            <a:off x="8046720" y="2514600"/>
            <a:ext cx="3429000" cy="1737360"/>
          </a:xfrm>
          <a:prstGeom prst="roundRect">
            <a:avLst>
              <a:gd name="adj" fmla="val 3158"/>
            </a:avLst>
          </a:prstGeom>
          <a:solidFill>
            <a:srgbClr val="FFFFFF"/>
          </a:solidFill>
          <a:ln w="12700">
            <a:solidFill>
              <a:srgbClr val="DDD8CF"/>
            </a:solidFill>
            <a:prstDash val="solid"/>
          </a:ln>
        </p:spPr>
      </p:sp>
      <p:sp>
        <p:nvSpPr>
          <p:cNvPr id="12" name="Text 10"/>
          <p:cNvSpPr txBox="1"/>
          <p:nvPr/>
        </p:nvSpPr>
        <p:spPr>
          <a:xfrm>
            <a:off x="8321040" y="2724912"/>
            <a:ext cx="2880360" cy="365760"/>
          </a:xfrm>
          <a:prstGeom prst="rect">
            <a:avLst/>
          </a:prstGeom>
          <a:noFill/>
          <a:ln/>
        </p:spPr>
        <p:txBody>
          <a:bodyPr wrap="square" lIns="0" tIns="0" rIns="0" bIns="0" rtlCol="0" anchor="ctr"/>
          <a:lstStyle/>
          <a:p>
            <a:pPr indent="0" marL="0">
              <a:buNone/>
            </a:pPr>
            <a:r>
              <a:rPr lang="en-US" sz="1500" b="1" dirty="0">
                <a:solidFill>
                  <a:srgbClr val="0D5C63"/>
                </a:solidFill>
                <a:latin typeface="Calibri" pitchFamily="34" charset="0"/>
                <a:ea typeface="Calibri" pitchFamily="34" charset="-122"/>
                <a:cs typeface="Calibri" pitchFamily="34" charset="-120"/>
              </a:rPr>
              <a:t>Compare</a:t>
            </a:r>
            <a:endParaRPr lang="en-US" sz="1500" dirty="0"/>
          </a:p>
        </p:txBody>
      </p:sp>
      <p:sp>
        <p:nvSpPr>
          <p:cNvPr id="13" name="Text 11"/>
          <p:cNvSpPr txBox="1"/>
          <p:nvPr/>
        </p:nvSpPr>
        <p:spPr>
          <a:xfrm>
            <a:off x="8321040" y="3154680"/>
            <a:ext cx="2880360" cy="960120"/>
          </a:xfrm>
          <a:prstGeom prst="rect">
            <a:avLst/>
          </a:prstGeom>
          <a:noFill/>
          <a:ln/>
        </p:spPr>
        <p:txBody>
          <a:bodyPr wrap="square" lIns="0" tIns="0" rIns="0" bIns="0" rtlCol="0" anchor="t"/>
          <a:lstStyle/>
          <a:p>
            <a:pPr indent="0" marL="0">
              <a:buNone/>
            </a:pPr>
            <a:r>
              <a:rPr lang="en-US" sz="1300" dirty="0">
                <a:solidFill>
                  <a:srgbClr val="4F545B"/>
                </a:solidFill>
                <a:latin typeface="Calibri" pitchFamily="34" charset="0"/>
                <a:ea typeface="Calibri" pitchFamily="34" charset="-122"/>
                <a:cs typeface="Calibri" pitchFamily="34" charset="-120"/>
              </a:rPr>
              <a:t>both readings, and the score against chance</a:t>
            </a:r>
            <a:endParaRPr lang="en-US" sz="1300" dirty="0"/>
          </a:p>
        </p:txBody>
      </p:sp>
      <p:sp>
        <p:nvSpPr>
          <p:cNvPr id="14" name="Shape 12"/>
          <p:cNvSpPr/>
          <p:nvPr/>
        </p:nvSpPr>
        <p:spPr>
          <a:xfrm>
            <a:off x="640080" y="4526280"/>
            <a:ext cx="10908792" cy="1645920"/>
          </a:xfrm>
          <a:prstGeom prst="roundRect">
            <a:avLst>
              <a:gd name="adj" fmla="val 3333"/>
            </a:avLst>
          </a:prstGeom>
          <a:solidFill>
            <a:srgbClr val="E8F0EF"/>
          </a:solidFill>
          <a:ln w="15240">
            <a:solidFill>
              <a:srgbClr val="0D5C63"/>
            </a:solidFill>
            <a:prstDash val="solid"/>
          </a:ln>
        </p:spPr>
      </p:sp>
      <p:sp>
        <p:nvSpPr>
          <p:cNvPr id="15" name="Text 13"/>
          <p:cNvSpPr txBox="1"/>
          <p:nvPr/>
        </p:nvSpPr>
        <p:spPr>
          <a:xfrm>
            <a:off x="1005840" y="4681728"/>
            <a:ext cx="10149840" cy="365760"/>
          </a:xfrm>
          <a:prstGeom prst="rect">
            <a:avLst/>
          </a:prstGeom>
          <a:noFill/>
          <a:ln/>
        </p:spPr>
        <p:txBody>
          <a:bodyPr wrap="square" lIns="0" tIns="0" rIns="0" bIns="0" rtlCol="0" anchor="ctr"/>
          <a:lstStyle/>
          <a:p>
            <a:pPr indent="0" marL="0">
              <a:buNone/>
            </a:pPr>
            <a:r>
              <a:rPr lang="en-US" sz="1500" b="1" dirty="0">
                <a:solidFill>
                  <a:srgbClr val="0D5C63"/>
                </a:solidFill>
                <a:latin typeface="Calibri" pitchFamily="34" charset="0"/>
                <a:ea typeface="Calibri" pitchFamily="34" charset="-122"/>
                <a:cs typeface="Calibri" pitchFamily="34" charset="-120"/>
              </a:rPr>
              <a:t>Every number it shows is referenced to chance</a:t>
            </a:r>
            <a:endParaRPr lang="en-US" sz="1500" dirty="0"/>
          </a:p>
        </p:txBody>
      </p:sp>
      <p:sp>
        <p:nvSpPr>
          <p:cNvPr id="16" name="Text 14"/>
          <p:cNvSpPr txBox="1"/>
          <p:nvPr/>
        </p:nvSpPr>
        <p:spPr>
          <a:xfrm>
            <a:off x="1005840" y="5047488"/>
            <a:ext cx="10149840" cy="105156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4F545B"/>
                </a:solidFill>
                <a:latin typeface="Calibri" pitchFamily="34" charset="0"/>
                <a:ea typeface="Calibri" pitchFamily="34" charset="-122"/>
                <a:cs typeface="Calibri" pitchFamily="34" charset="-120"/>
              </a:rPr>
              <a:t>the axis starts at the measure's real floor of 41, not at 0</a:t>
            </a:r>
            <a:endParaRPr lang="en-US" sz="1300" dirty="0"/>
          </a:p>
          <a:p>
            <a:pPr marL="342900" indent="-342900">
              <a:spcAft>
                <a:spcPts val="200"/>
              </a:spcAft>
              <a:buSzPct val="100000"/>
              <a:buChar char="•"/>
            </a:pPr>
            <a:r>
              <a:rPr lang="en-US" sz="1300" dirty="0">
                <a:solidFill>
                  <a:srgbClr val="4F545B"/>
                </a:solidFill>
                <a:latin typeface="Calibri" pitchFamily="34" charset="0"/>
                <a:ea typeface="Calibri" pitchFamily="34" charset="-122"/>
                <a:cs typeface="Calibri" pitchFamily="34" charset="-120"/>
              </a:rPr>
              <a:t>the middle half of random pairings is bracketed on the scale</a:t>
            </a:r>
            <a:endParaRPr lang="en-US" sz="1300" dirty="0"/>
          </a:p>
          <a:p>
            <a:pPr marL="342900" indent="-342900">
              <a:spcAft>
                <a:spcPts val="200"/>
              </a:spcAft>
              <a:buSzPct val="100000"/>
              <a:buChar char="•"/>
            </a:pPr>
            <a:r>
              <a:rPr lang="en-US" sz="1300" dirty="0">
                <a:solidFill>
                  <a:srgbClr val="4F545B"/>
                </a:solidFill>
                <a:latin typeface="Calibri" pitchFamily="34" charset="0"/>
                <a:ea typeface="Calibri" pitchFamily="34" charset="-122"/>
                <a:cs typeface="Calibri" pitchFamily="34" charset="-120"/>
              </a:rPr>
              <a:t>the headline reads “closer than N% of random pairings”</a:t>
            </a:r>
            <a:endParaRPr lang="en-US" sz="1300" dirty="0"/>
          </a:p>
          <a:p>
            <a:pPr marL="342900" indent="-342900">
              <a:spcAft>
                <a:spcPts val="200"/>
              </a:spcAft>
              <a:buSzPct val="100000"/>
              <a:buChar char="•"/>
            </a:pPr>
            <a:r>
              <a:rPr lang="en-US" sz="1300" dirty="0">
                <a:solidFill>
                  <a:srgbClr val="4F545B"/>
                </a:solidFill>
                <a:latin typeface="Calibri" pitchFamily="34" charset="0"/>
                <a:ea typeface="Calibri" pitchFamily="34" charset="-122"/>
                <a:cs typeface="Calibri" pitchFamily="34" charset="-120"/>
              </a:rPr>
              <a:t>nothing typed or uploaded is stored, and no visitor IP is logged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DATA PROTECTION</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Redacting names without breaking the data</a:t>
            </a:r>
            <a:endParaRPr lang="en-US" sz="3400" dirty="0"/>
          </a:p>
        </p:txBody>
      </p:sp>
      <p:sp>
        <p:nvSpPr>
          <p:cNvPr id="4" name="Text 2"/>
          <p:cNvSpPr txBox="1"/>
          <p:nvPr/>
        </p:nvSpPr>
        <p:spPr>
          <a:xfrm>
            <a:off x="640080" y="1737360"/>
            <a:ext cx="10881360" cy="594360"/>
          </a:xfrm>
          <a:prstGeom prst="rect">
            <a:avLst/>
          </a:prstGeom>
          <a:noFill/>
          <a:ln/>
        </p:spPr>
        <p:txBody>
          <a:bodyPr wrap="square" lIns="0" tIns="0" rIns="0" bIns="0" rtlCol="0" anchor="t"/>
          <a:lstStyle/>
          <a:p>
            <a:pPr indent="0" marL="0">
              <a:buNone/>
            </a:pPr>
            <a:r>
              <a:rPr lang="en-US" sz="1500" dirty="0">
                <a:solidFill>
                  <a:srgbClr val="4F545B"/>
                </a:solidFill>
                <a:latin typeface="Calibri" pitchFamily="34" charset="0"/>
                <a:ea typeface="Calibri" pitchFamily="34" charset="-122"/>
                <a:cs typeface="Calibri" pitchFamily="34" charset="-120"/>
              </a:rPr>
              <a:t>Supervisor's direction: redact real names, keep illness and grief content — it is not identifying on its own and it is essential to the analysis — and document the procedure.</a:t>
            </a:r>
            <a:endParaRPr lang="en-US" sz="1500" dirty="0"/>
          </a:p>
        </p:txBody>
      </p:sp>
      <p:sp>
        <p:nvSpPr>
          <p:cNvPr id="5" name="Shape 3"/>
          <p:cNvSpPr/>
          <p:nvPr/>
        </p:nvSpPr>
        <p:spPr>
          <a:xfrm>
            <a:off x="640080" y="2514600"/>
            <a:ext cx="3429000" cy="1874520"/>
          </a:xfrm>
          <a:prstGeom prst="roundRect">
            <a:avLst>
              <a:gd name="adj" fmla="val 2927"/>
            </a:avLst>
          </a:prstGeom>
          <a:solidFill>
            <a:srgbClr val="FFFFFF"/>
          </a:solidFill>
          <a:ln w="12700">
            <a:solidFill>
              <a:srgbClr val="DDD8CF"/>
            </a:solidFill>
            <a:prstDash val="solid"/>
          </a:ln>
        </p:spPr>
      </p:sp>
      <p:sp>
        <p:nvSpPr>
          <p:cNvPr id="6" name="Shape 4"/>
          <p:cNvSpPr/>
          <p:nvPr/>
        </p:nvSpPr>
        <p:spPr>
          <a:xfrm>
            <a:off x="914400" y="2697480"/>
            <a:ext cx="384048" cy="384048"/>
          </a:xfrm>
          <a:prstGeom prst="ellipse">
            <a:avLst/>
          </a:prstGeom>
          <a:solidFill>
            <a:srgbClr val="0D5C63"/>
          </a:solidFill>
          <a:ln/>
        </p:spPr>
      </p:sp>
      <p:sp>
        <p:nvSpPr>
          <p:cNvPr id="7" name="Text 5"/>
          <p:cNvSpPr txBox="1"/>
          <p:nvPr/>
        </p:nvSpPr>
        <p:spPr>
          <a:xfrm>
            <a:off x="914400" y="2697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17320" y="2697480"/>
            <a:ext cx="2377440" cy="384048"/>
          </a:xfrm>
          <a:prstGeom prst="rect">
            <a:avLst/>
          </a:prstGeom>
          <a:noFill/>
          <a:ln/>
        </p:spPr>
        <p:txBody>
          <a:bodyPr wrap="square" lIns="0" tIns="0" rIns="0" bIns="0" rtlCol="0" anchor="ctr"/>
          <a:lstStyle/>
          <a:p>
            <a:pPr indent="0" marL="0">
              <a:buNone/>
            </a:pPr>
            <a:r>
              <a:rPr lang="en-US" sz="1600" b="1" dirty="0">
                <a:solidFill>
                  <a:srgbClr val="14161A"/>
                </a:solidFill>
                <a:latin typeface="Calibri" pitchFamily="34" charset="0"/>
                <a:ea typeface="Calibri" pitchFamily="34" charset="-122"/>
                <a:cs typeface="Calibri" pitchFamily="34" charset="-120"/>
              </a:rPr>
              <a:t>Detect</a:t>
            </a:r>
            <a:endParaRPr lang="en-US" sz="1600" dirty="0"/>
          </a:p>
        </p:txBody>
      </p:sp>
      <p:sp>
        <p:nvSpPr>
          <p:cNvPr id="9" name="Text 7"/>
          <p:cNvSpPr txBox="1"/>
          <p:nvPr/>
        </p:nvSpPr>
        <p:spPr>
          <a:xfrm>
            <a:off x="914400" y="3218688"/>
            <a:ext cx="2880360" cy="109728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77% of the corpus is lower case, so capitals alone would miss most names. A 7,944-name gazetteer, a 236,000-word dictionary, and naming phrases.</a:t>
            </a:r>
            <a:endParaRPr lang="en-US" sz="1200" dirty="0"/>
          </a:p>
        </p:txBody>
      </p:sp>
      <p:sp>
        <p:nvSpPr>
          <p:cNvPr id="10" name="Shape 8"/>
          <p:cNvSpPr/>
          <p:nvPr/>
        </p:nvSpPr>
        <p:spPr>
          <a:xfrm>
            <a:off x="4343400" y="2514600"/>
            <a:ext cx="3429000" cy="1874520"/>
          </a:xfrm>
          <a:prstGeom prst="roundRect">
            <a:avLst>
              <a:gd name="adj" fmla="val 2927"/>
            </a:avLst>
          </a:prstGeom>
          <a:solidFill>
            <a:srgbClr val="FFFFFF"/>
          </a:solidFill>
          <a:ln w="12700">
            <a:solidFill>
              <a:srgbClr val="DDD8CF"/>
            </a:solidFill>
            <a:prstDash val="solid"/>
          </a:ln>
        </p:spPr>
      </p:sp>
      <p:sp>
        <p:nvSpPr>
          <p:cNvPr id="11" name="Shape 9"/>
          <p:cNvSpPr/>
          <p:nvPr/>
        </p:nvSpPr>
        <p:spPr>
          <a:xfrm>
            <a:off x="4617720" y="2697480"/>
            <a:ext cx="384048" cy="384048"/>
          </a:xfrm>
          <a:prstGeom prst="ellipse">
            <a:avLst/>
          </a:prstGeom>
          <a:solidFill>
            <a:srgbClr val="B87614"/>
          </a:solidFill>
          <a:ln/>
        </p:spPr>
      </p:sp>
      <p:sp>
        <p:nvSpPr>
          <p:cNvPr id="12" name="Text 10"/>
          <p:cNvSpPr txBox="1"/>
          <p:nvPr/>
        </p:nvSpPr>
        <p:spPr>
          <a:xfrm>
            <a:off x="4617720" y="2697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20640" y="2697480"/>
            <a:ext cx="2377440" cy="384048"/>
          </a:xfrm>
          <a:prstGeom prst="rect">
            <a:avLst/>
          </a:prstGeom>
          <a:noFill/>
          <a:ln/>
        </p:spPr>
        <p:txBody>
          <a:bodyPr wrap="square" lIns="0" tIns="0" rIns="0" bIns="0" rtlCol="0" anchor="ctr"/>
          <a:lstStyle/>
          <a:p>
            <a:pPr indent="0" marL="0">
              <a:buNone/>
            </a:pPr>
            <a:r>
              <a:rPr lang="en-US" sz="1600" b="1" dirty="0">
                <a:solidFill>
                  <a:srgbClr val="14161A"/>
                </a:solidFill>
                <a:latin typeface="Calibri" pitchFamily="34" charset="0"/>
                <a:ea typeface="Calibri" pitchFamily="34" charset="-122"/>
                <a:cs typeface="Calibri" pitchFamily="34" charset="-120"/>
              </a:rPr>
              <a:t>Review</a:t>
            </a:r>
            <a:endParaRPr lang="en-US" sz="1600" dirty="0"/>
          </a:p>
        </p:txBody>
      </p:sp>
      <p:sp>
        <p:nvSpPr>
          <p:cNvPr id="14" name="Text 12"/>
          <p:cNvSpPr txBox="1"/>
          <p:nvPr/>
        </p:nvSpPr>
        <p:spPr>
          <a:xfrm>
            <a:off x="4617720" y="3218688"/>
            <a:ext cx="2880360" cy="109728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Every candidate carries a recorded decision and a reason. The audit fails if anything is unreviewed.</a:t>
            </a:r>
            <a:endParaRPr lang="en-US" sz="1200" dirty="0"/>
          </a:p>
        </p:txBody>
      </p:sp>
      <p:sp>
        <p:nvSpPr>
          <p:cNvPr id="15" name="Shape 13"/>
          <p:cNvSpPr/>
          <p:nvPr/>
        </p:nvSpPr>
        <p:spPr>
          <a:xfrm>
            <a:off x="8046720" y="2514600"/>
            <a:ext cx="3429000" cy="1874520"/>
          </a:xfrm>
          <a:prstGeom prst="roundRect">
            <a:avLst>
              <a:gd name="adj" fmla="val 2927"/>
            </a:avLst>
          </a:prstGeom>
          <a:solidFill>
            <a:srgbClr val="FFFFFF"/>
          </a:solidFill>
          <a:ln w="12700">
            <a:solidFill>
              <a:srgbClr val="DDD8CF"/>
            </a:solidFill>
            <a:prstDash val="solid"/>
          </a:ln>
        </p:spPr>
      </p:sp>
      <p:sp>
        <p:nvSpPr>
          <p:cNvPr id="16" name="Shape 14"/>
          <p:cNvSpPr/>
          <p:nvPr/>
        </p:nvSpPr>
        <p:spPr>
          <a:xfrm>
            <a:off x="8321040" y="2697480"/>
            <a:ext cx="384048" cy="384048"/>
          </a:xfrm>
          <a:prstGeom prst="ellipse">
            <a:avLst/>
          </a:prstGeom>
          <a:solidFill>
            <a:srgbClr val="2F6FD0"/>
          </a:solidFill>
          <a:ln/>
        </p:spPr>
      </p:sp>
      <p:sp>
        <p:nvSpPr>
          <p:cNvPr id="17" name="Text 15"/>
          <p:cNvSpPr txBox="1"/>
          <p:nvPr/>
        </p:nvSpPr>
        <p:spPr>
          <a:xfrm>
            <a:off x="8321040" y="2697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23960" y="2697480"/>
            <a:ext cx="2377440" cy="384048"/>
          </a:xfrm>
          <a:prstGeom prst="rect">
            <a:avLst/>
          </a:prstGeom>
          <a:noFill/>
          <a:ln/>
        </p:spPr>
        <p:txBody>
          <a:bodyPr wrap="square" lIns="0" tIns="0" rIns="0" bIns="0" rtlCol="0" anchor="ctr"/>
          <a:lstStyle/>
          <a:p>
            <a:pPr indent="0" marL="0">
              <a:buNone/>
            </a:pPr>
            <a:r>
              <a:rPr lang="en-US" sz="1600" b="1" dirty="0">
                <a:solidFill>
                  <a:srgbClr val="14161A"/>
                </a:solidFill>
                <a:latin typeface="Calibri" pitchFamily="34" charset="0"/>
                <a:ea typeface="Calibri" pitchFamily="34" charset="-122"/>
                <a:cs typeface="Calibri" pitchFamily="34" charset="-120"/>
              </a:rPr>
              <a:t>Apply</a:t>
            </a:r>
            <a:endParaRPr lang="en-US" sz="1600" dirty="0"/>
          </a:p>
        </p:txBody>
      </p:sp>
      <p:sp>
        <p:nvSpPr>
          <p:cNvPr id="19" name="Text 17"/>
          <p:cNvSpPr txBox="1"/>
          <p:nvPr/>
        </p:nvSpPr>
        <p:spPr>
          <a:xfrm>
            <a:off x="8321040" y="3218688"/>
            <a:ext cx="2880360" cy="109728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Scoped to the specific record each name was reviewed in.</a:t>
            </a:r>
            <a:endParaRPr lang="en-US" sz="1200" dirty="0"/>
          </a:p>
        </p:txBody>
      </p:sp>
      <p:sp>
        <p:nvSpPr>
          <p:cNvPr id="20" name="Shape 18"/>
          <p:cNvSpPr/>
          <p:nvPr/>
        </p:nvSpPr>
        <p:spPr>
          <a:xfrm>
            <a:off x="640080" y="4736592"/>
            <a:ext cx="5349240" cy="1463040"/>
          </a:xfrm>
          <a:prstGeom prst="roundRect">
            <a:avLst>
              <a:gd name="adj" fmla="val 3750"/>
            </a:avLst>
          </a:prstGeom>
          <a:solidFill>
            <a:srgbClr val="FBF3E7"/>
          </a:solidFill>
          <a:ln w="12700">
            <a:solidFill>
              <a:srgbClr val="B87614"/>
            </a:solidFill>
            <a:prstDash val="solid"/>
          </a:ln>
        </p:spPr>
      </p:sp>
      <p:sp>
        <p:nvSpPr>
          <p:cNvPr id="21" name="Text 19"/>
          <p:cNvSpPr txBox="1"/>
          <p:nvPr/>
        </p:nvSpPr>
        <p:spPr>
          <a:xfrm>
            <a:off x="960120" y="4873752"/>
            <a:ext cx="4754880" cy="320040"/>
          </a:xfrm>
          <a:prstGeom prst="rect">
            <a:avLst/>
          </a:prstGeom>
          <a:noFill/>
          <a:ln/>
        </p:spPr>
        <p:txBody>
          <a:bodyPr wrap="square" lIns="0" tIns="0" rIns="0" bIns="0" rtlCol="0" anchor="ctr"/>
          <a:lstStyle/>
          <a:p>
            <a:pPr indent="0" marL="0">
              <a:buNone/>
            </a:pPr>
            <a:r>
              <a:rPr lang="en-US" sz="1400" b="1" dirty="0">
                <a:solidFill>
                  <a:srgbClr val="B87614"/>
                </a:solidFill>
                <a:latin typeface="Calibri" pitchFamily="34" charset="0"/>
                <a:ea typeface="Calibri" pitchFamily="34" charset="-122"/>
                <a:cs typeface="Calibri" pitchFamily="34" charset="-120"/>
              </a:rPr>
              <a:t>Two errors the audit caught</a:t>
            </a:r>
            <a:endParaRPr lang="en-US" sz="1400" dirty="0"/>
          </a:p>
        </p:txBody>
      </p:sp>
      <p:sp>
        <p:nvSpPr>
          <p:cNvPr id="22" name="Text 20"/>
          <p:cNvSpPr txBox="1"/>
          <p:nvPr/>
        </p:nvSpPr>
        <p:spPr>
          <a:xfrm>
            <a:off x="960120" y="5212080"/>
            <a:ext cx="4754880" cy="91440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4F545B"/>
                </a:solidFill>
                <a:latin typeface="Calibri" pitchFamily="34" charset="0"/>
                <a:ea typeface="Calibri" pitchFamily="34" charset="-122"/>
                <a:cs typeface="Calibri" pitchFamily="34" charset="-120"/>
              </a:rPr>
              <a:t>A bare name list destroyed “Jack Frost” and “woolly mammoth”.</a:t>
            </a:r>
            <a:endParaRPr lang="en-US" sz="1200" dirty="0"/>
          </a:p>
          <a:p>
            <a:pPr marL="342900" indent="-342900">
              <a:spcAft>
                <a:spcPts val="300"/>
              </a:spcAft>
              <a:buSzPct val="100000"/>
              <a:buChar char="•"/>
            </a:pPr>
            <a:r>
              <a:rPr lang="en-US" sz="1200" dirty="0">
                <a:solidFill>
                  <a:srgbClr val="4F545B"/>
                </a:solidFill>
                <a:latin typeface="Calibri" pitchFamily="34" charset="0"/>
                <a:ea typeface="Calibri" pitchFamily="34" charset="-122"/>
                <a:cs typeface="Calibri" pitchFamily="34" charset="-120"/>
              </a:rPr>
              <a:t>Redaction forged a duplicate: two different names both became [name].</a:t>
            </a:r>
            <a:endParaRPr lang="en-US" sz="1200" dirty="0"/>
          </a:p>
        </p:txBody>
      </p:sp>
      <p:sp>
        <p:nvSpPr>
          <p:cNvPr id="23" name="Shape 21"/>
          <p:cNvSpPr/>
          <p:nvPr/>
        </p:nvSpPr>
        <p:spPr>
          <a:xfrm>
            <a:off x="6263640" y="4736592"/>
            <a:ext cx="5285232" cy="1463040"/>
          </a:xfrm>
          <a:prstGeom prst="roundRect">
            <a:avLst>
              <a:gd name="adj" fmla="val 3750"/>
            </a:avLst>
          </a:prstGeom>
          <a:solidFill>
            <a:srgbClr val="E8F0EF"/>
          </a:solidFill>
          <a:ln w="15240">
            <a:solidFill>
              <a:srgbClr val="0D5C63"/>
            </a:solidFill>
            <a:prstDash val="solid"/>
          </a:ln>
        </p:spPr>
      </p:sp>
      <p:sp>
        <p:nvSpPr>
          <p:cNvPr id="24" name="Text 22"/>
          <p:cNvSpPr txBox="1"/>
          <p:nvPr/>
        </p:nvSpPr>
        <p:spPr>
          <a:xfrm>
            <a:off x="6583680" y="4873752"/>
            <a:ext cx="4663440" cy="320040"/>
          </a:xfrm>
          <a:prstGeom prst="rect">
            <a:avLst/>
          </a:prstGeom>
          <a:noFill/>
          <a:ln/>
        </p:spPr>
        <p:txBody>
          <a:bodyPr wrap="square" lIns="0" tIns="0" rIns="0" bIns="0" rtlCol="0" anchor="ctr"/>
          <a:lstStyle/>
          <a:p>
            <a:pPr indent="0" marL="0">
              <a:buNone/>
            </a:pPr>
            <a:r>
              <a:rPr lang="en-US" sz="1400" b="1" dirty="0">
                <a:solidFill>
                  <a:srgbClr val="0D5C63"/>
                </a:solidFill>
                <a:latin typeface="Calibri" pitchFamily="34" charset="0"/>
                <a:ea typeface="Calibri" pitchFamily="34" charset="-122"/>
                <a:cs typeface="Calibri" pitchFamily="34" charset="-120"/>
              </a:rPr>
              <a:t>Redaction is analytically inert</a:t>
            </a:r>
            <a:endParaRPr lang="en-US" sz="1400" dirty="0"/>
          </a:p>
        </p:txBody>
      </p:sp>
      <p:sp>
        <p:nvSpPr>
          <p:cNvPr id="25" name="Text 23"/>
          <p:cNvSpPr txBox="1"/>
          <p:nvPr/>
        </p:nvSpPr>
        <p:spPr>
          <a:xfrm>
            <a:off x="6583680" y="5212080"/>
            <a:ext cx="4663440" cy="914400"/>
          </a:xfrm>
          <a:prstGeom prst="rect">
            <a:avLst/>
          </a:prstGeom>
          <a:noFill/>
          <a:ln/>
        </p:spPr>
        <p:txBody>
          <a:bodyPr wrap="square" lIns="0" tIns="0" rIns="0" bIns="0" rtlCol="0" anchor="t"/>
          <a:lstStyle/>
          <a:p>
            <a:pPr indent="0" marL="0">
              <a:buNone/>
            </a:pPr>
            <a:r>
              <a:rPr lang="en-US" sz="1200" dirty="0">
                <a:solidFill>
                  <a:srgbClr val="4F545B"/>
                </a:solidFill>
                <a:latin typeface="Calibri" pitchFamily="34" charset="0"/>
                <a:ea typeface="Calibri" pitchFamily="34" charset="-122"/>
                <a:cs typeface="Calibri" pitchFamily="34" charset="-120"/>
              </a:rPr>
              <a:t>Re-running the text model on the redacted prompts moves each probability by at most 0.012 and changes zero emotion readings. 8 records held names; all 1,012 are still shown.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0D5C63"/>
                </a:solidFill>
                <a:latin typeface="Calibri" pitchFamily="34" charset="0"/>
                <a:ea typeface="Calibri" pitchFamily="34" charset="-122"/>
                <a:cs typeface="Calibri" pitchFamily="34" charset="-120"/>
              </a:rPr>
              <a:t>HONESTY</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14161A"/>
                </a:solidFill>
                <a:latin typeface="Cambria" pitchFamily="34" charset="0"/>
                <a:ea typeface="Cambria" pitchFamily="34" charset="-122"/>
                <a:cs typeface="Cambria" pitchFamily="34" charset="-120"/>
              </a:rPr>
              <a:t>What I cannot claim</a:t>
            </a:r>
            <a:endParaRPr lang="en-US" sz="3400" dirty="0"/>
          </a:p>
        </p:txBody>
      </p:sp>
      <p:sp>
        <p:nvSpPr>
          <p:cNvPr id="4" name="Shape 2"/>
          <p:cNvSpPr/>
          <p:nvPr/>
        </p:nvSpPr>
        <p:spPr>
          <a:xfrm>
            <a:off x="640080" y="1828800"/>
            <a:ext cx="10908792" cy="914400"/>
          </a:xfrm>
          <a:prstGeom prst="roundRect">
            <a:avLst>
              <a:gd name="adj" fmla="val 5000"/>
            </a:avLst>
          </a:prstGeom>
          <a:solidFill>
            <a:srgbClr val="FFFFFF"/>
          </a:solidFill>
          <a:ln w="12700">
            <a:solidFill>
              <a:srgbClr val="DDD8CF"/>
            </a:solidFill>
            <a:prstDash val="solid"/>
          </a:ln>
        </p:spPr>
      </p:sp>
      <p:sp>
        <p:nvSpPr>
          <p:cNvPr id="5" name="Shape 3"/>
          <p:cNvSpPr/>
          <p:nvPr/>
        </p:nvSpPr>
        <p:spPr>
          <a:xfrm>
            <a:off x="914400" y="2130552"/>
            <a:ext cx="292608" cy="292608"/>
          </a:xfrm>
          <a:prstGeom prst="ellipse">
            <a:avLst/>
          </a:prstGeom>
          <a:solidFill>
            <a:srgbClr val="C93A3A"/>
          </a:solidFill>
          <a:ln/>
        </p:spPr>
      </p:sp>
      <p:sp>
        <p:nvSpPr>
          <p:cNvPr id="6" name="Text 4"/>
          <p:cNvSpPr txBox="1"/>
          <p:nvPr/>
        </p:nvSpPr>
        <p:spPr>
          <a:xfrm>
            <a:off x="1417320" y="1938528"/>
            <a:ext cx="4206240" cy="713232"/>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This is automated agreement, not human perception</a:t>
            </a:r>
            <a:endParaRPr lang="en-US" sz="1400" dirty="0"/>
          </a:p>
        </p:txBody>
      </p:sp>
      <p:sp>
        <p:nvSpPr>
          <p:cNvPr id="7" name="Text 5"/>
          <p:cNvSpPr txBox="1"/>
          <p:nvPr/>
        </p:nvSpPr>
        <p:spPr>
          <a:xfrm>
            <a:off x="5852160" y="1938528"/>
            <a:ext cx="5486400" cy="713232"/>
          </a:xfrm>
          <a:prstGeom prst="rect">
            <a:avLst/>
          </a:prstGeom>
          <a:noFill/>
          <a:ln/>
        </p:spPr>
        <p:txBody>
          <a:bodyPr wrap="square" lIns="0" tIns="0" rIns="0" bIns="0" rtlCol="0" anchor="ctr"/>
          <a:lstStyle/>
          <a:p>
            <a:pPr indent="0" marL="0">
              <a:buNone/>
            </a:pPr>
            <a:r>
              <a:rPr lang="en-US" sz="1250" dirty="0">
                <a:solidFill>
                  <a:srgbClr val="4F545B"/>
                </a:solidFill>
                <a:latin typeface="Calibri" pitchFamily="34" charset="0"/>
                <a:ea typeface="Calibri" pitchFamily="34" charset="-122"/>
                <a:cs typeface="Calibri" pitchFamily="34" charset="-120"/>
              </a:rPr>
              <a:t>Both readers are models and they disagree in opposite directions: CLIP skews negative on line art, the description model reads 57% of readable faces as happy.</a:t>
            </a:r>
            <a:endParaRPr lang="en-US" sz="1250" dirty="0"/>
          </a:p>
        </p:txBody>
      </p:sp>
      <p:sp>
        <p:nvSpPr>
          <p:cNvPr id="8" name="Shape 6"/>
          <p:cNvSpPr/>
          <p:nvPr/>
        </p:nvSpPr>
        <p:spPr>
          <a:xfrm>
            <a:off x="640080" y="2898648"/>
            <a:ext cx="10908792" cy="914400"/>
          </a:xfrm>
          <a:prstGeom prst="roundRect">
            <a:avLst>
              <a:gd name="adj" fmla="val 5000"/>
            </a:avLst>
          </a:prstGeom>
          <a:solidFill>
            <a:srgbClr val="FFFFFF"/>
          </a:solidFill>
          <a:ln w="12700">
            <a:solidFill>
              <a:srgbClr val="DDD8CF"/>
            </a:solidFill>
            <a:prstDash val="solid"/>
          </a:ln>
        </p:spPr>
      </p:sp>
      <p:sp>
        <p:nvSpPr>
          <p:cNvPr id="9" name="Shape 7"/>
          <p:cNvSpPr/>
          <p:nvPr/>
        </p:nvSpPr>
        <p:spPr>
          <a:xfrm>
            <a:off x="914400" y="3200400"/>
            <a:ext cx="292608" cy="292608"/>
          </a:xfrm>
          <a:prstGeom prst="ellipse">
            <a:avLst/>
          </a:prstGeom>
          <a:solidFill>
            <a:srgbClr val="B87614"/>
          </a:solidFill>
          <a:ln/>
        </p:spPr>
      </p:sp>
      <p:sp>
        <p:nvSpPr>
          <p:cNvPr id="10" name="Text 8"/>
          <p:cNvSpPr txBox="1"/>
          <p:nvPr/>
        </p:nvSpPr>
        <p:spPr>
          <a:xfrm>
            <a:off x="1417320" y="3008376"/>
            <a:ext cx="4206240" cy="713232"/>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The face / scene split is partly circular</a:t>
            </a:r>
            <a:endParaRPr lang="en-US" sz="1400" dirty="0"/>
          </a:p>
        </p:txBody>
      </p:sp>
      <p:sp>
        <p:nvSpPr>
          <p:cNvPr id="11" name="Text 9"/>
          <p:cNvSpPr txBox="1"/>
          <p:nvPr/>
        </p:nvSpPr>
        <p:spPr>
          <a:xfrm>
            <a:off x="5852160" y="3008376"/>
            <a:ext cx="5486400" cy="713232"/>
          </a:xfrm>
          <a:prstGeom prst="rect">
            <a:avLst/>
          </a:prstGeom>
          <a:noFill/>
          <a:ln/>
        </p:spPr>
        <p:txBody>
          <a:bodyPr wrap="square" lIns="0" tIns="0" rIns="0" bIns="0" rtlCol="0" anchor="ctr"/>
          <a:lstStyle/>
          <a:p>
            <a:pPr indent="0" marL="0">
              <a:buNone/>
            </a:pPr>
            <a:r>
              <a:rPr lang="en-US" sz="1250" dirty="0">
                <a:solidFill>
                  <a:srgbClr val="4F545B"/>
                </a:solidFill>
                <a:latin typeface="Calibri" pitchFamily="34" charset="0"/>
                <a:ea typeface="Calibri" pitchFamily="34" charset="-122"/>
                <a:cs typeface="Calibri" pitchFamily="34" charset="-120"/>
              </a:rPr>
              <a:t>It is defined by whether the model reported an expression — and the emotion is read from that same description.</a:t>
            </a:r>
            <a:endParaRPr lang="en-US" sz="1250" dirty="0"/>
          </a:p>
        </p:txBody>
      </p:sp>
      <p:sp>
        <p:nvSpPr>
          <p:cNvPr id="12" name="Shape 10"/>
          <p:cNvSpPr/>
          <p:nvPr/>
        </p:nvSpPr>
        <p:spPr>
          <a:xfrm>
            <a:off x="640080" y="3968496"/>
            <a:ext cx="10908792" cy="914400"/>
          </a:xfrm>
          <a:prstGeom prst="roundRect">
            <a:avLst>
              <a:gd name="adj" fmla="val 5000"/>
            </a:avLst>
          </a:prstGeom>
          <a:solidFill>
            <a:srgbClr val="FFFFFF"/>
          </a:solidFill>
          <a:ln w="12700">
            <a:solidFill>
              <a:srgbClr val="DDD8CF"/>
            </a:solidFill>
            <a:prstDash val="solid"/>
          </a:ln>
        </p:spPr>
      </p:sp>
      <p:sp>
        <p:nvSpPr>
          <p:cNvPr id="13" name="Shape 11"/>
          <p:cNvSpPr/>
          <p:nvPr/>
        </p:nvSpPr>
        <p:spPr>
          <a:xfrm>
            <a:off x="914400" y="4270248"/>
            <a:ext cx="292608" cy="292608"/>
          </a:xfrm>
          <a:prstGeom prst="ellipse">
            <a:avLst/>
          </a:prstGeom>
          <a:solidFill>
            <a:srgbClr val="B87614"/>
          </a:solidFill>
          <a:ln/>
        </p:spPr>
      </p:sp>
      <p:sp>
        <p:nvSpPr>
          <p:cNvPr id="14" name="Text 12"/>
          <p:cNvSpPr txBox="1"/>
          <p:nvPr/>
        </p:nvSpPr>
        <p:spPr>
          <a:xfrm>
            <a:off x="1417320" y="4078224"/>
            <a:ext cx="4206240" cy="713232"/>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The valence–arousal score is a designed proxy</a:t>
            </a:r>
            <a:endParaRPr lang="en-US" sz="1400" dirty="0"/>
          </a:p>
        </p:txBody>
      </p:sp>
      <p:sp>
        <p:nvSpPr>
          <p:cNvPr id="15" name="Text 13"/>
          <p:cNvSpPr txBox="1"/>
          <p:nvPr/>
        </p:nvSpPr>
        <p:spPr>
          <a:xfrm>
            <a:off x="5852160" y="4078224"/>
            <a:ext cx="5486400" cy="713232"/>
          </a:xfrm>
          <a:prstGeom prst="rect">
            <a:avLst/>
          </a:prstGeom>
          <a:noFill/>
          <a:ln/>
        </p:spPr>
        <p:txBody>
          <a:bodyPr wrap="square" lIns="0" tIns="0" rIns="0" bIns="0" rtlCol="0" anchor="ctr"/>
          <a:lstStyle/>
          <a:p>
            <a:pPr indent="0" marL="0">
              <a:buNone/>
            </a:pPr>
            <a:r>
              <a:rPr lang="en-US" sz="1250" dirty="0">
                <a:solidFill>
                  <a:srgbClr val="4F545B"/>
                </a:solidFill>
                <a:latin typeface="Calibri" pitchFamily="34" charset="0"/>
                <a:ea typeface="Calibri" pitchFamily="34" charset="-122"/>
                <a:cs typeface="Calibri" pitchFamily="34" charset="-120"/>
              </a:rPr>
              <a:t>Built on hand-set emotion coordinates. Not a continuous lexicon rating, and it cannot separate faces from scenes.</a:t>
            </a:r>
            <a:endParaRPr lang="en-US" sz="1250" dirty="0"/>
          </a:p>
        </p:txBody>
      </p:sp>
      <p:sp>
        <p:nvSpPr>
          <p:cNvPr id="16" name="Shape 14"/>
          <p:cNvSpPr/>
          <p:nvPr/>
        </p:nvSpPr>
        <p:spPr>
          <a:xfrm>
            <a:off x="640080" y="5038344"/>
            <a:ext cx="10908792" cy="914400"/>
          </a:xfrm>
          <a:prstGeom prst="roundRect">
            <a:avLst>
              <a:gd name="adj" fmla="val 5000"/>
            </a:avLst>
          </a:prstGeom>
          <a:solidFill>
            <a:srgbClr val="FFFFFF"/>
          </a:solidFill>
          <a:ln w="12700">
            <a:solidFill>
              <a:srgbClr val="DDD8CF"/>
            </a:solidFill>
            <a:prstDash val="solid"/>
          </a:ln>
        </p:spPr>
      </p:sp>
      <p:sp>
        <p:nvSpPr>
          <p:cNvPr id="17" name="Shape 15"/>
          <p:cNvSpPr/>
          <p:nvPr/>
        </p:nvSpPr>
        <p:spPr>
          <a:xfrm>
            <a:off x="914400" y="5340096"/>
            <a:ext cx="292608" cy="292608"/>
          </a:xfrm>
          <a:prstGeom prst="ellipse">
            <a:avLst/>
          </a:prstGeom>
          <a:solidFill>
            <a:srgbClr val="4F545B"/>
          </a:solidFill>
          <a:ln/>
        </p:spPr>
      </p:sp>
      <p:sp>
        <p:nvSpPr>
          <p:cNvPr id="18" name="Text 16"/>
          <p:cNvSpPr txBox="1"/>
          <p:nvPr/>
        </p:nvSpPr>
        <p:spPr>
          <a:xfrm>
            <a:off x="1417320" y="5148072"/>
            <a:ext cx="4206240" cy="713232"/>
          </a:xfrm>
          <a:prstGeom prst="rect">
            <a:avLst/>
          </a:prstGeom>
          <a:noFill/>
          <a:ln/>
        </p:spPr>
        <p:txBody>
          <a:bodyPr wrap="square" lIns="0" tIns="0" rIns="0" bIns="0" rtlCol="0" anchor="ctr"/>
          <a:lstStyle/>
          <a:p>
            <a:pPr indent="0" marL="0">
              <a:buNone/>
            </a:pPr>
            <a:r>
              <a:rPr lang="en-US" sz="1400" b="1" dirty="0">
                <a:solidFill>
                  <a:srgbClr val="14161A"/>
                </a:solidFill>
                <a:latin typeface="Calibri" pitchFamily="34" charset="0"/>
                <a:ea typeface="Calibri" pitchFamily="34" charset="-122"/>
                <a:cs typeface="Calibri" pitchFamily="34" charset="-120"/>
              </a:rPr>
              <a:t>No claim about colour, and none about direction</a:t>
            </a:r>
            <a:endParaRPr lang="en-US" sz="1400" dirty="0"/>
          </a:p>
        </p:txBody>
      </p:sp>
      <p:sp>
        <p:nvSpPr>
          <p:cNvPr id="19" name="Text 17"/>
          <p:cNvSpPr txBox="1"/>
          <p:nvPr/>
        </p:nvSpPr>
        <p:spPr>
          <a:xfrm>
            <a:off x="5852160" y="5148072"/>
            <a:ext cx="5486400" cy="713232"/>
          </a:xfrm>
          <a:prstGeom prst="rect">
            <a:avLst/>
          </a:prstGeom>
          <a:noFill/>
          <a:ln/>
        </p:spPr>
        <p:txBody>
          <a:bodyPr wrap="square" lIns="0" tIns="0" rIns="0" bIns="0" rtlCol="0" anchor="ctr"/>
          <a:lstStyle/>
          <a:p>
            <a:pPr indent="0" marL="0">
              <a:buNone/>
            </a:pPr>
            <a:r>
              <a:rPr lang="en-US" sz="1250" dirty="0">
                <a:solidFill>
                  <a:srgbClr val="4F545B"/>
                </a:solidFill>
                <a:latin typeface="Calibri" pitchFamily="34" charset="0"/>
                <a:ea typeface="Calibri" pitchFamily="34" charset="-122"/>
                <a:cs typeface="Calibri" pitchFamily="34" charset="-120"/>
              </a:rPr>
              <a:t>The corpus is monochrome but there is no colour condition. An earlier positive-versus-negative claim was withdrawn.</a:t>
            </a:r>
            <a:endParaRPr lang="en-US" sz="1250" dirty="0"/>
          </a:p>
        </p:txBody>
      </p:sp>
      <p:sp>
        <p:nvSpPr>
          <p:cNvPr id="20" name="Text 18"/>
          <p:cNvSpPr txBox="1"/>
          <p:nvPr/>
        </p:nvSpPr>
        <p:spPr>
          <a:xfrm>
            <a:off x="640080" y="6053328"/>
            <a:ext cx="10908792" cy="365760"/>
          </a:xfrm>
          <a:prstGeom prst="rect">
            <a:avLst/>
          </a:prstGeom>
          <a:noFill/>
          <a:ln/>
        </p:spPr>
        <p:txBody>
          <a:bodyPr wrap="square" lIns="0" tIns="0" rIns="0" bIns="0" rtlCol="0" anchor="ctr"/>
          <a:lstStyle/>
          <a:p>
            <a:pPr indent="0" marL="0">
              <a:buNone/>
            </a:pPr>
            <a:r>
              <a:rPr lang="en-US" sz="1100" i="1" dirty="0">
                <a:solidFill>
                  <a:srgbClr val="6E747B"/>
                </a:solidFill>
                <a:latin typeface="Calibri" pitchFamily="34" charset="0"/>
                <a:ea typeface="Calibri" pitchFamily="34" charset="-122"/>
                <a:cs typeface="Calibri" pitchFamily="34" charset="-120"/>
              </a:rPr>
              <a:t>A human-rating study was designed in full and deliberately not run — approval alone would have taken a fortnight. It is the clear next step.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2F33"/>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100" b="1" spc="200" kern="0" dirty="0">
                <a:solidFill>
                  <a:srgbClr val="7FC4BE"/>
                </a:solidFill>
                <a:latin typeface="Calibri" pitchFamily="34" charset="0"/>
                <a:ea typeface="Calibri" pitchFamily="34" charset="-122"/>
                <a:cs typeface="Calibri" pitchFamily="34" charset="-120"/>
              </a:rPr>
              <a:t>IN SUMMARY</a:t>
            </a:r>
            <a:endParaRPr lang="en-US" sz="1100" dirty="0"/>
          </a:p>
        </p:txBody>
      </p:sp>
      <p:sp>
        <p:nvSpPr>
          <p:cNvPr id="3" name="Text 1"/>
          <p:cNvSpPr txBox="1"/>
          <p:nvPr/>
        </p:nvSpPr>
        <p:spPr>
          <a:xfrm>
            <a:off x="640080" y="804672"/>
            <a:ext cx="10908792" cy="74980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this contributes</a:t>
            </a:r>
            <a:endParaRPr lang="en-US" sz="3400" dirty="0"/>
          </a:p>
        </p:txBody>
      </p:sp>
      <p:sp>
        <p:nvSpPr>
          <p:cNvPr id="4" name="Text 2"/>
          <p:cNvSpPr txBox="1"/>
          <p:nvPr/>
        </p:nvSpPr>
        <p:spPr>
          <a:xfrm>
            <a:off x="640080" y="1371600"/>
            <a:ext cx="10881360" cy="411480"/>
          </a:xfrm>
          <a:prstGeom prst="rect">
            <a:avLst/>
          </a:prstGeom>
          <a:noFill/>
          <a:ln/>
        </p:spPr>
        <p:txBody>
          <a:bodyPr wrap="square" lIns="0" tIns="0" rIns="0" bIns="0" rtlCol="0" anchor="ctr"/>
          <a:lstStyle/>
          <a:p>
            <a:pPr indent="0" marL="0">
              <a:buNone/>
            </a:pPr>
            <a:r>
              <a:rPr lang="en-US" sz="1700" i="1" dirty="0">
                <a:solidFill>
                  <a:srgbClr val="9FB4B3"/>
                </a:solidFill>
                <a:latin typeface="Calibri" pitchFamily="34" charset="0"/>
                <a:ea typeface="Calibri" pitchFamily="34" charset="-122"/>
                <a:cs typeface="Calibri" pitchFamily="34" charset="-120"/>
              </a:rPr>
              <a:t>Not a novel emotion classifier.</a:t>
            </a:r>
            <a:endParaRPr lang="en-US" sz="1700" dirty="0"/>
          </a:p>
        </p:txBody>
      </p:sp>
      <p:sp>
        <p:nvSpPr>
          <p:cNvPr id="5" name="Shape 3"/>
          <p:cNvSpPr/>
          <p:nvPr/>
        </p:nvSpPr>
        <p:spPr>
          <a:xfrm>
            <a:off x="640080" y="2331720"/>
            <a:ext cx="237744" cy="237744"/>
          </a:xfrm>
          <a:prstGeom prst="ellipse">
            <a:avLst/>
          </a:prstGeom>
          <a:solidFill>
            <a:srgbClr val="7FC4BE"/>
          </a:solidFill>
          <a:ln/>
        </p:spPr>
      </p:sp>
      <p:sp>
        <p:nvSpPr>
          <p:cNvPr id="6" name="Text 4"/>
          <p:cNvSpPr txBox="1"/>
          <p:nvPr/>
        </p:nvSpPr>
        <p:spPr>
          <a:xfrm>
            <a:off x="1051560" y="224028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question nobody had asked</a:t>
            </a:r>
            <a:endParaRPr lang="en-US" sz="1500" dirty="0"/>
          </a:p>
        </p:txBody>
      </p:sp>
      <p:sp>
        <p:nvSpPr>
          <p:cNvPr id="7" name="Text 5"/>
          <p:cNvSpPr txBox="1"/>
          <p:nvPr/>
        </p:nvSpPr>
        <p:spPr>
          <a:xfrm>
            <a:off x="1051560" y="262432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of real, first-person, mixed self-report</a:t>
            </a:r>
            <a:endParaRPr lang="en-US" sz="1300" dirty="0"/>
          </a:p>
        </p:txBody>
      </p:sp>
      <p:sp>
        <p:nvSpPr>
          <p:cNvPr id="8" name="Shape 6"/>
          <p:cNvSpPr/>
          <p:nvPr/>
        </p:nvSpPr>
        <p:spPr>
          <a:xfrm>
            <a:off x="6172200" y="2331720"/>
            <a:ext cx="237744" cy="237744"/>
          </a:xfrm>
          <a:prstGeom prst="ellipse">
            <a:avLst/>
          </a:prstGeom>
          <a:solidFill>
            <a:srgbClr val="7FC4BE"/>
          </a:solidFill>
          <a:ln/>
        </p:spPr>
      </p:sp>
      <p:sp>
        <p:nvSpPr>
          <p:cNvPr id="9" name="Text 7"/>
          <p:cNvSpPr txBox="1"/>
          <p:nvPr/>
        </p:nvSpPr>
        <p:spPr>
          <a:xfrm>
            <a:off x="6583680" y="224028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dataset that cannot be downloaded</a:t>
            </a:r>
            <a:endParaRPr lang="en-US" sz="1500" dirty="0"/>
          </a:p>
        </p:txBody>
      </p:sp>
      <p:sp>
        <p:nvSpPr>
          <p:cNvPr id="10" name="Text 8"/>
          <p:cNvSpPr txBox="1"/>
          <p:nvPr/>
        </p:nvSpPr>
        <p:spPr>
          <a:xfrm>
            <a:off x="6583680" y="262432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1,025 real emotional entries with their drawings</a:t>
            </a:r>
            <a:endParaRPr lang="en-US" sz="1300" dirty="0"/>
          </a:p>
        </p:txBody>
      </p:sp>
      <p:sp>
        <p:nvSpPr>
          <p:cNvPr id="11" name="Shape 9"/>
          <p:cNvSpPr/>
          <p:nvPr/>
        </p:nvSpPr>
        <p:spPr>
          <a:xfrm>
            <a:off x="640080" y="3383280"/>
            <a:ext cx="237744" cy="237744"/>
          </a:xfrm>
          <a:prstGeom prst="ellipse">
            <a:avLst/>
          </a:prstGeom>
          <a:solidFill>
            <a:srgbClr val="7FC4BE"/>
          </a:solidFill>
          <a:ln/>
        </p:spPr>
      </p:sp>
      <p:sp>
        <p:nvSpPr>
          <p:cNvPr id="12" name="Text 10"/>
          <p:cNvSpPr txBox="1"/>
          <p:nvPr/>
        </p:nvSpPr>
        <p:spPr>
          <a:xfrm>
            <a:off x="1051560" y="329184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 evaluation design that holds up</a:t>
            </a:r>
            <a:endParaRPr lang="en-US" sz="1500" dirty="0"/>
          </a:p>
        </p:txBody>
      </p:sp>
      <p:sp>
        <p:nvSpPr>
          <p:cNvPr id="13" name="Text 11"/>
          <p:cNvSpPr txBox="1"/>
          <p:nvPr/>
        </p:nvSpPr>
        <p:spPr>
          <a:xfrm>
            <a:off x="1051560" y="367588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null baselines throughout, and a control that passes</a:t>
            </a:r>
            <a:endParaRPr lang="en-US" sz="1300" dirty="0"/>
          </a:p>
        </p:txBody>
      </p:sp>
      <p:sp>
        <p:nvSpPr>
          <p:cNvPr id="14" name="Shape 12"/>
          <p:cNvSpPr/>
          <p:nvPr/>
        </p:nvSpPr>
        <p:spPr>
          <a:xfrm>
            <a:off x="6172200" y="3383280"/>
            <a:ext cx="237744" cy="237744"/>
          </a:xfrm>
          <a:prstGeom prst="ellipse">
            <a:avLst/>
          </a:prstGeom>
          <a:solidFill>
            <a:srgbClr val="7FC4BE"/>
          </a:solidFill>
          <a:ln/>
        </p:spPr>
      </p:sp>
      <p:sp>
        <p:nvSpPr>
          <p:cNvPr id="15" name="Text 13"/>
          <p:cNvSpPr txBox="1"/>
          <p:nvPr/>
        </p:nvSpPr>
        <p:spPr>
          <a:xfrm>
            <a:off x="6583680" y="329184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measured method comparison</a:t>
            </a:r>
            <a:endParaRPr lang="en-US" sz="1500" dirty="0"/>
          </a:p>
        </p:txBody>
      </p:sp>
      <p:sp>
        <p:nvSpPr>
          <p:cNvPr id="16" name="Text 14"/>
          <p:cNvSpPr txBox="1"/>
          <p:nvPr/>
        </p:nvSpPr>
        <p:spPr>
          <a:xfrm>
            <a:off x="6583680" y="367588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the architecture was justified, not assumed</a:t>
            </a:r>
            <a:endParaRPr lang="en-US" sz="1300" dirty="0"/>
          </a:p>
        </p:txBody>
      </p:sp>
      <p:sp>
        <p:nvSpPr>
          <p:cNvPr id="17" name="Shape 15"/>
          <p:cNvSpPr/>
          <p:nvPr/>
        </p:nvSpPr>
        <p:spPr>
          <a:xfrm>
            <a:off x="640080" y="4434840"/>
            <a:ext cx="237744" cy="237744"/>
          </a:xfrm>
          <a:prstGeom prst="ellipse">
            <a:avLst/>
          </a:prstGeom>
          <a:solidFill>
            <a:srgbClr val="7FC4BE"/>
          </a:solidFill>
          <a:ln/>
        </p:spPr>
      </p:sp>
      <p:sp>
        <p:nvSpPr>
          <p:cNvPr id="18" name="Text 16"/>
          <p:cNvSpPr txBox="1"/>
          <p:nvPr/>
        </p:nvSpPr>
        <p:spPr>
          <a:xfrm>
            <a:off x="1051560" y="434340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generative-consistency finding</a:t>
            </a:r>
            <a:endParaRPr lang="en-US" sz="1500" dirty="0"/>
          </a:p>
        </p:txBody>
      </p:sp>
      <p:sp>
        <p:nvSpPr>
          <p:cNvPr id="19" name="Text 17"/>
          <p:cNvSpPr txBox="1"/>
          <p:nvPr/>
        </p:nvSpPr>
        <p:spPr>
          <a:xfrm>
            <a:off x="1051560" y="472744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the same prompt does not convey the same feeling</a:t>
            </a:r>
            <a:endParaRPr lang="en-US" sz="1300" dirty="0"/>
          </a:p>
        </p:txBody>
      </p:sp>
      <p:sp>
        <p:nvSpPr>
          <p:cNvPr id="20" name="Shape 18"/>
          <p:cNvSpPr/>
          <p:nvPr/>
        </p:nvSpPr>
        <p:spPr>
          <a:xfrm>
            <a:off x="6172200" y="4434840"/>
            <a:ext cx="237744" cy="237744"/>
          </a:xfrm>
          <a:prstGeom prst="ellipse">
            <a:avLst/>
          </a:prstGeom>
          <a:solidFill>
            <a:srgbClr val="7FC4BE"/>
          </a:solidFill>
          <a:ln/>
        </p:spPr>
      </p:sp>
      <p:sp>
        <p:nvSpPr>
          <p:cNvPr id="21" name="Text 19"/>
          <p:cNvSpPr txBox="1"/>
          <p:nvPr/>
        </p:nvSpPr>
        <p:spPr>
          <a:xfrm>
            <a:off x="6583680" y="4343400"/>
            <a:ext cx="49377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documented data-protection procedure</a:t>
            </a:r>
            <a:endParaRPr lang="en-US" sz="1500" dirty="0"/>
          </a:p>
        </p:txBody>
      </p:sp>
      <p:sp>
        <p:nvSpPr>
          <p:cNvPr id="22" name="Text 20"/>
          <p:cNvSpPr txBox="1"/>
          <p:nvPr/>
        </p:nvSpPr>
        <p:spPr>
          <a:xfrm>
            <a:off x="6583680" y="4727448"/>
            <a:ext cx="4937760" cy="502920"/>
          </a:xfrm>
          <a:prstGeom prst="rect">
            <a:avLst/>
          </a:prstGeom>
          <a:noFill/>
          <a:ln/>
        </p:spPr>
        <p:txBody>
          <a:bodyPr wrap="square" lIns="0" tIns="0" rIns="0" bIns="0" rtlCol="0" anchor="ctr"/>
          <a:lstStyle/>
          <a:p>
            <a:pPr indent="0" marL="0">
              <a:buNone/>
            </a:pPr>
            <a:r>
              <a:rPr lang="en-US" sz="1300" dirty="0">
                <a:solidFill>
                  <a:srgbClr val="9FB4B3"/>
                </a:solidFill>
                <a:latin typeface="Calibri" pitchFamily="34" charset="0"/>
                <a:ea typeface="Calibri" pitchFamily="34" charset="-122"/>
                <a:cs typeface="Calibri" pitchFamily="34" charset="-120"/>
              </a:rPr>
              <a:t>tested, and proven not to change any result</a:t>
            </a:r>
            <a:endParaRPr lang="en-US" sz="1300" dirty="0"/>
          </a:p>
        </p:txBody>
      </p:sp>
      <p:sp>
        <p:nvSpPr>
          <p:cNvPr id="23" name="Shape 21"/>
          <p:cNvSpPr/>
          <p:nvPr/>
        </p:nvSpPr>
        <p:spPr>
          <a:xfrm>
            <a:off x="640080" y="5349240"/>
            <a:ext cx="10908792" cy="0"/>
          </a:xfrm>
          <a:prstGeom prst="line">
            <a:avLst/>
          </a:prstGeom>
          <a:noFill/>
          <a:ln w="12700">
            <a:solidFill>
              <a:srgbClr val="2F7B7F"/>
            </a:solidFill>
            <a:prstDash val="solid"/>
          </a:ln>
        </p:spPr>
      </p:sp>
      <p:sp>
        <p:nvSpPr>
          <p:cNvPr id="24" name="Text 22"/>
          <p:cNvSpPr txBox="1"/>
          <p:nvPr/>
        </p:nvSpPr>
        <p:spPr>
          <a:xfrm>
            <a:off x="640080" y="5577840"/>
            <a:ext cx="64008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 — questions welcome</a:t>
            </a:r>
            <a:endParaRPr lang="en-US" sz="2200" dirty="0"/>
          </a:p>
        </p:txBody>
      </p:sp>
      <p:sp>
        <p:nvSpPr>
          <p:cNvPr id="25" name="Text 23"/>
          <p:cNvSpPr txBox="1"/>
          <p:nvPr/>
        </p:nvSpPr>
        <p:spPr>
          <a:xfrm>
            <a:off x="7040880" y="5623560"/>
            <a:ext cx="4480560" cy="411480"/>
          </a:xfrm>
          <a:prstGeom prst="rect">
            <a:avLst/>
          </a:prstGeom>
          <a:noFill/>
          <a:ln/>
        </p:spPr>
        <p:txBody>
          <a:bodyPr wrap="square" lIns="0" tIns="0" rIns="0" bIns="0" rtlCol="0" anchor="ctr"/>
          <a:lstStyle/>
          <a:p>
            <a:pPr algn="r" indent="0" marL="0">
              <a:buNone/>
            </a:pPr>
            <a:r>
              <a:rPr lang="en-US" sz="1300" i="1" dirty="0">
                <a:solidFill>
                  <a:srgbClr val="7FC4BE"/>
                </a:solidFill>
                <a:latin typeface="Calibri" pitchFamily="34" charset="0"/>
                <a:ea typeface="Calibri" pitchFamily="34" charset="-122"/>
                <a:cs typeface="Calibri" pitchFamily="34" charset="-120"/>
              </a:rPr>
              <a:t>Next step: human validation of the automatic readers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Visualising Emotion</dc:title>
  <dc:subject>PptxGenJS Presentation</dc:subject>
  <dc:creator>Shre Hari Prem Anandh</dc:creator>
  <cp:lastModifiedBy>Shre Hari Prem Anandh</cp:lastModifiedBy>
  <cp:revision>1</cp:revision>
  <dcterms:created xsi:type="dcterms:W3CDTF">2026-09-03T03:53:40Z</dcterms:created>
  <dcterms:modified xsi:type="dcterms:W3CDTF">2026-09-03T03:53:40Z</dcterms:modified>
</cp:coreProperties>
</file>