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afternoon. This is a similarity-based analysis of emotional fidelity in text-to-image generation — 1,025 real self-reports collected at a festival, and what an automatic reader recovers from the drawings made from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object prompt has an answer key: the picture either contains a red car or it does not. A feeling has none — no object to find, and the feeling itself is mixed. So the research question is deliberately narrow: agreement between two automatic readers, not whether a drawing conveys a feeling to a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of the four quadrants are well established. Generation of objects, generation of emotional imagery, and object-level evaluation. The empty cell is evaluating the emotion recovered from a generated line drawing — that is where this project sits.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conventional score treats happy against excited as a miss. This project replaces the binary with a four-level ladder, and every rung is read against its own 300-shuffle null. That graded, chance-referenced measure is the contribution.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drawing is never asked how it feels. BLIP-VQA answers five factual questions, those answers become one neutral sentence, and BART-MNLI reads emotion from the sentence. The prompt is read separately through GoEmotions. Only then are the two readings compared.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1,025 drawings, 1,012 analysed after the pre-festival tests are removed. Two cuts matter: whether the prompt carries a feeling at all, and what the reader found in the drawing — a face or a scene. Getting there took real data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checks decide whether any number here means anything. First, a random-pairing null run three hundred times. Second, a specificity check on the prompts that carry no feeling. A valence–arousal score of 71 passes a naive threshold and still sits below chance.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Agreement is well above chance on every metric, and substantially stronger for face-classified drawings. On the non-emotional prompts the metric degenerates — the observed figure equals its own null.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interface. Choose a drawing, watch it described, then compare both readings against the chance line. If the demo stalls, the next slide carries the same output for record 201.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established: agreement above chance on every metric, higher for faces, unstable across repeats of the same prompt, and describe-then-extract beating a direct read. What is not: human perception, the significance of the face–scene gap, any effect of colour, and any valence-direction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Backup, in case the demonstration stalls. Record 201: five factual answers, one neutral sentence, joy 42% from the image against joy 97% from the prompt — 84 on the scale, against a null of 76.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1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933450"/>
            <a:ext cx="329844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44"/>
              </a:lnSpc>
              <a:buNone/>
            </a:pPr>
            <a:r>
              <a:rPr lang="en-US" sz="1950" spc="273" kern="0" dirty="0">
                <a:solidFill>
                  <a:srgbClr val="62C5E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DISSERTATION VIVA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692807" y="914400"/>
            <a:ext cx="464595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 · Visualising Emotion · Sheffield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371600" y="1647825"/>
            <a:ext cx="11086148" cy="2009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48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Visualising Emotion: A Similarity-Based Analysis of Emotional Fidelity in Text-to-Image Generation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3867150"/>
            <a:ext cx="882967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815"/>
              </a:lnSpc>
              <a:buNone/>
            </a:pPr>
            <a:r>
              <a:rPr lang="en-US" sz="3000" dirty="0">
                <a:solidFill>
                  <a:srgbClr val="BAB6B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Measuring agreement between a written feeling and an AI-generated drawing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71600" y="7124700"/>
            <a:ext cx="1253109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5"/>
              </a:lnSpc>
              <a:buNone/>
            </a:pPr>
            <a:r>
              <a:rPr lang="en-US" sz="2550" b="1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Shre Hari Prem Anandh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371600" y="7677150"/>
            <a:ext cx="1253109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5"/>
              </a:lnSpc>
              <a:buNone/>
            </a:pPr>
            <a:r>
              <a:rPr lang="en-US" sz="2550" dirty="0">
                <a:solidFill>
                  <a:srgbClr val="D7D3D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MSc Artificial Intelligence · School of Computer Science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371600" y="8229600"/>
            <a:ext cx="1253109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5"/>
              </a:lnSpc>
              <a:buNone/>
            </a:pPr>
            <a:r>
              <a:rPr lang="en-US" sz="2550" dirty="0">
                <a:solidFill>
                  <a:srgbClr val="D7D3D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University of Sheffield · Supervisor: Dr Chaona Chen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371600" y="8991600"/>
            <a:ext cx="1253109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5"/>
              </a:lnSpc>
              <a:buNone/>
            </a:pPr>
            <a:r>
              <a:rPr lang="en-US" sz="2550" dirty="0">
                <a:solidFill>
                  <a:srgbClr val="BAB6B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 September 2026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3487400" y="3128963"/>
            <a:ext cx="3429000" cy="33147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3333"/>
          <a:stretch/>
        </p:blipFill>
        <p:spPr>
          <a:xfrm>
            <a:off x="13487400" y="3128963"/>
            <a:ext cx="3429000" cy="33147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487400" y="6634163"/>
            <a:ext cx="37719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5"/>
              </a:lnSpc>
              <a:buNone/>
            </a:pPr>
            <a:r>
              <a:rPr lang="en-US" sz="2550" i="1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“tired but happy”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13487400" y="7319963"/>
            <a:ext cx="353187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789"/>
              </a:lnSpc>
              <a:buNone/>
            </a:pPr>
            <a:r>
              <a:rPr lang="en-US" sz="210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Drawing no. 201 · one of 1,025 from the festival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933450"/>
            <a:ext cx="236103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44"/>
              </a:lnSpc>
              <a:buNone/>
            </a:pPr>
            <a:r>
              <a:rPr lang="en-US" sz="1950" spc="273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PROBLEM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692807" y="914400"/>
            <a:ext cx="464595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 · Visualising Emotion · Sheffield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371600" y="1571625"/>
            <a:ext cx="8633460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48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Object prompts can be checked. Feelings cannot.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371600" y="3248025"/>
            <a:ext cx="7600950" cy="2038350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6" name="Text 4"/>
          <p:cNvSpPr/>
          <p:nvPr/>
        </p:nvSpPr>
        <p:spPr>
          <a:xfrm>
            <a:off x="1657350" y="3495675"/>
            <a:ext cx="773239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5"/>
              </a:lnSpc>
              <a:buNone/>
            </a:pPr>
            <a:r>
              <a:rPr lang="en-US" sz="2550" i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“a red car”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657350" y="4162425"/>
            <a:ext cx="724033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65"/>
              </a:lnSpc>
              <a:buNone/>
            </a:pPr>
            <a:r>
              <a:rPr lang="en-US" sz="255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prompt names objects, so existing metrics can score it.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15450" y="3248025"/>
            <a:ext cx="7600950" cy="2038350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0" y="3495675"/>
            <a:ext cx="601408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5"/>
              </a:lnSpc>
              <a:buNone/>
            </a:pPr>
            <a:r>
              <a:rPr lang="en-US" sz="2550" i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“tired but happy”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601200" y="4162425"/>
            <a:ext cx="5631371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65"/>
              </a:lnSpc>
              <a:buNone/>
            </a:pPr>
            <a:r>
              <a:rPr lang="en-US" sz="255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 object to find, no answer key, and the feeling is mixed.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5297150" y="3495675"/>
            <a:ext cx="1333500" cy="1295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2857"/>
          <a:stretch/>
        </p:blipFill>
        <p:spPr>
          <a:xfrm>
            <a:off x="15297150" y="3495675"/>
            <a:ext cx="1333500" cy="12954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71600" y="5610225"/>
            <a:ext cx="1709928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44"/>
              </a:lnSpc>
              <a:buNone/>
            </a:pPr>
            <a:r>
              <a:rPr lang="en-US" sz="1950" spc="273" kern="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RESEARCH QUESTION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371600" y="6105525"/>
            <a:ext cx="15500985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87"/>
              </a:lnSpc>
              <a:buNone/>
            </a:pPr>
            <a:r>
              <a:rPr lang="en-US" sz="255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 what extent does an automatic image-emotion reader agree with prompt-derived emotion labels for AI-generated monochrome drawings, and how does that agreement vary by visual content and by repeated prompts?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1371600" y="7572375"/>
            <a:ext cx="307777" cy="723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 ·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717477" y="7572375"/>
            <a:ext cx="666379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789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does agreement exceed a random-pairing baseline?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9429750" y="7572375"/>
            <a:ext cx="483245" cy="723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iii ·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9951095" y="7572375"/>
            <a:ext cx="717426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789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how stable is the image reading when the same prompt is drawn again?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1371600" y="8391525"/>
            <a:ext cx="395585" cy="723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ii ·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1805285" y="8391525"/>
            <a:ext cx="726455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789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does it differ for face-classified and scene-classified drawings?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9429750" y="8391525"/>
            <a:ext cx="454968" cy="723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iv ·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9922818" y="8391525"/>
            <a:ext cx="720339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789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does describe-then-extract agree more than reading emotion from the image directly?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1371600" y="9077325"/>
            <a:ext cx="1709928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question is deliberately narrower than “does the drawing convey the feeling”.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933450"/>
            <a:ext cx="209353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44"/>
              </a:lnSpc>
              <a:buNone/>
            </a:pPr>
            <a:r>
              <a:rPr lang="en-US" sz="1950" spc="273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LITERATURE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692807" y="914400"/>
            <a:ext cx="464595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 · Visualising Emotion · Sheffield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371600" y="1571625"/>
            <a:ext cx="10399395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48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Four established areas, and the space between them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543300" y="3209925"/>
            <a:ext cx="72085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71"/>
              </a:lnSpc>
              <a:buNone/>
            </a:pPr>
            <a:r>
              <a:rPr lang="en-US" sz="1875" spc="263" kern="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GENERATE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0363200" y="3209925"/>
            <a:ext cx="72085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71"/>
              </a:lnSpc>
              <a:buNone/>
            </a:pPr>
            <a:r>
              <a:rPr lang="en-US" sz="1875" spc="263" kern="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EVALUATE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371600" y="4267200"/>
            <a:ext cx="2095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5"/>
              </a:lnSpc>
              <a:buNone/>
            </a:pPr>
            <a:r>
              <a:rPr lang="en-US" sz="255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Objects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3543300" y="3705225"/>
            <a:ext cx="6553200" cy="1619250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9" name="Text 7"/>
          <p:cNvSpPr/>
          <p:nvPr/>
        </p:nvSpPr>
        <p:spPr>
          <a:xfrm>
            <a:off x="3790950" y="4105275"/>
            <a:ext cx="666369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Text-to-image generation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790950" y="4562475"/>
            <a:ext cx="66636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71"/>
              </a:lnSpc>
              <a:buNone/>
            </a:pPr>
            <a:r>
              <a:rPr lang="en-US" sz="1875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Well established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0363200" y="3705225"/>
            <a:ext cx="6553200" cy="1619250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12" name="Text 10"/>
          <p:cNvSpPr/>
          <p:nvPr/>
        </p:nvSpPr>
        <p:spPr>
          <a:xfrm>
            <a:off x="10610850" y="3914775"/>
            <a:ext cx="6239637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CLIPScore · VQAScore — does the picture contain what the prompt named?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610850" y="4752975"/>
            <a:ext cx="66636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71"/>
              </a:lnSpc>
              <a:buNone/>
            </a:pPr>
            <a:r>
              <a:rPr lang="en-US" sz="1875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Well established for objects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371600" y="6034088"/>
            <a:ext cx="2095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5"/>
              </a:lnSpc>
              <a:buNone/>
            </a:pPr>
            <a:r>
              <a:rPr lang="en-US" sz="255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Emotion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3543300" y="5457825"/>
            <a:ext cx="6553200" cy="1647825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16" name="Text 14"/>
          <p:cNvSpPr/>
          <p:nvPr/>
        </p:nvSpPr>
        <p:spPr>
          <a:xfrm>
            <a:off x="3790950" y="5681663"/>
            <a:ext cx="6239637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Emotional image generation — colour is reported as the principal carrier of affect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790950" y="6519863"/>
            <a:ext cx="66636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71"/>
              </a:lnSpc>
              <a:buNone/>
            </a:pPr>
            <a:r>
              <a:rPr lang="en-US" sz="1875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Well established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0363200" y="5457825"/>
            <a:ext cx="6553200" cy="1647825"/>
          </a:xfrm>
          <a:prstGeom prst="rect">
            <a:avLst/>
          </a:prstGeom>
          <a:ln w="14288">
            <a:solidFill>
              <a:srgbClr val="D6006C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10625138" y="5681663"/>
            <a:ext cx="621020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2400" dirty="0">
                <a:solidFill>
                  <a:srgbClr val="D6006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Evaluate emotion recovered from a generated line drawing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625138" y="6519863"/>
            <a:ext cx="663225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71"/>
              </a:lnSpc>
              <a:buNone/>
            </a:pPr>
            <a:r>
              <a:rPr lang="en-US" sz="1875" dirty="0">
                <a:solidFill>
                  <a:srgbClr val="AA0B5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Empty — this project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371600" y="7391400"/>
            <a:ext cx="1589341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63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Reading emotion from an image is weak: vision-language models are positively biased and order-sensitive readers of affect.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71600" y="8248650"/>
            <a:ext cx="147161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63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97 papers screened · 23 excluded · 74 retained across twelve themes. Colour is cited as motivation only — this study has no colour-control condition.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01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933450"/>
            <a:ext cx="255323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44"/>
              </a:lnSpc>
              <a:buNone/>
            </a:pPr>
            <a:r>
              <a:rPr lang="en-US" sz="1950" spc="273" kern="0" dirty="0">
                <a:solidFill>
                  <a:srgbClr val="62C5E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CONTRIBUTION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692807" y="914400"/>
            <a:ext cx="464595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 · Visualising Emotion · Sheffield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371600" y="1571625"/>
            <a:ext cx="1709928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48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Similarity, not matching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2571750"/>
            <a:ext cx="451294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71"/>
              </a:lnSpc>
              <a:buNone/>
            </a:pPr>
            <a:r>
              <a:rPr lang="en-US" sz="1875" spc="263" kern="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CONVENTIONAL · ONE-TO-ONE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1371600" y="3448050"/>
            <a:ext cx="4381500" cy="2219325"/>
          </a:xfrm>
          <a:prstGeom prst="rect">
            <a:avLst/>
          </a:prstGeom>
          <a:solidFill>
            <a:srgbClr val="2A2827"/>
          </a:solidFill>
          <a:ln/>
        </p:spPr>
      </p:sp>
      <p:sp>
        <p:nvSpPr>
          <p:cNvPr id="7" name="Text 5"/>
          <p:cNvSpPr/>
          <p:nvPr/>
        </p:nvSpPr>
        <p:spPr>
          <a:xfrm>
            <a:off x="1638300" y="3676650"/>
            <a:ext cx="423291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5"/>
              </a:lnSpc>
              <a:buNone/>
            </a:pPr>
            <a:r>
              <a:rPr lang="en-US" sz="2550" i="1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“happy” / “excited”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638300" y="4305300"/>
            <a:ext cx="423291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418"/>
              </a:lnSpc>
              <a:buNone/>
            </a:pPr>
            <a:r>
              <a:rPr lang="en-US" sz="4350" dirty="0">
                <a:solidFill>
                  <a:srgbClr val="FF90B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✕</a:t>
            </a:r>
            <a:endParaRPr lang="en-US" sz="4350" dirty="0"/>
          </a:p>
        </p:txBody>
      </p:sp>
      <p:sp>
        <p:nvSpPr>
          <p:cNvPr id="9" name="Text 7"/>
          <p:cNvSpPr/>
          <p:nvPr/>
        </p:nvSpPr>
        <p:spPr>
          <a:xfrm>
            <a:off x="1638300" y="4991100"/>
            <a:ext cx="423291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Scored as a miss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286500" y="2571750"/>
            <a:ext cx="116928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71"/>
              </a:lnSpc>
              <a:buNone/>
            </a:pPr>
            <a:r>
              <a:rPr lang="en-US" sz="1875" spc="263" kern="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THIS PROJECT · A FOUR-LEVEL SIMILARITY LADDER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6286500" y="3086100"/>
            <a:ext cx="10629900" cy="800100"/>
          </a:xfrm>
          <a:prstGeom prst="rect">
            <a:avLst/>
          </a:prstGeom>
          <a:solidFill>
            <a:srgbClr val="99E0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34150" y="3238500"/>
            <a:ext cx="359771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5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Same emotion family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2735669" y="3305175"/>
            <a:ext cx="432638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i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“happy” / “excited” — scored high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286500" y="3981450"/>
            <a:ext cx="10629900" cy="800100"/>
          </a:xfrm>
          <a:prstGeom prst="rect">
            <a:avLst/>
          </a:prstGeom>
          <a:solidFill>
            <a:srgbClr val="2A2827"/>
          </a:solidFill>
          <a:ln/>
        </p:spPr>
      </p:sp>
      <p:sp>
        <p:nvSpPr>
          <p:cNvPr id="15" name="Text 13"/>
          <p:cNvSpPr/>
          <p:nvPr/>
        </p:nvSpPr>
        <p:spPr>
          <a:xfrm>
            <a:off x="6534150" y="4133850"/>
            <a:ext cx="1045349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2550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Adjacent family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6286500" y="4876800"/>
            <a:ext cx="10629900" cy="800100"/>
          </a:xfrm>
          <a:prstGeom prst="rect">
            <a:avLst/>
          </a:prstGeom>
          <a:solidFill>
            <a:srgbClr val="2A2827"/>
          </a:solidFill>
          <a:ln/>
        </p:spPr>
      </p:sp>
      <p:sp>
        <p:nvSpPr>
          <p:cNvPr id="17" name="Text 15"/>
          <p:cNvSpPr/>
          <p:nvPr/>
        </p:nvSpPr>
        <p:spPr>
          <a:xfrm>
            <a:off x="6534150" y="5029200"/>
            <a:ext cx="1045349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2550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Same valence sign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6286500" y="5772150"/>
            <a:ext cx="10629900" cy="800100"/>
          </a:xfrm>
          <a:prstGeom prst="rect">
            <a:avLst/>
          </a:prstGeom>
          <a:solidFill>
            <a:srgbClr val="2A2827"/>
          </a:solidFill>
          <a:ln/>
        </p:spPr>
      </p:sp>
      <p:sp>
        <p:nvSpPr>
          <p:cNvPr id="19" name="Text 17"/>
          <p:cNvSpPr/>
          <p:nvPr/>
        </p:nvSpPr>
        <p:spPr>
          <a:xfrm>
            <a:off x="6534150" y="5924550"/>
            <a:ext cx="1045349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2550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Valence–arousal distance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6286500" y="6960394"/>
            <a:ext cx="2476500" cy="14288"/>
          </a:xfrm>
          <a:prstGeom prst="rect">
            <a:avLst/>
          </a:prstGeom>
          <a:solidFill>
            <a:srgbClr val="9B9797"/>
          </a:solidFill>
          <a:ln/>
        </p:spPr>
      </p:sp>
      <p:sp>
        <p:nvSpPr>
          <p:cNvPr id="21" name="Text 19"/>
          <p:cNvSpPr/>
          <p:nvPr/>
        </p:nvSpPr>
        <p:spPr>
          <a:xfrm>
            <a:off x="8972550" y="6762750"/>
            <a:ext cx="725828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chance — every rung against its own 300-shuffle null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71600" y="8648700"/>
            <a:ext cx="1393126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65"/>
              </a:lnSpc>
              <a:buNone/>
            </a:pPr>
            <a:r>
              <a:rPr lang="en-US" sz="2550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This is the novel element: the field reports one-to-one accuracy; this study reports graded, chance-referenced similarity.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933450"/>
            <a:ext cx="255912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44"/>
              </a:lnSpc>
              <a:buNone/>
            </a:pPr>
            <a:r>
              <a:rPr lang="en-US" sz="1950" spc="273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METHODOLOGY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692807" y="914400"/>
            <a:ext cx="464595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 · Visualising Emotion · Sheffield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371600" y="1571625"/>
            <a:ext cx="11380470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48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Describe the image, then read the feeling from the description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371600" y="3209925"/>
            <a:ext cx="3288804" cy="1609725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3400425"/>
            <a:ext cx="311476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240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Drawing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00200" y="3962400"/>
            <a:ext cx="291655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316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1,025 monochrome line drawings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622304" y="3209925"/>
            <a:ext cx="609600" cy="1647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4565"/>
              </a:lnSpc>
              <a:buNone/>
            </a:pPr>
            <a:r>
              <a:rPr lang="en-US" sz="2550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→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5193804" y="3209925"/>
            <a:ext cx="3683496" cy="1609725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10" name="Text 8"/>
          <p:cNvSpPr/>
          <p:nvPr/>
        </p:nvSpPr>
        <p:spPr>
          <a:xfrm>
            <a:off x="5422404" y="3400425"/>
            <a:ext cx="3548926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240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BLIP-VQA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22404" y="3962400"/>
            <a:ext cx="332308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316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five factual questions → one neutral sentence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839200" y="3209925"/>
            <a:ext cx="609600" cy="1647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4565"/>
              </a:lnSpc>
              <a:buNone/>
            </a:pPr>
            <a:r>
              <a:rPr lang="en-US" sz="2550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→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410700" y="3209925"/>
            <a:ext cx="3486150" cy="1609725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14" name="Text 12"/>
          <p:cNvSpPr/>
          <p:nvPr/>
        </p:nvSpPr>
        <p:spPr>
          <a:xfrm>
            <a:off x="9639300" y="3400425"/>
            <a:ext cx="333184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240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BART-MNLI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39300" y="3962400"/>
            <a:ext cx="311981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316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zero-shot over seven emotion families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858750" y="3209925"/>
            <a:ext cx="609600" cy="1647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4565"/>
              </a:lnSpc>
              <a:buNone/>
            </a:pPr>
            <a:r>
              <a:rPr lang="en-US" sz="2550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→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3430250" y="3209925"/>
            <a:ext cx="3486150" cy="1609725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18" name="Text 16"/>
          <p:cNvSpPr/>
          <p:nvPr/>
        </p:nvSpPr>
        <p:spPr>
          <a:xfrm>
            <a:off x="13658850" y="3400425"/>
            <a:ext cx="333184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2400" b="1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Image reading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658850" y="3962400"/>
            <a:ext cx="333184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BAB6B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top-3 emotions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371600" y="4972050"/>
            <a:ext cx="3288804" cy="1609725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21" name="Text 19"/>
          <p:cNvSpPr/>
          <p:nvPr/>
        </p:nvSpPr>
        <p:spPr>
          <a:xfrm>
            <a:off x="1600200" y="5162550"/>
            <a:ext cx="311476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240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Prompt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00200" y="5724525"/>
            <a:ext cx="291655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316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visitor's own words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4622304" y="4972050"/>
            <a:ext cx="609600" cy="1647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4565"/>
              </a:lnSpc>
              <a:buNone/>
            </a:pPr>
            <a:r>
              <a:rPr lang="en-US" sz="2550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→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5193804" y="4972050"/>
            <a:ext cx="3683496" cy="1609725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25" name="Text 23"/>
          <p:cNvSpPr/>
          <p:nvPr/>
        </p:nvSpPr>
        <p:spPr>
          <a:xfrm>
            <a:off x="5422404" y="5162550"/>
            <a:ext cx="3548926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240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GoEmotions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22404" y="5724525"/>
            <a:ext cx="332308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316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28 labels collapsed to the same seven families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8877300" y="5769769"/>
            <a:ext cx="4313039" cy="14288"/>
          </a:xfrm>
          <a:prstGeom prst="rect">
            <a:avLst/>
          </a:prstGeom>
          <a:solidFill>
            <a:srgbClr val="0088B0"/>
          </a:solidFill>
          <a:ln/>
        </p:spPr>
      </p:sp>
      <p:sp>
        <p:nvSpPr>
          <p:cNvPr id="28" name="Text 26"/>
          <p:cNvSpPr/>
          <p:nvPr/>
        </p:nvSpPr>
        <p:spPr>
          <a:xfrm>
            <a:off x="13133189" y="5614988"/>
            <a:ext cx="37326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913"/>
              </a:lnSpc>
              <a:buNone/>
            </a:pPr>
            <a:r>
              <a:rPr lang="en-US" sz="2550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→</a:t>
            </a:r>
            <a:endParaRPr lang="en-US" sz="2550" dirty="0"/>
          </a:p>
        </p:txBody>
      </p:sp>
      <p:sp>
        <p:nvSpPr>
          <p:cNvPr id="29" name="Shape 27"/>
          <p:cNvSpPr/>
          <p:nvPr/>
        </p:nvSpPr>
        <p:spPr>
          <a:xfrm>
            <a:off x="13430250" y="4972050"/>
            <a:ext cx="3486150" cy="1609725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0" name="Text 28"/>
          <p:cNvSpPr/>
          <p:nvPr/>
        </p:nvSpPr>
        <p:spPr>
          <a:xfrm>
            <a:off x="13658850" y="5162550"/>
            <a:ext cx="333184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2400" b="1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Prompt reading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3658850" y="5724525"/>
            <a:ext cx="333184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BAB6B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top-3 emotions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371600" y="6791325"/>
            <a:ext cx="15544800" cy="1743075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33" name="Text 31"/>
          <p:cNvSpPr/>
          <p:nvPr/>
        </p:nvSpPr>
        <p:spPr>
          <a:xfrm>
            <a:off x="1638300" y="7019925"/>
            <a:ext cx="1651254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240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Compare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638300" y="7620000"/>
            <a:ext cx="1546174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63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valence–arousal distance · valence-sign agreement · emotion-family agreement · top-3 overlap — every level against a 300-shuffle null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371600" y="8801100"/>
            <a:ext cx="1589341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63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image model is asked only factual questions. Caveat stated in the write-up: “what is the facial expression?” often returns a feeling word, so the separation is weaker than it appears.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933450"/>
            <a:ext cx="85382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44"/>
              </a:lnSpc>
              <a:buNone/>
            </a:pPr>
            <a:r>
              <a:rPr lang="en-US" sz="1950" spc="273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692807" y="914400"/>
            <a:ext cx="464595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 · Visualising Emotion · Sheffield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371600" y="1571625"/>
            <a:ext cx="8044815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48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1,025 real self-reports, and what it took to use them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3152775"/>
            <a:ext cx="207159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1,025 drawings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489162" y="3152775"/>
            <a:ext cx="266996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D6006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13 pre-festival tests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371600" y="3619500"/>
            <a:ext cx="15314414" cy="657225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8" name="Text 6"/>
          <p:cNvSpPr/>
          <p:nvPr/>
        </p:nvSpPr>
        <p:spPr>
          <a:xfrm>
            <a:off x="1543050" y="3714750"/>
            <a:ext cx="15430946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240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1,012 analysed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6724114" y="3619500"/>
            <a:ext cx="192286" cy="657225"/>
          </a:xfrm>
          <a:prstGeom prst="rect">
            <a:avLst/>
          </a:prstGeom>
          <a:solidFill>
            <a:srgbClr val="AA0B56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4429125"/>
            <a:ext cx="1709928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Cut A · does the prompt carry a feeling?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371600" y="4895850"/>
            <a:ext cx="9232553" cy="657225"/>
          </a:xfrm>
          <a:prstGeom prst="rect">
            <a:avLst/>
          </a:prstGeom>
          <a:solidFill>
            <a:srgbClr val="99E0FF"/>
          </a:solidFill>
          <a:ln/>
        </p:spPr>
      </p:sp>
      <p:sp>
        <p:nvSpPr>
          <p:cNvPr id="12" name="Text 10"/>
          <p:cNvSpPr/>
          <p:nvPr/>
        </p:nvSpPr>
        <p:spPr>
          <a:xfrm>
            <a:off x="1543050" y="4991100"/>
            <a:ext cx="9166629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240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607 emotional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642253" y="4895850"/>
            <a:ext cx="6274147" cy="657225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14" name="Text 12"/>
          <p:cNvSpPr/>
          <p:nvPr/>
        </p:nvSpPr>
        <p:spPr>
          <a:xfrm>
            <a:off x="10813703" y="4991100"/>
            <a:ext cx="611947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240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405 non-emotional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71600" y="5705475"/>
            <a:ext cx="1709928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Cut B · what did the reader find in the drawing?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371600" y="6172200"/>
            <a:ext cx="8998148" cy="657225"/>
          </a:xfrm>
          <a:prstGeom prst="rect">
            <a:avLst/>
          </a:prstGeom>
          <a:solidFill>
            <a:srgbClr val="99E0FF"/>
          </a:solidFill>
          <a:ln/>
        </p:spPr>
      </p:sp>
      <p:sp>
        <p:nvSpPr>
          <p:cNvPr id="17" name="Text 15"/>
          <p:cNvSpPr/>
          <p:nvPr/>
        </p:nvSpPr>
        <p:spPr>
          <a:xfrm>
            <a:off x="1543050" y="6267450"/>
            <a:ext cx="8925193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240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591 face-classified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0407848" y="6172200"/>
            <a:ext cx="6508552" cy="657225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19" name="Text 17"/>
          <p:cNvSpPr/>
          <p:nvPr/>
        </p:nvSpPr>
        <p:spPr>
          <a:xfrm>
            <a:off x="10579298" y="6267450"/>
            <a:ext cx="6360908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240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421 scene-classified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371600" y="7110413"/>
            <a:ext cx="4865043" cy="14288"/>
          </a:xfrm>
          <a:prstGeom prst="rect">
            <a:avLst/>
          </a:prstGeom>
          <a:solidFill>
            <a:srgbClr val="BAB6B6"/>
          </a:solidFill>
          <a:ln/>
        </p:spPr>
      </p:sp>
      <p:sp>
        <p:nvSpPr>
          <p:cNvPr id="21" name="Shape 19"/>
          <p:cNvSpPr/>
          <p:nvPr/>
        </p:nvSpPr>
        <p:spPr>
          <a:xfrm>
            <a:off x="1371600" y="7110413"/>
            <a:ext cx="14288" cy="114300"/>
          </a:xfrm>
          <a:prstGeom prst="rect">
            <a:avLst/>
          </a:prstGeom>
          <a:solidFill>
            <a:srgbClr val="BAB6B6"/>
          </a:solidFill>
          <a:ln/>
        </p:spPr>
      </p:sp>
      <p:sp>
        <p:nvSpPr>
          <p:cNvPr id="22" name="Text 20"/>
          <p:cNvSpPr/>
          <p:nvPr/>
        </p:nvSpPr>
        <p:spPr>
          <a:xfrm>
            <a:off x="6465243" y="6962775"/>
            <a:ext cx="589326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87 repeated prompts, covering 336 records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2051357" y="7110413"/>
            <a:ext cx="4865043" cy="14288"/>
          </a:xfrm>
          <a:prstGeom prst="rect">
            <a:avLst/>
          </a:prstGeom>
          <a:solidFill>
            <a:srgbClr val="BAB6B6"/>
          </a:solidFill>
          <a:ln/>
        </p:spPr>
      </p:sp>
      <p:sp>
        <p:nvSpPr>
          <p:cNvPr id="24" name="Shape 22"/>
          <p:cNvSpPr/>
          <p:nvPr/>
        </p:nvSpPr>
        <p:spPr>
          <a:xfrm>
            <a:off x="16902113" y="7110413"/>
            <a:ext cx="14288" cy="114300"/>
          </a:xfrm>
          <a:prstGeom prst="rect">
            <a:avLst/>
          </a:prstGeom>
          <a:solidFill>
            <a:srgbClr val="BAB6B6"/>
          </a:solidFill>
          <a:ln/>
        </p:spPr>
      </p:sp>
      <p:sp>
        <p:nvSpPr>
          <p:cNvPr id="25" name="Shape 23"/>
          <p:cNvSpPr/>
          <p:nvPr/>
        </p:nvSpPr>
        <p:spPr>
          <a:xfrm>
            <a:off x="1371600" y="7562850"/>
            <a:ext cx="1428750" cy="14287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7562850"/>
            <a:ext cx="1428750" cy="142875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2933700" y="7562850"/>
            <a:ext cx="1428750" cy="14287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933700" y="7562850"/>
            <a:ext cx="1428750" cy="142875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371600" y="9124950"/>
            <a:ext cx="33356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789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No. 38, face-classified · no. 774, scene-classified</a:t>
            </a:r>
            <a:endParaRPr lang="en-US" sz="2100" dirty="0"/>
          </a:p>
        </p:txBody>
      </p:sp>
      <p:sp>
        <p:nvSpPr>
          <p:cNvPr id="30" name="Text 26"/>
          <p:cNvSpPr/>
          <p:nvPr/>
        </p:nvSpPr>
        <p:spPr>
          <a:xfrm>
            <a:off x="5219700" y="7562850"/>
            <a:ext cx="12047601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7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 engineering </a:t>
            </a:r>
            <a:pPr algn="l" indent="0" marL="0">
              <a:lnSpc>
                <a:spcPct val="98737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 three incompatible filename schemes in one folder; a naive loader resolves under 20%.</a:t>
            </a:r>
            <a:endParaRPr lang="en-US" sz="2100" dirty="0"/>
          </a:p>
        </p:txBody>
      </p:sp>
      <p:sp>
        <p:nvSpPr>
          <p:cNvPr id="31" name="Text 27"/>
          <p:cNvSpPr/>
          <p:nvPr/>
        </p:nvSpPr>
        <p:spPr>
          <a:xfrm>
            <a:off x="5219700" y="8439150"/>
            <a:ext cx="12047601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7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 pre-processing </a:t>
            </a:r>
            <a:pPr algn="l" indent="0" marL="0">
              <a:lnSpc>
                <a:spcPct val="98737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 eight records contained names of private individuals; replaced with a placeholder. Verified inert.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01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933450"/>
            <a:ext cx="343694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44"/>
              </a:lnSpc>
              <a:buNone/>
            </a:pPr>
            <a:r>
              <a:rPr lang="en-US" sz="1950" spc="273" kern="0" dirty="0">
                <a:solidFill>
                  <a:srgbClr val="62C5E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EVALUATION DESIGN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692807" y="914400"/>
            <a:ext cx="464595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7 · Visualising Emotion · Sheffield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371600" y="1571625"/>
            <a:ext cx="11772900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48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Two checks that decide whether any number means anything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615059" y="3133725"/>
            <a:ext cx="626505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passes a naive threshold, fails against chance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698361" y="3133725"/>
            <a:ext cx="378925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62C5E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admissible — above chance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589568" y="3609975"/>
            <a:ext cx="6326832" cy="285750"/>
          </a:xfrm>
          <a:prstGeom prst="rect">
            <a:avLst/>
          </a:prstGeom>
          <a:solidFill>
            <a:srgbClr val="64C4EE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3743325"/>
            <a:ext cx="15544800" cy="14288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3609975"/>
            <a:ext cx="14288" cy="28575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16902113" y="3609975"/>
            <a:ext cx="14288" cy="28575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9268271" y="3629025"/>
            <a:ext cx="14288" cy="247650"/>
          </a:xfrm>
          <a:prstGeom prst="rect">
            <a:avLst/>
          </a:prstGeom>
          <a:solidFill>
            <a:srgbClr val="9B9797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89568" y="3419475"/>
            <a:ext cx="14288" cy="47625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3" name="Shape 11"/>
          <p:cNvSpPr/>
          <p:nvPr/>
        </p:nvSpPr>
        <p:spPr>
          <a:xfrm>
            <a:off x="12703671" y="3381375"/>
            <a:ext cx="14288" cy="381000"/>
          </a:xfrm>
          <a:prstGeom prst="rect">
            <a:avLst/>
          </a:prstGeom>
          <a:solidFill>
            <a:srgbClr val="62C5EE"/>
          </a:solidFill>
          <a:ln/>
        </p:spPr>
      </p:sp>
      <p:sp>
        <p:nvSpPr>
          <p:cNvPr id="14" name="Shape 12"/>
          <p:cNvSpPr/>
          <p:nvPr/>
        </p:nvSpPr>
        <p:spPr>
          <a:xfrm>
            <a:off x="12627471" y="3676650"/>
            <a:ext cx="171450" cy="171450"/>
          </a:xfrm>
          <a:prstGeom prst="ellipse">
            <a:avLst/>
          </a:prstGeom>
          <a:solidFill>
            <a:srgbClr val="62C5EE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010025"/>
            <a:ext cx="166019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385"/>
              </a:lnSpc>
              <a:buNone/>
            </a:pPr>
            <a:r>
              <a:rPr lang="en-US" sz="2850" b="1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41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371600" y="4419600"/>
            <a:ext cx="166019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metric floor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736211" y="4010025"/>
            <a:ext cx="47252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385"/>
              </a:lnSpc>
              <a:buNone/>
            </a:pPr>
            <a:r>
              <a:rPr lang="en-US" sz="2850" b="1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71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7010846" y="4419600"/>
            <a:ext cx="2333863" cy="4476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random pairings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703868" y="4010025"/>
            <a:ext cx="47252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2850" b="1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76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12504539" y="4010025"/>
            <a:ext cx="47252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385"/>
              </a:lnSpc>
              <a:buNone/>
            </a:pPr>
            <a:r>
              <a:rPr lang="en-US" sz="2850" b="1" dirty="0">
                <a:solidFill>
                  <a:srgbClr val="62C5E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84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12120265" y="4419600"/>
            <a:ext cx="124122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62C5E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observed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6245632" y="4010025"/>
            <a:ext cx="67076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714"/>
              </a:lnSpc>
              <a:buNone/>
            </a:pPr>
            <a:r>
              <a:rPr lang="en-US" sz="2850" b="1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100</a:t>
            </a:r>
            <a:endParaRPr lang="en-US" sz="2850" dirty="0"/>
          </a:p>
        </p:txBody>
      </p:sp>
      <p:sp>
        <p:nvSpPr>
          <p:cNvPr id="23" name="Shape 21"/>
          <p:cNvSpPr/>
          <p:nvPr/>
        </p:nvSpPr>
        <p:spPr>
          <a:xfrm>
            <a:off x="1371600" y="4886325"/>
            <a:ext cx="7562850" cy="3729335"/>
          </a:xfrm>
          <a:prstGeom prst="rect">
            <a:avLst/>
          </a:prstGeom>
          <a:solidFill>
            <a:srgbClr val="2A2827"/>
          </a:solidFill>
          <a:ln/>
        </p:spPr>
      </p:sp>
      <p:sp>
        <p:nvSpPr>
          <p:cNvPr id="24" name="Text 22"/>
          <p:cNvSpPr/>
          <p:nvPr/>
        </p:nvSpPr>
        <p:spPr>
          <a:xfrm>
            <a:off x="1638300" y="5114925"/>
            <a:ext cx="773239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5"/>
              </a:lnSpc>
              <a:buNone/>
            </a:pPr>
            <a:r>
              <a:rPr lang="en-US" sz="2550" b="1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 · A random-pairing null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1638300" y="5762625"/>
            <a:ext cx="367760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true pairing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5324475" y="5762625"/>
            <a:ext cx="367760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62C5E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shuffled</a:t>
            </a:r>
            <a:endParaRPr lang="en-US" sz="21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38300" y="6286500"/>
            <a:ext cx="3343275" cy="1519535"/>
          </a:xfrm>
          <a:prstGeom prst="rect">
            <a:avLst/>
          </a:prstGeom>
        </p:spPr>
      </p:pic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4475" y="6286500"/>
            <a:ext cx="3343275" cy="1519535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638300" y="7958435"/>
            <a:ext cx="773239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× 300, fixed seed.</a:t>
            </a:r>
            <a:endParaRPr lang="en-US" sz="2100" dirty="0"/>
          </a:p>
        </p:txBody>
      </p:sp>
      <p:sp>
        <p:nvSpPr>
          <p:cNvPr id="30" name="Shape 26"/>
          <p:cNvSpPr/>
          <p:nvPr/>
        </p:nvSpPr>
        <p:spPr>
          <a:xfrm>
            <a:off x="9353550" y="4886325"/>
            <a:ext cx="7562850" cy="3729335"/>
          </a:xfrm>
          <a:prstGeom prst="rect">
            <a:avLst/>
          </a:prstGeom>
          <a:solidFill>
            <a:srgbClr val="2A2827"/>
          </a:solidFill>
          <a:ln/>
        </p:spPr>
      </p:sp>
      <p:sp>
        <p:nvSpPr>
          <p:cNvPr id="31" name="Text 27"/>
          <p:cNvSpPr/>
          <p:nvPr/>
        </p:nvSpPr>
        <p:spPr>
          <a:xfrm>
            <a:off x="9620250" y="5114925"/>
            <a:ext cx="773239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5"/>
              </a:lnSpc>
              <a:buNone/>
            </a:pPr>
            <a:r>
              <a:rPr lang="en-US" sz="2550" b="1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 · A specificity check</a:t>
            </a:r>
            <a:endParaRPr lang="en-US" sz="2550" dirty="0"/>
          </a:p>
        </p:txBody>
      </p:sp>
      <p:sp>
        <p:nvSpPr>
          <p:cNvPr id="32" name="Text 28"/>
          <p:cNvSpPr/>
          <p:nvPr/>
        </p:nvSpPr>
        <p:spPr>
          <a:xfrm>
            <a:off x="9620250" y="5762625"/>
            <a:ext cx="7240334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043"/>
              </a:lnSpc>
              <a:buNone/>
            </a:pPr>
            <a:r>
              <a:rPr lang="en-US" sz="2550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405 prompts carry no feeling — “pigs”, “mickey mouse”. On these the valence-arousal metric returns 76.6% against a null of 76.6%, z = +0.3.</a:t>
            </a:r>
            <a:endParaRPr lang="en-US" sz="2550" dirty="0"/>
          </a:p>
        </p:txBody>
      </p:sp>
      <p:sp>
        <p:nvSpPr>
          <p:cNvPr id="33" name="Text 29"/>
          <p:cNvSpPr/>
          <p:nvPr/>
        </p:nvSpPr>
        <p:spPr>
          <a:xfrm>
            <a:off x="1371600" y="8801100"/>
            <a:ext cx="1601114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63"/>
              </a:lnSpc>
              <a:buNone/>
            </a:pPr>
            <a:r>
              <a:rPr lang="en-US" sz="210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Consequence: a valence-arousal score of 71 reads as a pass but is below chance. Reporting therefore leads with valence-sign and family agreement, which the metric cannot substitute for.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933450"/>
            <a:ext cx="143410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44"/>
              </a:lnSpc>
              <a:buNone/>
            </a:pPr>
            <a:r>
              <a:rPr lang="en-US" sz="1950" spc="273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RESULTS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692807" y="914400"/>
            <a:ext cx="464595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8 · Visualising Emotion · Sheffield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371600" y="1571625"/>
            <a:ext cx="11969115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48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Agreement is above chance, and strongest for face-classified drawings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3114675"/>
            <a:ext cx="31432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71"/>
              </a:lnSpc>
              <a:buNone/>
            </a:pPr>
            <a:r>
              <a:rPr lang="en-US" sz="1875" spc="263" kern="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SUBSET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4648200" y="3114675"/>
            <a:ext cx="651700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71"/>
              </a:lnSpc>
              <a:buNone/>
            </a:pPr>
            <a:r>
              <a:rPr lang="en-US" sz="1875" spc="263" kern="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VALENCE-SIGN AGREEMENT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0991850" y="3114675"/>
            <a:ext cx="651700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71"/>
              </a:lnSpc>
              <a:buNone/>
            </a:pPr>
            <a:r>
              <a:rPr lang="en-US" sz="1875" spc="263" kern="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EMOTION-FAMILY AGREEMENT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371600" y="3590925"/>
            <a:ext cx="31432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Emotional prompts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4057650"/>
            <a:ext cx="31432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71"/>
              </a:lnSpc>
              <a:buNone/>
            </a:pPr>
            <a:r>
              <a:rPr lang="en-US" sz="1875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(n=607)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4648200" y="3590925"/>
            <a:ext cx="5924550" cy="9525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11" name="Shape 9"/>
          <p:cNvSpPr/>
          <p:nvPr/>
        </p:nvSpPr>
        <p:spPr>
          <a:xfrm>
            <a:off x="7349728" y="3790950"/>
            <a:ext cx="1090017" cy="23813"/>
          </a:xfrm>
          <a:prstGeom prst="rect">
            <a:avLst/>
          </a:prstGeom>
          <a:solidFill>
            <a:srgbClr val="006786"/>
          </a:solidFill>
          <a:ln/>
        </p:spPr>
      </p:sp>
      <p:sp>
        <p:nvSpPr>
          <p:cNvPr id="12" name="Shape 10"/>
          <p:cNvSpPr/>
          <p:nvPr/>
        </p:nvSpPr>
        <p:spPr>
          <a:xfrm>
            <a:off x="7283053" y="3733800"/>
            <a:ext cx="142875" cy="142875"/>
          </a:xfrm>
          <a:prstGeom prst="ellipse">
            <a:avLst/>
          </a:prstGeom>
          <a:solidFill>
            <a:srgbClr val="F3F2F2"/>
          </a:solidFill>
          <a:ln w="23813">
            <a:solidFill>
              <a:srgbClr val="00678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73219" y="3733800"/>
            <a:ext cx="142875" cy="142875"/>
          </a:xfrm>
          <a:prstGeom prst="ellipse">
            <a:avLst/>
          </a:prstGeom>
          <a:solidFill>
            <a:srgbClr val="006786"/>
          </a:solidFill>
          <a:ln/>
        </p:spPr>
      </p:sp>
      <p:sp>
        <p:nvSpPr>
          <p:cNvPr id="14" name="Text 12"/>
          <p:cNvSpPr/>
          <p:nvPr/>
        </p:nvSpPr>
        <p:spPr>
          <a:xfrm>
            <a:off x="4648200" y="3943350"/>
            <a:ext cx="273168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64.0% vs null 45.6%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341096" y="3943350"/>
            <a:ext cx="93568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z +11.1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991850" y="3590925"/>
            <a:ext cx="5924550" cy="9525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17" name="Shape 15"/>
          <p:cNvSpPr/>
          <p:nvPr/>
        </p:nvSpPr>
        <p:spPr>
          <a:xfrm>
            <a:off x="13290500" y="3790950"/>
            <a:ext cx="847130" cy="23813"/>
          </a:xfrm>
          <a:prstGeom prst="rect">
            <a:avLst/>
          </a:prstGeom>
          <a:solidFill>
            <a:srgbClr val="006786"/>
          </a:solidFill>
          <a:ln/>
        </p:spPr>
      </p:sp>
      <p:sp>
        <p:nvSpPr>
          <p:cNvPr id="18" name="Shape 16"/>
          <p:cNvSpPr/>
          <p:nvPr/>
        </p:nvSpPr>
        <p:spPr>
          <a:xfrm>
            <a:off x="13223825" y="3733800"/>
            <a:ext cx="142875" cy="142875"/>
          </a:xfrm>
          <a:prstGeom prst="ellipse">
            <a:avLst/>
          </a:prstGeom>
          <a:solidFill>
            <a:srgbClr val="F3F2F2"/>
          </a:solidFill>
          <a:ln w="23813">
            <a:solidFill>
              <a:srgbClr val="00678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071104" y="3733800"/>
            <a:ext cx="142875" cy="142875"/>
          </a:xfrm>
          <a:prstGeom prst="ellipse">
            <a:avLst/>
          </a:prstGeom>
          <a:solidFill>
            <a:srgbClr val="006786"/>
          </a:solidFill>
          <a:ln/>
        </p:spPr>
      </p:sp>
      <p:sp>
        <p:nvSpPr>
          <p:cNvPr id="20" name="Text 18"/>
          <p:cNvSpPr/>
          <p:nvPr/>
        </p:nvSpPr>
        <p:spPr>
          <a:xfrm>
            <a:off x="10991850" y="3943350"/>
            <a:ext cx="273168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53.1% vs null 38.8%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3684746" y="3943350"/>
            <a:ext cx="93568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z +10.3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790700" y="4533900"/>
            <a:ext cx="268224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Face-classified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790700" y="5000625"/>
            <a:ext cx="268224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71"/>
              </a:lnSpc>
              <a:buNone/>
            </a:pPr>
            <a:r>
              <a:rPr lang="en-US" sz="1875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(n=402)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4648200" y="4533900"/>
            <a:ext cx="5924550" cy="9525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25" name="Shape 23"/>
          <p:cNvSpPr/>
          <p:nvPr/>
        </p:nvSpPr>
        <p:spPr>
          <a:xfrm>
            <a:off x="7817793" y="4733925"/>
            <a:ext cx="1208484" cy="23813"/>
          </a:xfrm>
          <a:prstGeom prst="rect">
            <a:avLst/>
          </a:prstGeom>
          <a:solidFill>
            <a:srgbClr val="006786"/>
          </a:solidFill>
          <a:ln/>
        </p:spPr>
      </p:sp>
      <p:sp>
        <p:nvSpPr>
          <p:cNvPr id="26" name="Shape 24"/>
          <p:cNvSpPr/>
          <p:nvPr/>
        </p:nvSpPr>
        <p:spPr>
          <a:xfrm>
            <a:off x="7751118" y="4676775"/>
            <a:ext cx="142875" cy="142875"/>
          </a:xfrm>
          <a:prstGeom prst="ellipse">
            <a:avLst/>
          </a:prstGeom>
          <a:solidFill>
            <a:srgbClr val="F3F2F2"/>
          </a:solidFill>
          <a:ln w="23813">
            <a:solidFill>
              <a:srgbClr val="00678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59751" y="4676775"/>
            <a:ext cx="142875" cy="142875"/>
          </a:xfrm>
          <a:prstGeom prst="ellipse">
            <a:avLst/>
          </a:prstGeom>
          <a:solidFill>
            <a:srgbClr val="006786"/>
          </a:solidFill>
          <a:ln/>
        </p:spPr>
      </p:sp>
      <p:sp>
        <p:nvSpPr>
          <p:cNvPr id="28" name="Text 26"/>
          <p:cNvSpPr/>
          <p:nvPr/>
        </p:nvSpPr>
        <p:spPr>
          <a:xfrm>
            <a:off x="4648200" y="4886325"/>
            <a:ext cx="273168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73.9% vs null 53.5%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7341096" y="4886325"/>
            <a:ext cx="93568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z +10.4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0991850" y="4533900"/>
            <a:ext cx="5924550" cy="9525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31" name="Shape 29"/>
          <p:cNvSpPr/>
          <p:nvPr/>
        </p:nvSpPr>
        <p:spPr>
          <a:xfrm>
            <a:off x="13705284" y="4733925"/>
            <a:ext cx="953839" cy="23813"/>
          </a:xfrm>
          <a:prstGeom prst="rect">
            <a:avLst/>
          </a:prstGeom>
          <a:solidFill>
            <a:srgbClr val="006786"/>
          </a:solidFill>
          <a:ln/>
        </p:spPr>
      </p:sp>
      <p:sp>
        <p:nvSpPr>
          <p:cNvPr id="32" name="Shape 30"/>
          <p:cNvSpPr/>
          <p:nvPr/>
        </p:nvSpPr>
        <p:spPr>
          <a:xfrm>
            <a:off x="13638609" y="4676775"/>
            <a:ext cx="142875" cy="142875"/>
          </a:xfrm>
          <a:prstGeom prst="ellipse">
            <a:avLst/>
          </a:prstGeom>
          <a:solidFill>
            <a:srgbClr val="F3F2F2"/>
          </a:solidFill>
          <a:ln w="23813">
            <a:solidFill>
              <a:srgbClr val="00678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592449" y="4676775"/>
            <a:ext cx="142875" cy="142875"/>
          </a:xfrm>
          <a:prstGeom prst="ellipse">
            <a:avLst/>
          </a:prstGeom>
          <a:solidFill>
            <a:srgbClr val="006786"/>
          </a:solidFill>
          <a:ln/>
        </p:spPr>
      </p:sp>
      <p:sp>
        <p:nvSpPr>
          <p:cNvPr id="34" name="Text 32"/>
          <p:cNvSpPr/>
          <p:nvPr/>
        </p:nvSpPr>
        <p:spPr>
          <a:xfrm>
            <a:off x="10991850" y="4886325"/>
            <a:ext cx="273168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61.9% vs null 45.8%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3684746" y="4886325"/>
            <a:ext cx="93568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z +10.3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790700" y="5476875"/>
            <a:ext cx="268224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Scene-classified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790700" y="5943600"/>
            <a:ext cx="268224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71"/>
              </a:lnSpc>
              <a:buNone/>
            </a:pPr>
            <a:r>
              <a:rPr lang="en-US" sz="1875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(n=205)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4648200" y="5476875"/>
            <a:ext cx="5924550" cy="9525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39" name="Shape 37"/>
          <p:cNvSpPr/>
          <p:nvPr/>
        </p:nvSpPr>
        <p:spPr>
          <a:xfrm>
            <a:off x="6401842" y="5676900"/>
            <a:ext cx="787896" cy="23813"/>
          </a:xfrm>
          <a:prstGeom prst="rect">
            <a:avLst/>
          </a:prstGeom>
          <a:solidFill>
            <a:srgbClr val="006786"/>
          </a:solidFill>
          <a:ln/>
        </p:spPr>
      </p:sp>
      <p:sp>
        <p:nvSpPr>
          <p:cNvPr id="40" name="Shape 38"/>
          <p:cNvSpPr/>
          <p:nvPr/>
        </p:nvSpPr>
        <p:spPr>
          <a:xfrm>
            <a:off x="6335167" y="5619750"/>
            <a:ext cx="142875" cy="142875"/>
          </a:xfrm>
          <a:prstGeom prst="ellipse">
            <a:avLst/>
          </a:prstGeom>
          <a:solidFill>
            <a:srgbClr val="F3F2F2"/>
          </a:solidFill>
          <a:ln w="23813">
            <a:solidFill>
              <a:srgbClr val="00678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23063" y="5619750"/>
            <a:ext cx="142875" cy="142875"/>
          </a:xfrm>
          <a:prstGeom prst="ellipse">
            <a:avLst/>
          </a:prstGeom>
          <a:solidFill>
            <a:srgbClr val="006786"/>
          </a:solidFill>
          <a:ln/>
        </p:spPr>
      </p:sp>
      <p:sp>
        <p:nvSpPr>
          <p:cNvPr id="42" name="Text 40"/>
          <p:cNvSpPr/>
          <p:nvPr/>
        </p:nvSpPr>
        <p:spPr>
          <a:xfrm>
            <a:off x="4648200" y="5829300"/>
            <a:ext cx="273168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42.9% vs null 29.6%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7341096" y="5829300"/>
            <a:ext cx="78968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z +5.8</a:t>
            </a:r>
            <a:endParaRPr lang="en-US" sz="2100" dirty="0"/>
          </a:p>
        </p:txBody>
      </p:sp>
      <p:sp>
        <p:nvSpPr>
          <p:cNvPr id="44" name="Shape 42"/>
          <p:cNvSpPr/>
          <p:nvPr/>
        </p:nvSpPr>
        <p:spPr>
          <a:xfrm>
            <a:off x="10991850" y="5476875"/>
            <a:ext cx="5924550" cy="9525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45" name="Shape 43"/>
          <p:cNvSpPr/>
          <p:nvPr/>
        </p:nvSpPr>
        <p:spPr>
          <a:xfrm>
            <a:off x="12543979" y="5676900"/>
            <a:ext cx="556766" cy="23813"/>
          </a:xfrm>
          <a:prstGeom prst="rect">
            <a:avLst/>
          </a:prstGeom>
          <a:solidFill>
            <a:srgbClr val="006786"/>
          </a:solidFill>
          <a:ln/>
        </p:spPr>
      </p:sp>
      <p:sp>
        <p:nvSpPr>
          <p:cNvPr id="46" name="Shape 44"/>
          <p:cNvSpPr/>
          <p:nvPr/>
        </p:nvSpPr>
        <p:spPr>
          <a:xfrm>
            <a:off x="12477304" y="5619750"/>
            <a:ext cx="142875" cy="142875"/>
          </a:xfrm>
          <a:prstGeom prst="ellipse">
            <a:avLst/>
          </a:prstGeom>
          <a:solidFill>
            <a:srgbClr val="F3F2F2"/>
          </a:solidFill>
          <a:ln w="23813">
            <a:solidFill>
              <a:srgbClr val="00678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034218" y="5619750"/>
            <a:ext cx="142875" cy="142875"/>
          </a:xfrm>
          <a:prstGeom prst="ellipse">
            <a:avLst/>
          </a:prstGeom>
          <a:solidFill>
            <a:srgbClr val="006786"/>
          </a:solidFill>
          <a:ln/>
        </p:spPr>
      </p:sp>
      <p:sp>
        <p:nvSpPr>
          <p:cNvPr id="48" name="Text 46"/>
          <p:cNvSpPr/>
          <p:nvPr/>
        </p:nvSpPr>
        <p:spPr>
          <a:xfrm>
            <a:off x="10991850" y="5829300"/>
            <a:ext cx="273168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35.6% vs null 26.2%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13684746" y="5829300"/>
            <a:ext cx="78968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z +4.4</a:t>
            </a:r>
            <a:endParaRPr lang="en-US" sz="2100" dirty="0"/>
          </a:p>
        </p:txBody>
      </p:sp>
      <p:sp>
        <p:nvSpPr>
          <p:cNvPr id="50" name="Text 48"/>
          <p:cNvSpPr/>
          <p:nvPr/>
        </p:nvSpPr>
        <p:spPr>
          <a:xfrm>
            <a:off x="1371600" y="6419850"/>
            <a:ext cx="31432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Non-emotional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1371600" y="6886575"/>
            <a:ext cx="31432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71"/>
              </a:lnSpc>
              <a:buNone/>
            </a:pPr>
            <a:r>
              <a:rPr lang="en-US" sz="1875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(n=405)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4648200" y="6419850"/>
            <a:ext cx="12268200" cy="9525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53" name="Shape 51"/>
          <p:cNvSpPr/>
          <p:nvPr/>
        </p:nvSpPr>
        <p:spPr>
          <a:xfrm>
            <a:off x="9243417" y="6562725"/>
            <a:ext cx="142875" cy="142875"/>
          </a:xfrm>
          <a:prstGeom prst="ellipse">
            <a:avLst/>
          </a:prstGeom>
          <a:solidFill>
            <a:srgbClr val="F3F2F2"/>
          </a:solidFill>
          <a:ln w="23813">
            <a:solidFill>
              <a:srgbClr val="605D5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281517" y="6600825"/>
            <a:ext cx="66675" cy="66675"/>
          </a:xfrm>
          <a:prstGeom prst="ellipse">
            <a:avLst/>
          </a:prstGeom>
          <a:solidFill>
            <a:srgbClr val="605D5D"/>
          </a:solidFill>
          <a:ln/>
        </p:spPr>
      </p:sp>
      <p:sp>
        <p:nvSpPr>
          <p:cNvPr id="55" name="Text 53"/>
          <p:cNvSpPr/>
          <p:nvPr/>
        </p:nvSpPr>
        <p:spPr>
          <a:xfrm>
            <a:off x="4648200" y="6772275"/>
            <a:ext cx="508764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Valence–arousal 76.6% vs null 76.6%</a:t>
            </a:r>
            <a:endParaRPr lang="en-US" sz="2100" dirty="0"/>
          </a:p>
        </p:txBody>
      </p:sp>
      <p:sp>
        <p:nvSpPr>
          <p:cNvPr id="56" name="Text 54"/>
          <p:cNvSpPr/>
          <p:nvPr/>
        </p:nvSpPr>
        <p:spPr>
          <a:xfrm>
            <a:off x="9482882" y="6772275"/>
            <a:ext cx="78968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z +0.3</a:t>
            </a:r>
            <a:endParaRPr lang="en-US" sz="2100" dirty="0"/>
          </a:p>
        </p:txBody>
      </p:sp>
      <p:sp>
        <p:nvSpPr>
          <p:cNvPr id="57" name="Text 55"/>
          <p:cNvSpPr/>
          <p:nvPr/>
        </p:nvSpPr>
        <p:spPr>
          <a:xfrm>
            <a:off x="10405914" y="6772275"/>
            <a:ext cx="40811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 sign and family degenerate</a:t>
            </a:r>
            <a:endParaRPr lang="en-US" sz="2100" dirty="0"/>
          </a:p>
        </p:txBody>
      </p:sp>
      <p:sp>
        <p:nvSpPr>
          <p:cNvPr id="58" name="Text 56"/>
          <p:cNvSpPr/>
          <p:nvPr/>
        </p:nvSpPr>
        <p:spPr>
          <a:xfrm>
            <a:off x="1371600" y="7381875"/>
            <a:ext cx="1709928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Hollow marker: the null. Filled: the observed figure. The rule between them is the effect; lanes run 0–100%.</a:t>
            </a:r>
            <a:endParaRPr lang="en-US" sz="2100" dirty="0"/>
          </a:p>
        </p:txBody>
      </p:sp>
      <p:sp>
        <p:nvSpPr>
          <p:cNvPr id="59" name="Text 57"/>
          <p:cNvSpPr/>
          <p:nvPr/>
        </p:nvSpPr>
        <p:spPr>
          <a:xfrm>
            <a:off x="1371600" y="7943850"/>
            <a:ext cx="5049164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7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Repeated prompts </a:t>
            </a:r>
            <a:pPr algn="l" indent="0" marL="0">
              <a:lnSpc>
                <a:spcPct val="98737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 68.8% within a group vs a null of 59.1% (z +4.9).</a:t>
            </a:r>
            <a:endParaRPr lang="en-US" sz="2100" dirty="0"/>
          </a:p>
        </p:txBody>
      </p:sp>
      <p:sp>
        <p:nvSpPr>
          <p:cNvPr id="60" name="Text 58"/>
          <p:cNvSpPr/>
          <p:nvPr/>
        </p:nvSpPr>
        <p:spPr>
          <a:xfrm>
            <a:off x="6692801" y="7943850"/>
            <a:ext cx="5049317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7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Method comparison </a:t>
            </a:r>
            <a:pPr algn="l" indent="0" marL="0">
              <a:lnSpc>
                <a:spcPct val="98737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 describe-then-extract 49.3% family agreement vs direct-CLIP 25.3%.</a:t>
            </a:r>
            <a:endParaRPr lang="en-US" sz="2100" dirty="0"/>
          </a:p>
        </p:txBody>
      </p:sp>
      <p:sp>
        <p:nvSpPr>
          <p:cNvPr id="61" name="Text 59"/>
          <p:cNvSpPr/>
          <p:nvPr/>
        </p:nvSpPr>
        <p:spPr>
          <a:xfrm>
            <a:off x="12014150" y="7943850"/>
            <a:ext cx="5049164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7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Robustness </a:t>
            </a:r>
            <a:pPr algn="l" indent="0" marL="0">
              <a:lnSpc>
                <a:spcPct val="98737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 on 763 distinct prompts overall and face hold (z +9 to +11); scene weakens to 37.3%.</a:t>
            </a:r>
            <a:endParaRPr lang="en-US" sz="2100" dirty="0"/>
          </a:p>
        </p:txBody>
      </p:sp>
      <p:sp>
        <p:nvSpPr>
          <p:cNvPr id="62" name="Text 60"/>
          <p:cNvSpPr/>
          <p:nvPr/>
        </p:nvSpPr>
        <p:spPr>
          <a:xfrm>
            <a:off x="1371600" y="9001125"/>
            <a:ext cx="1589341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63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 formal significance test of the face–scene difference has been run; both rates are reported against their own nulls instead.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01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933450"/>
            <a:ext cx="286363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44"/>
              </a:lnSpc>
              <a:buNone/>
            </a:pPr>
            <a:r>
              <a:rPr lang="en-US" sz="1950" spc="273" kern="0" dirty="0">
                <a:solidFill>
                  <a:srgbClr val="62C5E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DEMONSTRATION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692807" y="914400"/>
            <a:ext cx="464595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 · Visualising Emotion · Sheffield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371600" y="1533525"/>
            <a:ext cx="1709928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48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pipeline, running live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2686050"/>
            <a:ext cx="12573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577"/>
              </a:lnSpc>
              <a:buNone/>
            </a:pPr>
            <a:r>
              <a:rPr lang="en-US" sz="3900" b="1" dirty="0">
                <a:solidFill>
                  <a:srgbClr val="62C5E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2552700" y="2686050"/>
            <a:ext cx="1580007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481"/>
              </a:lnSpc>
              <a:buNone/>
            </a:pPr>
            <a:r>
              <a:rPr lang="en-US" sz="3000" b="1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Choose a drawing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552700" y="3181350"/>
            <a:ext cx="1580007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5"/>
              </a:lnSpc>
              <a:buNone/>
            </a:pPr>
            <a:r>
              <a:rPr lang="en-US" sz="255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from the festival dataset, or upload an image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371600" y="4057650"/>
            <a:ext cx="12573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577"/>
              </a:lnSpc>
              <a:buNone/>
            </a:pPr>
            <a:r>
              <a:rPr lang="en-US" sz="3900" b="1" dirty="0">
                <a:solidFill>
                  <a:srgbClr val="62C5E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2552700" y="4057650"/>
            <a:ext cx="1580007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481"/>
              </a:lnSpc>
              <a:buNone/>
            </a:pPr>
            <a:r>
              <a:rPr lang="en-US" sz="3000" b="1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Watch it described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52700" y="4552950"/>
            <a:ext cx="1580007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5"/>
              </a:lnSpc>
              <a:buNone/>
            </a:pPr>
            <a:r>
              <a:rPr lang="en-US" sz="255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five factual answers, then the emotion read from them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371600" y="5429250"/>
            <a:ext cx="12573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577"/>
              </a:lnSpc>
              <a:buNone/>
            </a:pPr>
            <a:r>
              <a:rPr lang="en-US" sz="3900" b="1" dirty="0">
                <a:solidFill>
                  <a:srgbClr val="62C5E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2552700" y="5429250"/>
            <a:ext cx="1580007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481"/>
              </a:lnSpc>
              <a:buNone/>
            </a:pPr>
            <a:r>
              <a:rPr lang="en-US" sz="3000" b="1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Compare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552700" y="5924550"/>
            <a:ext cx="1580007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5"/>
              </a:lnSpc>
              <a:buNone/>
            </a:pPr>
            <a:r>
              <a:rPr lang="en-US" sz="255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both readings, and the score against the chance line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371600" y="8648700"/>
            <a:ext cx="1353883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65"/>
              </a:lnSpc>
              <a:buNone/>
            </a:pPr>
            <a:r>
              <a:rPr lang="en-US" sz="2550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Every figure the interface shows is referenced to the measured chance line, and nothing a visitor types is stored.</a:t>
            </a:r>
            <a:endParaRPr lang="en-US" sz="2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01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933450"/>
            <a:ext cx="214215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44"/>
              </a:lnSpc>
              <a:buNone/>
            </a:pPr>
            <a:r>
              <a:rPr lang="en-US" sz="1950" spc="273" kern="0" dirty="0">
                <a:solidFill>
                  <a:srgbClr val="62C5E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CONCLUSION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551718" y="914400"/>
            <a:ext cx="480115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10 · Visualising Emotion · Sheffield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371600" y="1533525"/>
            <a:ext cx="1709928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48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What this establishes, and what it does not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371600" y="2495550"/>
            <a:ext cx="7600950" cy="4514850"/>
          </a:xfrm>
          <a:prstGeom prst="rect">
            <a:avLst/>
          </a:prstGeom>
          <a:solidFill>
            <a:srgbClr val="2A2827"/>
          </a:solidFill>
          <a:ln/>
        </p:spPr>
      </p:sp>
      <p:sp>
        <p:nvSpPr>
          <p:cNvPr id="6" name="Text 4"/>
          <p:cNvSpPr/>
          <p:nvPr/>
        </p:nvSpPr>
        <p:spPr>
          <a:xfrm>
            <a:off x="1657350" y="2724150"/>
            <a:ext cx="773239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71"/>
              </a:lnSpc>
              <a:buNone/>
            </a:pPr>
            <a:r>
              <a:rPr lang="en-US" sz="1875" spc="263" kern="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ESTABLISHED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729740" y="3257550"/>
            <a:ext cx="7033260" cy="3505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94545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Agreement well above chance on every metric.</a:t>
            </a:r>
            <a:endParaRPr lang="en-US" sz="2400" dirty="0"/>
          </a:p>
          <a:p>
            <a:pPr algn="l" marL="213360" indent="-213360">
              <a:lnSpc>
                <a:spcPct val="94545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Substantially higher for face-classified drawings.</a:t>
            </a:r>
            <a:endParaRPr lang="en-US" sz="2400" dirty="0"/>
          </a:p>
          <a:p>
            <a:pPr algn="l" marL="213360" indent="-213360">
              <a:lnSpc>
                <a:spcPct val="94545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same prompt does not reliably yield the same recovered emotion (69% vs 59% null).</a:t>
            </a:r>
            <a:endParaRPr lang="en-US" sz="2400" dirty="0"/>
          </a:p>
          <a:p>
            <a:pPr algn="l" marL="213360" indent="-213360">
              <a:lnSpc>
                <a:spcPct val="94545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Describe-then-extract agrees more than reading the image directly.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315450" y="2495550"/>
            <a:ext cx="7600950" cy="4514850"/>
          </a:xfrm>
          <a:prstGeom prst="rect">
            <a:avLst/>
          </a:prstGeom>
          <a:solidFill>
            <a:srgbClr val="4B1528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0" y="2724150"/>
            <a:ext cx="773239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71"/>
              </a:lnSpc>
              <a:buNone/>
            </a:pPr>
            <a:r>
              <a:rPr lang="en-US" sz="1875" spc="263" kern="0" dirty="0">
                <a:solidFill>
                  <a:srgbClr val="FFC0D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NOT ESTABLISHED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9673590" y="3257550"/>
            <a:ext cx="7033260" cy="272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94545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What a human viewer perceives.</a:t>
            </a:r>
            <a:endParaRPr lang="en-US" sz="2400" dirty="0"/>
          </a:p>
          <a:p>
            <a:pPr algn="l" marL="213360" indent="-213360">
              <a:lnSpc>
                <a:spcPct val="94545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That the face–scene gap is statistically significant.</a:t>
            </a:r>
            <a:endParaRPr lang="en-US" sz="2400" dirty="0"/>
          </a:p>
          <a:p>
            <a:pPr algn="l" marL="213360" indent="-213360">
              <a:lnSpc>
                <a:spcPct val="94545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Any effect of colour.</a:t>
            </a:r>
            <a:endParaRPr lang="en-US" sz="2400" dirty="0"/>
          </a:p>
          <a:p>
            <a:pPr algn="l" marL="213360" indent="-213360">
              <a:lnSpc>
                <a:spcPct val="94545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Any positive-versus-negative direction; that claim was withdrawn.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7248525"/>
            <a:ext cx="10273541" cy="1438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52"/>
              </a:lnSpc>
              <a:buNone/>
            </a:pPr>
            <a:r>
              <a:rPr lang="en-US" sz="3000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contribution is a chance-referenced similarity measure for emotional agreement — not a new classifier.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1917412" y="8153400"/>
            <a:ext cx="5498887" cy="533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4565"/>
              </a:lnSpc>
              <a:buNone/>
            </a:pPr>
            <a:r>
              <a:rPr lang="en-US" sz="255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Thank you — questions welcome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371600" y="8801100"/>
            <a:ext cx="1295019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63"/>
              </a:lnSpc>
              <a:buNone/>
            </a:pPr>
            <a:r>
              <a:rPr lang="en-US" sz="210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Future work: human validation of both readers · sketch-trained describers · a formal test and confidence intervals for the face–scene difference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01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933450"/>
            <a:ext cx="704153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44"/>
              </a:lnSpc>
              <a:buNone/>
            </a:pPr>
            <a:r>
              <a:rPr lang="en-US" sz="1950" spc="273" kern="0" dirty="0">
                <a:solidFill>
                  <a:srgbClr val="62C5E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BACKUP · IF THE DEMONSTRATION STALLS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551718" y="914400"/>
            <a:ext cx="480115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11 · Visualising Emotion · Sheffield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371600" y="1533525"/>
            <a:ext cx="1709928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48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same pipeline, on record no. 201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371600" y="2476500"/>
            <a:ext cx="2343150" cy="22669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3252"/>
          <a:stretch/>
        </p:blipFill>
        <p:spPr>
          <a:xfrm>
            <a:off x="1371600" y="2476500"/>
            <a:ext cx="2343150" cy="22669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4838700"/>
            <a:ext cx="257746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Drawing no. 201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676650" y="2476500"/>
            <a:ext cx="495300" cy="2809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4565"/>
              </a:lnSpc>
              <a:buNone/>
            </a:pPr>
            <a:r>
              <a:rPr lang="en-US" sz="2550" dirty="0">
                <a:solidFill>
                  <a:srgbClr val="62C5E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→</a:t>
            </a:r>
            <a:endParaRPr lang="en-US" sz="2550" dirty="0"/>
          </a:p>
        </p:txBody>
      </p:sp>
      <p:sp>
        <p:nvSpPr>
          <p:cNvPr id="9" name="Shape 6"/>
          <p:cNvSpPr/>
          <p:nvPr/>
        </p:nvSpPr>
        <p:spPr>
          <a:xfrm>
            <a:off x="4133850" y="2476500"/>
            <a:ext cx="3565475" cy="1628775"/>
          </a:xfrm>
          <a:prstGeom prst="rect">
            <a:avLst/>
          </a:prstGeom>
          <a:solidFill>
            <a:srgbClr val="2A2827"/>
          </a:solidFill>
          <a:ln/>
        </p:spPr>
      </p:sp>
      <p:sp>
        <p:nvSpPr>
          <p:cNvPr id="10" name="Text 7"/>
          <p:cNvSpPr/>
          <p:nvPr/>
        </p:nvSpPr>
        <p:spPr>
          <a:xfrm>
            <a:off x="4362450" y="2667000"/>
            <a:ext cx="3419103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2400" b="1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Five answers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362450" y="3228975"/>
            <a:ext cx="320152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789"/>
              </a:lnSpc>
              <a:buNone/>
            </a:pPr>
            <a:r>
              <a:rPr lang="en-US" sz="2100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smile · smiling · standing · 3 · three faces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661225" y="2476500"/>
            <a:ext cx="495300" cy="2809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4565"/>
              </a:lnSpc>
              <a:buNone/>
            </a:pPr>
            <a:r>
              <a:rPr lang="en-US" sz="2550" dirty="0">
                <a:solidFill>
                  <a:srgbClr val="62C5E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→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8118425" y="2476500"/>
            <a:ext cx="4635103" cy="2314575"/>
          </a:xfrm>
          <a:prstGeom prst="rect">
            <a:avLst/>
          </a:prstGeom>
          <a:solidFill>
            <a:srgbClr val="2A2827"/>
          </a:solidFill>
          <a:ln/>
        </p:spPr>
      </p:sp>
      <p:sp>
        <p:nvSpPr>
          <p:cNvPr id="14" name="Text 11"/>
          <p:cNvSpPr/>
          <p:nvPr/>
        </p:nvSpPr>
        <p:spPr>
          <a:xfrm>
            <a:off x="8347025" y="2667000"/>
            <a:ext cx="4595693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2400" b="1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One sentence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347025" y="3228975"/>
            <a:ext cx="430324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789"/>
              </a:lnSpc>
              <a:buNone/>
            </a:pPr>
            <a:r>
              <a:rPr lang="en-US" sz="2100" i="1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“A drawing of 3 showing three faces. The person is smiling, standing. The facial expression is smile.”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2715429" y="2476500"/>
            <a:ext cx="495300" cy="2809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4565"/>
              </a:lnSpc>
              <a:buNone/>
            </a:pPr>
            <a:r>
              <a:rPr lang="en-US" sz="2550" dirty="0">
                <a:solidFill>
                  <a:srgbClr val="62C5E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→</a:t>
            </a:r>
            <a:endParaRPr lang="en-US" sz="2550" dirty="0"/>
          </a:p>
        </p:txBody>
      </p:sp>
      <p:sp>
        <p:nvSpPr>
          <p:cNvPr id="17" name="Shape 14"/>
          <p:cNvSpPr/>
          <p:nvPr/>
        </p:nvSpPr>
        <p:spPr>
          <a:xfrm>
            <a:off x="13172629" y="2476500"/>
            <a:ext cx="3743771" cy="162877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8" name="Text 15"/>
          <p:cNvSpPr/>
          <p:nvPr/>
        </p:nvSpPr>
        <p:spPr>
          <a:xfrm>
            <a:off x="13401229" y="2667000"/>
            <a:ext cx="3615229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240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Image reading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3401229" y="3228975"/>
            <a:ext cx="338516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789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joy 42% · surprise 29% · neutral 25%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1371600" y="5419725"/>
            <a:ext cx="2343150" cy="1371600"/>
          </a:xfrm>
          <a:prstGeom prst="rect">
            <a:avLst/>
          </a:prstGeom>
          <a:solidFill>
            <a:srgbClr val="2A2827"/>
          </a:solidFill>
          <a:ln/>
        </p:spPr>
      </p:sp>
      <p:sp>
        <p:nvSpPr>
          <p:cNvPr id="21" name="Text 18"/>
          <p:cNvSpPr/>
          <p:nvPr/>
        </p:nvSpPr>
        <p:spPr>
          <a:xfrm>
            <a:off x="1600200" y="5610225"/>
            <a:ext cx="196215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2550" i="1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“tired but happy”</a:t>
            </a:r>
            <a:endParaRPr lang="en-US" sz="2550" dirty="0"/>
          </a:p>
        </p:txBody>
      </p:sp>
      <p:sp>
        <p:nvSpPr>
          <p:cNvPr id="22" name="Shape 19"/>
          <p:cNvSpPr/>
          <p:nvPr/>
        </p:nvSpPr>
        <p:spPr>
          <a:xfrm>
            <a:off x="3714750" y="6226969"/>
            <a:ext cx="9217968" cy="14288"/>
          </a:xfrm>
          <a:prstGeom prst="rect">
            <a:avLst/>
          </a:prstGeom>
          <a:solidFill>
            <a:srgbClr val="9B9797"/>
          </a:solidFill>
          <a:ln/>
        </p:spPr>
      </p:sp>
      <p:sp>
        <p:nvSpPr>
          <p:cNvPr id="23" name="Text 20"/>
          <p:cNvSpPr/>
          <p:nvPr/>
        </p:nvSpPr>
        <p:spPr>
          <a:xfrm>
            <a:off x="12875568" y="6072188"/>
            <a:ext cx="37326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913"/>
              </a:lnSpc>
              <a:buNone/>
            </a:pPr>
            <a:r>
              <a:rPr lang="en-US" sz="2550" dirty="0">
                <a:solidFill>
                  <a:srgbClr val="62C5E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→</a:t>
            </a:r>
            <a:endParaRPr lang="en-US" sz="2550" dirty="0"/>
          </a:p>
        </p:txBody>
      </p:sp>
      <p:sp>
        <p:nvSpPr>
          <p:cNvPr id="24" name="Shape 21"/>
          <p:cNvSpPr/>
          <p:nvPr/>
        </p:nvSpPr>
        <p:spPr>
          <a:xfrm>
            <a:off x="13172629" y="5419725"/>
            <a:ext cx="3743771" cy="162877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25" name="Text 22"/>
          <p:cNvSpPr/>
          <p:nvPr/>
        </p:nvSpPr>
        <p:spPr>
          <a:xfrm>
            <a:off x="13401229" y="5610225"/>
            <a:ext cx="3615229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2400" b="1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Prompt reading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13401229" y="6172200"/>
            <a:ext cx="338516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789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joy 97% · surprise 2% · neutral 0%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1371600" y="7258050"/>
            <a:ext cx="15544800" cy="1457325"/>
          </a:xfrm>
          <a:prstGeom prst="rect">
            <a:avLst/>
          </a:prstGeom>
          <a:solidFill>
            <a:srgbClr val="2A2827"/>
          </a:solidFill>
          <a:ln/>
        </p:spPr>
      </p:sp>
      <p:sp>
        <p:nvSpPr>
          <p:cNvPr id="28" name="Text 25"/>
          <p:cNvSpPr/>
          <p:nvPr/>
        </p:nvSpPr>
        <p:spPr>
          <a:xfrm>
            <a:off x="1657350" y="7505700"/>
            <a:ext cx="5182761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5"/>
              </a:lnSpc>
              <a:buNone/>
            </a:pPr>
            <a:r>
              <a:rPr lang="en-US" sz="2550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Valence-sign agreement</a:t>
            </a:r>
            <a:endParaRPr lang="en-US" sz="2550" dirty="0"/>
          </a:p>
        </p:txBody>
      </p:sp>
      <p:sp>
        <p:nvSpPr>
          <p:cNvPr id="29" name="Text 26"/>
          <p:cNvSpPr/>
          <p:nvPr/>
        </p:nvSpPr>
        <p:spPr>
          <a:xfrm>
            <a:off x="1657350" y="8058150"/>
            <a:ext cx="518276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chance 45.6%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6788051" y="7505700"/>
            <a:ext cx="518292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5"/>
              </a:lnSpc>
              <a:buNone/>
            </a:pPr>
            <a:r>
              <a:rPr lang="en-US" sz="2550" dirty="0">
                <a:solidFill>
                  <a:srgbClr val="F3F2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Emotion-family agreement</a:t>
            </a:r>
            <a:endParaRPr lang="en-US" sz="2550" dirty="0"/>
          </a:p>
        </p:txBody>
      </p:sp>
      <p:sp>
        <p:nvSpPr>
          <p:cNvPr id="31" name="Text 28"/>
          <p:cNvSpPr/>
          <p:nvPr/>
        </p:nvSpPr>
        <p:spPr>
          <a:xfrm>
            <a:off x="6788051" y="8058150"/>
            <a:ext cx="518292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chance 38.8%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15156061" y="7567612"/>
            <a:ext cx="47252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077"/>
              </a:lnSpc>
              <a:buNone/>
            </a:pPr>
            <a:r>
              <a:rPr lang="en-US" sz="2850" b="1" dirty="0">
                <a:solidFill>
                  <a:srgbClr val="62C5E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84</a:t>
            </a:r>
            <a:endParaRPr lang="en-US" sz="2850" dirty="0"/>
          </a:p>
        </p:txBody>
      </p:sp>
      <p:sp>
        <p:nvSpPr>
          <p:cNvPr id="33" name="Shape 30"/>
          <p:cNvSpPr/>
          <p:nvPr/>
        </p:nvSpPr>
        <p:spPr>
          <a:xfrm>
            <a:off x="11918900" y="8024812"/>
            <a:ext cx="4711750" cy="14288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4" name="Shape 31"/>
          <p:cNvSpPr/>
          <p:nvPr/>
        </p:nvSpPr>
        <p:spPr>
          <a:xfrm>
            <a:off x="14712851" y="7929563"/>
            <a:ext cx="14288" cy="209550"/>
          </a:xfrm>
          <a:prstGeom prst="rect">
            <a:avLst/>
          </a:prstGeom>
          <a:solidFill>
            <a:srgbClr val="9B9797"/>
          </a:solidFill>
          <a:ln/>
        </p:spPr>
      </p:sp>
      <p:sp>
        <p:nvSpPr>
          <p:cNvPr id="35" name="Shape 32"/>
          <p:cNvSpPr/>
          <p:nvPr/>
        </p:nvSpPr>
        <p:spPr>
          <a:xfrm>
            <a:off x="14712851" y="7986713"/>
            <a:ext cx="1917799" cy="85725"/>
          </a:xfrm>
          <a:prstGeom prst="rect">
            <a:avLst/>
          </a:prstGeom>
          <a:solidFill>
            <a:srgbClr val="61C5F0">
              <a:alpha val="26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15277505" y="7958138"/>
            <a:ext cx="152400" cy="152400"/>
          </a:xfrm>
          <a:prstGeom prst="ellipse">
            <a:avLst/>
          </a:prstGeom>
          <a:solidFill>
            <a:srgbClr val="62C5EE"/>
          </a:solidFill>
          <a:ln/>
        </p:spPr>
      </p:sp>
      <p:sp>
        <p:nvSpPr>
          <p:cNvPr id="37" name="Text 34"/>
          <p:cNvSpPr/>
          <p:nvPr/>
        </p:nvSpPr>
        <p:spPr>
          <a:xfrm>
            <a:off x="11918900" y="8158163"/>
            <a:ext cx="35837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41</a:t>
            </a:r>
            <a:endParaRPr lang="en-US" sz="2100" dirty="0"/>
          </a:p>
        </p:txBody>
      </p:sp>
      <p:sp>
        <p:nvSpPr>
          <p:cNvPr id="38" name="Text 35"/>
          <p:cNvSpPr/>
          <p:nvPr/>
        </p:nvSpPr>
        <p:spPr>
          <a:xfrm>
            <a:off x="14284226" y="8158163"/>
            <a:ext cx="93478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null 76</a:t>
            </a:r>
            <a:endParaRPr lang="en-US" sz="2100" dirty="0"/>
          </a:p>
        </p:txBody>
      </p:sp>
      <p:sp>
        <p:nvSpPr>
          <p:cNvPr id="39" name="Text 36"/>
          <p:cNvSpPr/>
          <p:nvPr/>
        </p:nvSpPr>
        <p:spPr>
          <a:xfrm>
            <a:off x="16207383" y="8158163"/>
            <a:ext cx="49946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11"/>
              </a:lnSpc>
              <a:buNone/>
            </a:pPr>
            <a:r>
              <a:rPr lang="en-US" sz="210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100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371600" y="8801100"/>
            <a:ext cx="1589341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63"/>
              </a:lnSpc>
              <a:buNone/>
            </a:pPr>
            <a:r>
              <a:rPr lang="en-US" sz="2100" dirty="0">
                <a:solidFill>
                  <a:srgbClr val="9B979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Per-record output for no. 201; the chance rates and the valence–arousal figure are the emotional-prompt subset's published nulls.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2026-09-04T06:38:30Z</dcterms:created>
  <dcterms:modified xsi:type="dcterms:W3CDTF">2026-09-04T06:38:30Z</dcterms:modified>
</cp:coreProperties>
</file>