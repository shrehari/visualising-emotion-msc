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Helvetica Neue"/>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78FE5D-DF7D-4CC6-A5E9-BA88663D0C6E}">
  <a:tblStyle styleId="{0878FE5D-DF7D-4CC6-A5E9-BA88663D0C6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HelveticaNeue-regular.fntdata"/><Relationship Id="rId21" Type="http://schemas.openxmlformats.org/officeDocument/2006/relationships/slide" Target="slides/slide15.xml"/><Relationship Id="rId24" Type="http://schemas.openxmlformats.org/officeDocument/2006/relationships/font" Target="fonts/HelveticaNeue-italic.fntdata"/><Relationship Id="rId23" Type="http://schemas.openxmlformats.org/officeDocument/2006/relationships/font" Target="fonts/HelveticaNeue-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font" Target="fonts/HelveticaNeue-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7d78b461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7d78b461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7d78b461f6_0_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7d78b461f6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d78b461f6_3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7d78b461f6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77228428f_2_9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g3e77228428f_2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7e4ec8edf2_1_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7e4ec8edf2_1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7e4ec8edf2_0_1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7e4ec8edf2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7d78b461f6_0_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g37d78b461f6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d78b461f6_0_8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g37d78b461f6_0_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7d78b461f6_0_7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g37d78b461f6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7e4ec8edf2_0_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Just over 13 weeks </a:t>
            </a:r>
            <a:endParaRPr/>
          </a:p>
        </p:txBody>
      </p:sp>
      <p:sp>
        <p:nvSpPr>
          <p:cNvPr id="118" name="Google Shape;118;g37e4ec8edf2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e4ec8edf2_0_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7e4ec8edf2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4efeb83a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4efeb83a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717979ef6f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717979ef6f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7d78b461f6_0_8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7d78b461f6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7e4ec8edf2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7e4ec8edf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p:cSld name="Title &amp; Bullets">
    <p:spTree>
      <p:nvGrpSpPr>
        <p:cNvPr id="56" name="Shape 56"/>
        <p:cNvGrpSpPr/>
        <p:nvPr/>
      </p:nvGrpSpPr>
      <p:grpSpPr>
        <a:xfrm>
          <a:off x="0" y="0"/>
          <a:ext cx="0" cy="0"/>
          <a:chOff x="0" y="0"/>
          <a:chExt cx="0" cy="0"/>
        </a:xfrm>
      </p:grpSpPr>
      <p:sp>
        <p:nvSpPr>
          <p:cNvPr id="57" name="Google Shape;57;p14"/>
          <p:cNvSpPr txBox="1"/>
          <p:nvPr>
            <p:ph type="title"/>
          </p:nvPr>
        </p:nvSpPr>
        <p:spPr>
          <a:xfrm>
            <a:off x="452438" y="404813"/>
            <a:ext cx="8239200" cy="537300"/>
          </a:xfrm>
          <a:prstGeom prst="rect">
            <a:avLst/>
          </a:prstGeom>
          <a:noFill/>
          <a:ln>
            <a:noFill/>
          </a:ln>
        </p:spPr>
        <p:txBody>
          <a:bodyPr anchorCtr="0" anchor="t" bIns="19050" lIns="19050" spcFirstLastPara="1" rIns="19050" wrap="square" tIns="19050">
            <a:normAutofit/>
          </a:bodyPr>
          <a:lstStyle>
            <a:lvl1pPr lvl="0" algn="l">
              <a:lnSpc>
                <a:spcPct val="80000"/>
              </a:lnSpc>
              <a:spcBef>
                <a:spcPts val="0"/>
              </a:spcBef>
              <a:spcAft>
                <a:spcPts val="0"/>
              </a:spcAft>
              <a:buClr>
                <a:srgbClr val="000000"/>
              </a:buClr>
              <a:buSzPts val="700"/>
              <a:buNone/>
              <a:defRPr/>
            </a:lvl1pPr>
            <a:lvl2pPr lvl="1" algn="l">
              <a:lnSpc>
                <a:spcPct val="80000"/>
              </a:lnSpc>
              <a:spcBef>
                <a:spcPts val="0"/>
              </a:spcBef>
              <a:spcAft>
                <a:spcPts val="0"/>
              </a:spcAft>
              <a:buClr>
                <a:srgbClr val="000000"/>
              </a:buClr>
              <a:buSzPts val="700"/>
              <a:buNone/>
              <a:defRPr/>
            </a:lvl2pPr>
            <a:lvl3pPr lvl="2" algn="l">
              <a:lnSpc>
                <a:spcPct val="80000"/>
              </a:lnSpc>
              <a:spcBef>
                <a:spcPts val="0"/>
              </a:spcBef>
              <a:spcAft>
                <a:spcPts val="0"/>
              </a:spcAft>
              <a:buClr>
                <a:srgbClr val="000000"/>
              </a:buClr>
              <a:buSzPts val="700"/>
              <a:buNone/>
              <a:defRPr/>
            </a:lvl3pPr>
            <a:lvl4pPr lvl="3" algn="l">
              <a:lnSpc>
                <a:spcPct val="80000"/>
              </a:lnSpc>
              <a:spcBef>
                <a:spcPts val="0"/>
              </a:spcBef>
              <a:spcAft>
                <a:spcPts val="0"/>
              </a:spcAft>
              <a:buClr>
                <a:srgbClr val="000000"/>
              </a:buClr>
              <a:buSzPts val="700"/>
              <a:buNone/>
              <a:defRPr/>
            </a:lvl4pPr>
            <a:lvl5pPr lvl="4" algn="l">
              <a:lnSpc>
                <a:spcPct val="80000"/>
              </a:lnSpc>
              <a:spcBef>
                <a:spcPts val="0"/>
              </a:spcBef>
              <a:spcAft>
                <a:spcPts val="0"/>
              </a:spcAft>
              <a:buClr>
                <a:srgbClr val="000000"/>
              </a:buClr>
              <a:buSzPts val="700"/>
              <a:buNone/>
              <a:defRPr/>
            </a:lvl5pPr>
            <a:lvl6pPr lvl="5" algn="l">
              <a:lnSpc>
                <a:spcPct val="80000"/>
              </a:lnSpc>
              <a:spcBef>
                <a:spcPts val="0"/>
              </a:spcBef>
              <a:spcAft>
                <a:spcPts val="0"/>
              </a:spcAft>
              <a:buClr>
                <a:srgbClr val="000000"/>
              </a:buClr>
              <a:buSzPts val="700"/>
              <a:buNone/>
              <a:defRPr/>
            </a:lvl6pPr>
            <a:lvl7pPr lvl="6" algn="l">
              <a:lnSpc>
                <a:spcPct val="80000"/>
              </a:lnSpc>
              <a:spcBef>
                <a:spcPts val="0"/>
              </a:spcBef>
              <a:spcAft>
                <a:spcPts val="0"/>
              </a:spcAft>
              <a:buClr>
                <a:srgbClr val="000000"/>
              </a:buClr>
              <a:buSzPts val="700"/>
              <a:buNone/>
              <a:defRPr/>
            </a:lvl7pPr>
            <a:lvl8pPr lvl="7" algn="l">
              <a:lnSpc>
                <a:spcPct val="80000"/>
              </a:lnSpc>
              <a:spcBef>
                <a:spcPts val="0"/>
              </a:spcBef>
              <a:spcAft>
                <a:spcPts val="0"/>
              </a:spcAft>
              <a:buClr>
                <a:srgbClr val="000000"/>
              </a:buClr>
              <a:buSzPts val="700"/>
              <a:buNone/>
              <a:defRPr/>
            </a:lvl8pPr>
            <a:lvl9pPr lvl="8" algn="l">
              <a:lnSpc>
                <a:spcPct val="80000"/>
              </a:lnSpc>
              <a:spcBef>
                <a:spcPts val="0"/>
              </a:spcBef>
              <a:spcAft>
                <a:spcPts val="0"/>
              </a:spcAft>
              <a:buClr>
                <a:srgbClr val="000000"/>
              </a:buClr>
              <a:buSzPts val="700"/>
              <a:buNone/>
              <a:defRPr/>
            </a:lvl9pPr>
          </a:lstStyle>
          <a:p/>
        </p:txBody>
      </p:sp>
      <p:sp>
        <p:nvSpPr>
          <p:cNvPr id="58" name="Google Shape;58;p14"/>
          <p:cNvSpPr txBox="1"/>
          <p:nvPr>
            <p:ph idx="1" type="body"/>
          </p:nvPr>
        </p:nvSpPr>
        <p:spPr>
          <a:xfrm>
            <a:off x="284663" y="1228806"/>
            <a:ext cx="8239200" cy="3096000"/>
          </a:xfrm>
          <a:prstGeom prst="rect">
            <a:avLst/>
          </a:prstGeom>
          <a:noFill/>
          <a:ln>
            <a:noFill/>
          </a:ln>
        </p:spPr>
        <p:txBody>
          <a:bodyPr anchorCtr="0" anchor="t" bIns="19050" lIns="19050" spcFirstLastPara="1" rIns="19050" wrap="square" tIns="19050">
            <a:normAutofit/>
          </a:bodyPr>
          <a:lstStyle>
            <a:lvl1pPr indent="-279400" lvl="0" marL="457200" algn="l">
              <a:lnSpc>
                <a:spcPct val="90000"/>
              </a:lnSpc>
              <a:spcBef>
                <a:spcPts val="1700"/>
              </a:spcBef>
              <a:spcAft>
                <a:spcPts val="0"/>
              </a:spcAft>
              <a:buClr>
                <a:srgbClr val="000000"/>
              </a:buClr>
              <a:buSzPts val="800"/>
              <a:buChar char="•"/>
              <a:defRPr/>
            </a:lvl1pPr>
            <a:lvl2pPr indent="-279400" lvl="1" marL="914400" algn="l">
              <a:lnSpc>
                <a:spcPct val="90000"/>
              </a:lnSpc>
              <a:spcBef>
                <a:spcPts val="1700"/>
              </a:spcBef>
              <a:spcAft>
                <a:spcPts val="0"/>
              </a:spcAft>
              <a:buClr>
                <a:srgbClr val="000000"/>
              </a:buClr>
              <a:buSzPts val="800"/>
              <a:buChar char="•"/>
              <a:defRPr/>
            </a:lvl2pPr>
            <a:lvl3pPr indent="-279400" lvl="2" marL="1371600" algn="l">
              <a:lnSpc>
                <a:spcPct val="90000"/>
              </a:lnSpc>
              <a:spcBef>
                <a:spcPts val="1700"/>
              </a:spcBef>
              <a:spcAft>
                <a:spcPts val="0"/>
              </a:spcAft>
              <a:buClr>
                <a:srgbClr val="000000"/>
              </a:buClr>
              <a:buSzPts val="800"/>
              <a:buChar char="•"/>
              <a:defRPr/>
            </a:lvl3pPr>
            <a:lvl4pPr indent="-279400" lvl="3" marL="1828800" algn="l">
              <a:lnSpc>
                <a:spcPct val="90000"/>
              </a:lnSpc>
              <a:spcBef>
                <a:spcPts val="1700"/>
              </a:spcBef>
              <a:spcAft>
                <a:spcPts val="0"/>
              </a:spcAft>
              <a:buClr>
                <a:srgbClr val="000000"/>
              </a:buClr>
              <a:buSzPts val="800"/>
              <a:buChar char="•"/>
              <a:defRPr/>
            </a:lvl4pPr>
            <a:lvl5pPr indent="-279400" lvl="4" marL="2286000" algn="l">
              <a:lnSpc>
                <a:spcPct val="90000"/>
              </a:lnSpc>
              <a:spcBef>
                <a:spcPts val="1700"/>
              </a:spcBef>
              <a:spcAft>
                <a:spcPts val="0"/>
              </a:spcAft>
              <a:buClr>
                <a:srgbClr val="000000"/>
              </a:buClr>
              <a:buSzPts val="800"/>
              <a:buChar char="•"/>
              <a:defRPr/>
            </a:lvl5pPr>
            <a:lvl6pPr indent="-279400" lvl="5" marL="2743200" algn="l">
              <a:lnSpc>
                <a:spcPct val="90000"/>
              </a:lnSpc>
              <a:spcBef>
                <a:spcPts val="1700"/>
              </a:spcBef>
              <a:spcAft>
                <a:spcPts val="0"/>
              </a:spcAft>
              <a:buClr>
                <a:srgbClr val="000000"/>
              </a:buClr>
              <a:buSzPts val="800"/>
              <a:buChar char="•"/>
              <a:defRPr/>
            </a:lvl6pPr>
            <a:lvl7pPr indent="-279400" lvl="6" marL="3200400" algn="l">
              <a:lnSpc>
                <a:spcPct val="90000"/>
              </a:lnSpc>
              <a:spcBef>
                <a:spcPts val="1700"/>
              </a:spcBef>
              <a:spcAft>
                <a:spcPts val="0"/>
              </a:spcAft>
              <a:buClr>
                <a:srgbClr val="000000"/>
              </a:buClr>
              <a:buSzPts val="800"/>
              <a:buChar char="•"/>
              <a:defRPr/>
            </a:lvl7pPr>
            <a:lvl8pPr indent="-279400" lvl="7" marL="3657600" algn="l">
              <a:lnSpc>
                <a:spcPct val="90000"/>
              </a:lnSpc>
              <a:spcBef>
                <a:spcPts val="1700"/>
              </a:spcBef>
              <a:spcAft>
                <a:spcPts val="0"/>
              </a:spcAft>
              <a:buClr>
                <a:srgbClr val="000000"/>
              </a:buClr>
              <a:buSzPts val="800"/>
              <a:buChar char="•"/>
              <a:defRPr/>
            </a:lvl8pPr>
            <a:lvl9pPr indent="-279400" lvl="8" marL="4114800" algn="l">
              <a:lnSpc>
                <a:spcPct val="90000"/>
              </a:lnSpc>
              <a:spcBef>
                <a:spcPts val="1700"/>
              </a:spcBef>
              <a:spcAft>
                <a:spcPts val="0"/>
              </a:spcAft>
              <a:buClr>
                <a:srgbClr val="000000"/>
              </a:buClr>
              <a:buSzPts val="800"/>
              <a:buChar char="•"/>
              <a:defRPr/>
            </a:lvl9pPr>
          </a:lstStyle>
          <a:p/>
        </p:txBody>
      </p:sp>
      <p:sp>
        <p:nvSpPr>
          <p:cNvPr id="59" name="Google Shape;59;p14"/>
          <p:cNvSpPr txBox="1"/>
          <p:nvPr>
            <p:ph idx="12" type="sldNum"/>
          </p:nvPr>
        </p:nvSpPr>
        <p:spPr>
          <a:xfrm>
            <a:off x="4500563" y="4905375"/>
            <a:ext cx="138300" cy="146100"/>
          </a:xfrm>
          <a:prstGeom prst="rect">
            <a:avLst/>
          </a:prstGeom>
          <a:noFill/>
          <a:ln>
            <a:noFill/>
          </a:ln>
        </p:spPr>
        <p:txBody>
          <a:bodyPr anchorCtr="0" anchor="b" bIns="19050" lIns="19050" spcFirstLastPara="1" rIns="19050" wrap="square" tIns="19050">
            <a:spAutoFit/>
          </a:bodyPr>
          <a:lstStyle>
            <a:lvl1pPr indent="0" lvl="0"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1pPr>
            <a:lvl2pPr indent="0" lvl="1"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2pPr>
            <a:lvl3pPr indent="0" lvl="2"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3pPr>
            <a:lvl4pPr indent="0" lvl="3"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4pPr>
            <a:lvl5pPr indent="0" lvl="4"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5pPr>
            <a:lvl6pPr indent="0" lvl="5"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6pPr>
            <a:lvl7pPr indent="0" lvl="6"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7pPr>
            <a:lvl8pPr indent="0" lvl="7"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8pPr>
            <a:lvl9pPr indent="0" lvl="8" marL="0" marR="0" algn="ctr">
              <a:lnSpc>
                <a:spcPct val="100000"/>
              </a:lnSpc>
              <a:spcBef>
                <a:spcPts val="0"/>
              </a:spcBef>
              <a:spcAft>
                <a:spcPts val="0"/>
              </a:spcAft>
              <a:buClr>
                <a:srgbClr val="000000"/>
              </a:buClr>
              <a:buSzPts val="700"/>
              <a:buFont typeface="Helvetica Neue"/>
              <a:buNone/>
              <a:defRPr b="0" i="0" sz="7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GB"/>
              <a:t>‹#›</a:t>
            </a:fld>
            <a:endParaRPr/>
          </a:p>
        </p:txBody>
      </p:sp>
      <p:sp>
        <p:nvSpPr>
          <p:cNvPr id="60" name="Google Shape;60;p14"/>
          <p:cNvSpPr txBox="1"/>
          <p:nvPr/>
        </p:nvSpPr>
        <p:spPr>
          <a:xfrm>
            <a:off x="5536734" y="4725797"/>
            <a:ext cx="3411600" cy="279600"/>
          </a:xfrm>
          <a:prstGeom prst="rect">
            <a:avLst/>
          </a:prstGeom>
          <a:noFill/>
          <a:ln>
            <a:noFill/>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mailto:com-teaching@sheffield.ac.u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ctrTitle"/>
          </p:nvPr>
        </p:nvSpPr>
        <p:spPr>
          <a:xfrm>
            <a:off x="311700" y="719125"/>
            <a:ext cx="8520600" cy="10731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GB"/>
              <a:t>Dissertation Project</a:t>
            </a:r>
            <a:endParaRPr/>
          </a:p>
          <a:p>
            <a:pPr indent="0" lvl="0" marL="0" rtl="0" algn="ctr">
              <a:spcBef>
                <a:spcPts val="0"/>
              </a:spcBef>
              <a:spcAft>
                <a:spcPts val="0"/>
              </a:spcAft>
              <a:buClr>
                <a:schemeClr val="dk1"/>
              </a:buClr>
              <a:buSzPts val="990"/>
              <a:buFont typeface="Arial"/>
              <a:buNone/>
            </a:pPr>
            <a:r>
              <a:rPr lang="en-GB"/>
              <a:t>Lecture 1: Project Overview</a:t>
            </a:r>
            <a:endParaRPr/>
          </a:p>
        </p:txBody>
      </p:sp>
      <p:sp>
        <p:nvSpPr>
          <p:cNvPr id="66" name="Google Shape;66;p15"/>
          <p:cNvSpPr txBox="1"/>
          <p:nvPr>
            <p:ph idx="1" type="subTitle"/>
          </p:nvPr>
        </p:nvSpPr>
        <p:spPr>
          <a:xfrm>
            <a:off x="205875" y="205737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GB">
                <a:solidFill>
                  <a:schemeClr val="dk1"/>
                </a:solidFill>
              </a:rPr>
              <a:t>Mark Stevenson </a:t>
            </a:r>
            <a:endParaRPr>
              <a:solidFill>
                <a:schemeClr val="dk1"/>
              </a:solidFill>
            </a:endParaRPr>
          </a:p>
          <a:p>
            <a:pPr indent="0" lvl="0" marL="0" rtl="0" algn="ctr">
              <a:spcBef>
                <a:spcPts val="0"/>
              </a:spcBef>
              <a:spcAft>
                <a:spcPts val="0"/>
              </a:spcAft>
              <a:buNone/>
            </a:pPr>
            <a:r>
              <a:rPr lang="en-GB">
                <a:solidFill>
                  <a:schemeClr val="dk1"/>
                </a:solidFill>
              </a:rPr>
              <a:t>(mark.stevenson@sheffield.ac.uk)</a:t>
            </a:r>
            <a:endParaRPr>
              <a:solidFill>
                <a:schemeClr val="dk1"/>
              </a:solidFill>
            </a:endParaRPr>
          </a:p>
        </p:txBody>
      </p:sp>
      <p:pic>
        <p:nvPicPr>
          <p:cNvPr descr="Decorative image" id="67" name="Google Shape;67;p15"/>
          <p:cNvPicPr preferRelativeResize="0"/>
          <p:nvPr/>
        </p:nvPicPr>
        <p:blipFill rotWithShape="1">
          <a:blip r:embed="rId3">
            <a:alphaModFix/>
          </a:blip>
          <a:srcRect b="0" l="0" r="0" t="0"/>
          <a:stretch/>
        </p:blipFill>
        <p:spPr>
          <a:xfrm>
            <a:off x="2224874" y="2984075"/>
            <a:ext cx="4482599" cy="2035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1672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Dissertation Project Lectures</a:t>
            </a:r>
            <a:endParaRPr b="1" sz="3600">
              <a:latin typeface="Calibri"/>
              <a:ea typeface="Calibri"/>
              <a:cs typeface="Calibri"/>
              <a:sym typeface="Calibri"/>
            </a:endParaRPr>
          </a:p>
        </p:txBody>
      </p:sp>
      <p:sp>
        <p:nvSpPr>
          <p:cNvPr id="73" name="Google Shape;73;p16"/>
          <p:cNvSpPr txBox="1"/>
          <p:nvPr>
            <p:ph idx="1" type="body"/>
          </p:nvPr>
        </p:nvSpPr>
        <p:spPr>
          <a:xfrm>
            <a:off x="311700" y="904879"/>
            <a:ext cx="8520600" cy="3968700"/>
          </a:xfrm>
          <a:prstGeom prst="rect">
            <a:avLst/>
          </a:prstGeom>
          <a:noFill/>
          <a:ln>
            <a:noFill/>
          </a:ln>
        </p:spPr>
        <p:txBody>
          <a:bodyPr anchorCtr="0" anchor="t" bIns="34275" lIns="68575" spcFirstLastPara="1" rIns="68575" wrap="square" tIns="34275">
            <a:normAutofit/>
          </a:bodyPr>
          <a:lstStyle/>
          <a:p>
            <a:pPr indent="-355600" lvl="0" marL="457200" rtl="0" algn="l">
              <a:lnSpc>
                <a:spcPct val="90000"/>
              </a:lnSpc>
              <a:spcBef>
                <a:spcPts val="0"/>
              </a:spcBef>
              <a:spcAft>
                <a:spcPts val="0"/>
              </a:spcAft>
              <a:buSzPts val="2000"/>
              <a:buChar char="●"/>
            </a:pPr>
            <a:r>
              <a:rPr lang="en-GB" sz="2000">
                <a:solidFill>
                  <a:schemeClr val="dk1"/>
                </a:solidFill>
              </a:rPr>
              <a:t>This short set of lectures provides a </a:t>
            </a:r>
            <a:r>
              <a:rPr b="1" lang="en-GB" sz="2000">
                <a:solidFill>
                  <a:schemeClr val="dk1"/>
                </a:solidFill>
              </a:rPr>
              <a:t>general introduction</a:t>
            </a:r>
            <a:r>
              <a:rPr lang="en-GB" sz="2000">
                <a:solidFill>
                  <a:schemeClr val="dk1"/>
                </a:solidFill>
              </a:rPr>
              <a:t> to the dissertation project covering a range of useful topics</a:t>
            </a:r>
            <a:endParaRPr sz="2000">
              <a:solidFill>
                <a:schemeClr val="dk1"/>
              </a:solidFill>
            </a:endParaRPr>
          </a:p>
          <a:p>
            <a:pPr indent="0" lvl="0" marL="457200" rtl="0" algn="l">
              <a:lnSpc>
                <a:spcPct val="90000"/>
              </a:lnSpc>
              <a:spcBef>
                <a:spcPts val="1000"/>
              </a:spcBef>
              <a:spcAft>
                <a:spcPts val="0"/>
              </a:spcAft>
              <a:buNone/>
            </a:pPr>
            <a:r>
              <a:t/>
            </a:r>
            <a:endParaRPr sz="2000">
              <a:solidFill>
                <a:schemeClr val="dk1"/>
              </a:solidFill>
            </a:endParaRPr>
          </a:p>
          <a:p>
            <a:pPr indent="-355600" lvl="0" marL="457200" rtl="0" algn="l">
              <a:spcBef>
                <a:spcPts val="1000"/>
              </a:spcBef>
              <a:spcAft>
                <a:spcPts val="0"/>
              </a:spcAft>
              <a:buClr>
                <a:schemeClr val="dk1"/>
              </a:buClr>
              <a:buSzPts val="2000"/>
              <a:buChar char="●"/>
            </a:pPr>
            <a:r>
              <a:rPr lang="en-GB" sz="2000">
                <a:solidFill>
                  <a:schemeClr val="dk1"/>
                </a:solidFill>
              </a:rPr>
              <a:t>Monday:  </a:t>
            </a:r>
            <a:endParaRPr sz="2000">
              <a:solidFill>
                <a:schemeClr val="dk1"/>
              </a:solidFill>
            </a:endParaRPr>
          </a:p>
          <a:p>
            <a:pPr indent="-355600" lvl="1" marL="914400" rtl="0" algn="l">
              <a:spcBef>
                <a:spcPts val="1000"/>
              </a:spcBef>
              <a:spcAft>
                <a:spcPts val="0"/>
              </a:spcAft>
              <a:buClr>
                <a:schemeClr val="dk1"/>
              </a:buClr>
              <a:buSzPts val="2000"/>
              <a:buChar char="○"/>
            </a:pPr>
            <a:r>
              <a:rPr lang="en-GB" sz="2000">
                <a:solidFill>
                  <a:schemeClr val="dk1"/>
                </a:solidFill>
              </a:rPr>
              <a:t>Project Overview (Mark Stevenson)</a:t>
            </a:r>
            <a:endParaRPr sz="2000">
              <a:solidFill>
                <a:schemeClr val="dk1"/>
              </a:solidFill>
            </a:endParaRPr>
          </a:p>
          <a:p>
            <a:pPr indent="-355600" lvl="1" marL="914400" rtl="0" algn="l">
              <a:spcBef>
                <a:spcPts val="1000"/>
              </a:spcBef>
              <a:spcAft>
                <a:spcPts val="0"/>
              </a:spcAft>
              <a:buClr>
                <a:schemeClr val="dk1"/>
              </a:buClr>
              <a:buSzPts val="2000"/>
              <a:buChar char="○"/>
            </a:pPr>
            <a:r>
              <a:rPr lang="en-GB" sz="2000">
                <a:solidFill>
                  <a:schemeClr val="dk1"/>
                </a:solidFill>
              </a:rPr>
              <a:t>Literature Review (Mark Stevenson)</a:t>
            </a:r>
            <a:endParaRPr sz="2000">
              <a:solidFill>
                <a:schemeClr val="dk1"/>
              </a:solidFill>
            </a:endParaRPr>
          </a:p>
          <a:p>
            <a:pPr indent="-355600" lvl="0" marL="457200" rtl="0" algn="l">
              <a:spcBef>
                <a:spcPts val="1000"/>
              </a:spcBef>
              <a:spcAft>
                <a:spcPts val="0"/>
              </a:spcAft>
              <a:buClr>
                <a:schemeClr val="dk1"/>
              </a:buClr>
              <a:buSzPts val="2000"/>
              <a:buChar char="●"/>
            </a:pPr>
            <a:r>
              <a:rPr lang="en-GB" sz="2000">
                <a:solidFill>
                  <a:schemeClr val="dk1"/>
                </a:solidFill>
              </a:rPr>
              <a:t>Tuesday:</a:t>
            </a:r>
            <a:endParaRPr sz="2000">
              <a:solidFill>
                <a:schemeClr val="dk1"/>
              </a:solidFill>
            </a:endParaRPr>
          </a:p>
          <a:p>
            <a:pPr indent="-355600" lvl="1" marL="914400" rtl="0" algn="l">
              <a:spcBef>
                <a:spcPts val="1000"/>
              </a:spcBef>
              <a:spcAft>
                <a:spcPts val="0"/>
              </a:spcAft>
              <a:buClr>
                <a:schemeClr val="dk1"/>
              </a:buClr>
              <a:buSzPts val="2000"/>
              <a:buChar char="○"/>
            </a:pPr>
            <a:r>
              <a:rPr lang="en-GB" sz="2000">
                <a:solidFill>
                  <a:schemeClr val="dk1"/>
                </a:solidFill>
              </a:rPr>
              <a:t>Ethical Approval (Mark Hepple, School Ethics Lead) </a:t>
            </a:r>
            <a:endParaRPr sz="2000">
              <a:solidFill>
                <a:schemeClr val="dk1"/>
              </a:solidFill>
            </a:endParaRPr>
          </a:p>
          <a:p>
            <a:pPr indent="-355600" lvl="1" marL="914400" rtl="0" algn="l">
              <a:spcBef>
                <a:spcPts val="1000"/>
              </a:spcBef>
              <a:spcAft>
                <a:spcPts val="1000"/>
              </a:spcAft>
              <a:buClr>
                <a:schemeClr val="dk1"/>
              </a:buClr>
              <a:buSzPts val="2000"/>
              <a:buChar char="○"/>
            </a:pPr>
            <a:r>
              <a:rPr lang="en-GB" sz="2000">
                <a:solidFill>
                  <a:schemeClr val="dk1"/>
                </a:solidFill>
              </a:rPr>
              <a:t>Preparing Your Dissertation (Mark Stevenson)</a:t>
            </a:r>
            <a:endParaRPr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1672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Lecture Outline</a:t>
            </a:r>
            <a:endParaRPr b="1" sz="3600">
              <a:latin typeface="Calibri"/>
              <a:ea typeface="Calibri"/>
              <a:cs typeface="Calibri"/>
              <a:sym typeface="Calibri"/>
            </a:endParaRPr>
          </a:p>
        </p:txBody>
      </p:sp>
      <p:sp>
        <p:nvSpPr>
          <p:cNvPr id="79" name="Google Shape;79;p17"/>
          <p:cNvSpPr txBox="1"/>
          <p:nvPr>
            <p:ph idx="1" type="body"/>
          </p:nvPr>
        </p:nvSpPr>
        <p:spPr>
          <a:xfrm>
            <a:off x="311700" y="1070429"/>
            <a:ext cx="8520600" cy="3968700"/>
          </a:xfrm>
          <a:prstGeom prst="rect">
            <a:avLst/>
          </a:prstGeom>
          <a:noFill/>
          <a:ln>
            <a:noFill/>
          </a:ln>
        </p:spPr>
        <p:txBody>
          <a:bodyPr anchorCtr="0" anchor="t" bIns="34275" lIns="68575" spcFirstLastPara="1" rIns="68575" wrap="square" tIns="34275">
            <a:normAutofit/>
          </a:bodyPr>
          <a:lstStyle/>
          <a:p>
            <a:pPr indent="-355600" lvl="0" marL="457200" rtl="0" algn="l">
              <a:lnSpc>
                <a:spcPct val="90000"/>
              </a:lnSpc>
              <a:spcBef>
                <a:spcPts val="0"/>
              </a:spcBef>
              <a:spcAft>
                <a:spcPts val="0"/>
              </a:spcAft>
              <a:buSzPts val="2000"/>
              <a:buChar char="●"/>
            </a:pPr>
            <a:r>
              <a:rPr lang="en-GB" sz="2000">
                <a:solidFill>
                  <a:schemeClr val="dk1"/>
                </a:solidFill>
              </a:rPr>
              <a:t>General Project Information</a:t>
            </a:r>
            <a:endParaRPr sz="2000">
              <a:solidFill>
                <a:schemeClr val="dk1"/>
              </a:solidFill>
            </a:endParaRPr>
          </a:p>
          <a:p>
            <a:pPr indent="-355600" lvl="1" marL="914400" rtl="0" algn="l">
              <a:lnSpc>
                <a:spcPct val="90000"/>
              </a:lnSpc>
              <a:spcBef>
                <a:spcPts val="1000"/>
              </a:spcBef>
              <a:spcAft>
                <a:spcPts val="0"/>
              </a:spcAft>
              <a:buClr>
                <a:schemeClr val="dk1"/>
              </a:buClr>
              <a:buSzPts val="2000"/>
              <a:buChar char="○"/>
            </a:pPr>
            <a:r>
              <a:rPr lang="en-GB" sz="2000">
                <a:solidFill>
                  <a:schemeClr val="dk1"/>
                </a:solidFill>
              </a:rPr>
              <a:t>Aim of dissertation project</a:t>
            </a:r>
            <a:endParaRPr sz="2000">
              <a:solidFill>
                <a:schemeClr val="dk1"/>
              </a:solidFill>
            </a:endParaRPr>
          </a:p>
          <a:p>
            <a:pPr indent="-355600" lvl="1" marL="914400" rtl="0" algn="l">
              <a:lnSpc>
                <a:spcPct val="90000"/>
              </a:lnSpc>
              <a:spcBef>
                <a:spcPts val="1000"/>
              </a:spcBef>
              <a:spcAft>
                <a:spcPts val="0"/>
              </a:spcAft>
              <a:buClr>
                <a:schemeClr val="dk1"/>
              </a:buClr>
              <a:buSzPts val="2000"/>
              <a:buChar char="○"/>
            </a:pPr>
            <a:r>
              <a:rPr lang="en-GB" sz="2000">
                <a:solidFill>
                  <a:schemeClr val="dk1"/>
                </a:solidFill>
              </a:rPr>
              <a:t>Types of project</a:t>
            </a:r>
            <a:endParaRPr sz="2000">
              <a:solidFill>
                <a:schemeClr val="dk1"/>
              </a:solidFill>
            </a:endParaRPr>
          </a:p>
          <a:p>
            <a:pPr indent="-355600" lvl="0" marL="457200" rtl="0" algn="l">
              <a:lnSpc>
                <a:spcPct val="90000"/>
              </a:lnSpc>
              <a:spcBef>
                <a:spcPts val="1000"/>
              </a:spcBef>
              <a:spcAft>
                <a:spcPts val="0"/>
              </a:spcAft>
              <a:buClr>
                <a:schemeClr val="dk1"/>
              </a:buClr>
              <a:buSzPts val="2000"/>
              <a:buChar char="●"/>
            </a:pPr>
            <a:r>
              <a:rPr lang="en-GB" sz="2000">
                <a:solidFill>
                  <a:schemeClr val="dk1"/>
                </a:solidFill>
              </a:rPr>
              <a:t>Project Timeline</a:t>
            </a:r>
            <a:endParaRPr sz="2000">
              <a:solidFill>
                <a:schemeClr val="dk1"/>
              </a:solidFill>
            </a:endParaRPr>
          </a:p>
          <a:p>
            <a:pPr indent="-355600" lvl="0" marL="457200" rtl="0" algn="l">
              <a:lnSpc>
                <a:spcPct val="90000"/>
              </a:lnSpc>
              <a:spcBef>
                <a:spcPts val="1000"/>
              </a:spcBef>
              <a:spcAft>
                <a:spcPts val="1000"/>
              </a:spcAft>
              <a:buClr>
                <a:schemeClr val="dk1"/>
              </a:buClr>
              <a:buSzPts val="2000"/>
              <a:buChar char="●"/>
            </a:pPr>
            <a:r>
              <a:rPr lang="en-GB" sz="2000">
                <a:solidFill>
                  <a:schemeClr val="dk1"/>
                </a:solidFill>
              </a:rPr>
              <a:t>Hints and Tips</a:t>
            </a: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1672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Project modules for each programme</a:t>
            </a:r>
            <a:endParaRPr b="1" sz="3600">
              <a:latin typeface="Calibri"/>
              <a:ea typeface="Calibri"/>
              <a:cs typeface="Calibri"/>
              <a:sym typeface="Calibri"/>
            </a:endParaRPr>
          </a:p>
        </p:txBody>
      </p:sp>
      <p:sp>
        <p:nvSpPr>
          <p:cNvPr id="85" name="Google Shape;85;p18"/>
          <p:cNvSpPr txBox="1"/>
          <p:nvPr>
            <p:ph idx="1" type="body"/>
          </p:nvPr>
        </p:nvSpPr>
        <p:spPr>
          <a:xfrm>
            <a:off x="311700" y="1058600"/>
            <a:ext cx="8520600" cy="3552900"/>
          </a:xfrm>
          <a:prstGeom prst="rect">
            <a:avLst/>
          </a:prstGeom>
          <a:noFill/>
          <a:ln>
            <a:noFill/>
          </a:ln>
        </p:spPr>
        <p:txBody>
          <a:bodyPr anchorCtr="0" anchor="t" bIns="34275" lIns="68575" spcFirstLastPara="1" rIns="68575" wrap="square" tIns="34275">
            <a:normAutofit/>
          </a:bodyPr>
          <a:lstStyle/>
          <a:p>
            <a:pPr indent="-355600" lvl="0" marL="457200" rtl="0" algn="l">
              <a:lnSpc>
                <a:spcPct val="90000"/>
              </a:lnSpc>
              <a:spcBef>
                <a:spcPts val="0"/>
              </a:spcBef>
              <a:spcAft>
                <a:spcPts val="0"/>
              </a:spcAft>
              <a:buClr>
                <a:schemeClr val="dk1"/>
              </a:buClr>
              <a:buSzPts val="2000"/>
              <a:buChar char="●"/>
            </a:pPr>
            <a:r>
              <a:rPr b="1" lang="en-GB" sz="2000">
                <a:solidFill>
                  <a:schemeClr val="dk1"/>
                </a:solidFill>
              </a:rPr>
              <a:t>ACS / CSSLP</a:t>
            </a:r>
            <a:endParaRPr b="1" sz="2000">
              <a:solidFill>
                <a:schemeClr val="dk1"/>
              </a:solidFill>
            </a:endParaRPr>
          </a:p>
          <a:p>
            <a:pPr indent="-355600" lvl="1" marL="914400" rtl="0" algn="l">
              <a:lnSpc>
                <a:spcPct val="90000"/>
              </a:lnSpc>
              <a:spcBef>
                <a:spcPts val="1000"/>
              </a:spcBef>
              <a:spcAft>
                <a:spcPts val="0"/>
              </a:spcAft>
              <a:buClr>
                <a:schemeClr val="dk1"/>
              </a:buClr>
              <a:buSzPts val="2000"/>
              <a:buChar char="○"/>
            </a:pPr>
            <a:r>
              <a:rPr lang="en-GB" sz="2000">
                <a:solidFill>
                  <a:schemeClr val="dk1"/>
                </a:solidFill>
              </a:rPr>
              <a:t>COM6906 Dissertation Project</a:t>
            </a:r>
            <a:endParaRPr sz="2000">
              <a:solidFill>
                <a:schemeClr val="dk1"/>
              </a:solidFill>
            </a:endParaRPr>
          </a:p>
          <a:p>
            <a:pPr indent="0" lvl="0" marL="457200" rtl="0" algn="l">
              <a:lnSpc>
                <a:spcPct val="90000"/>
              </a:lnSpc>
              <a:spcBef>
                <a:spcPts val="1000"/>
              </a:spcBef>
              <a:spcAft>
                <a:spcPts val="0"/>
              </a:spcAft>
              <a:buNone/>
            </a:pPr>
            <a:r>
              <a:t/>
            </a:r>
            <a:endParaRPr b="1" sz="2000">
              <a:solidFill>
                <a:schemeClr val="dk1"/>
              </a:solidFill>
            </a:endParaRPr>
          </a:p>
          <a:p>
            <a:pPr indent="-355600" lvl="0" marL="457200" rtl="0" algn="l">
              <a:lnSpc>
                <a:spcPct val="90000"/>
              </a:lnSpc>
              <a:spcBef>
                <a:spcPts val="1000"/>
              </a:spcBef>
              <a:spcAft>
                <a:spcPts val="0"/>
              </a:spcAft>
              <a:buClr>
                <a:schemeClr val="dk1"/>
              </a:buClr>
              <a:buSzPts val="2000"/>
              <a:buChar char="●"/>
            </a:pPr>
            <a:r>
              <a:rPr b="1" lang="en-GB" sz="2000">
                <a:solidFill>
                  <a:schemeClr val="dk1"/>
                </a:solidFill>
              </a:rPr>
              <a:t>Artificial Intelligence:</a:t>
            </a:r>
            <a:endParaRPr b="1" sz="2000">
              <a:solidFill>
                <a:schemeClr val="dk1"/>
              </a:solidFill>
            </a:endParaRPr>
          </a:p>
          <a:p>
            <a:pPr indent="-355600" lvl="1" marL="914400" rtl="0" algn="l">
              <a:lnSpc>
                <a:spcPct val="90000"/>
              </a:lnSpc>
              <a:spcBef>
                <a:spcPts val="1000"/>
              </a:spcBef>
              <a:spcAft>
                <a:spcPts val="0"/>
              </a:spcAft>
              <a:buClr>
                <a:schemeClr val="dk1"/>
              </a:buClr>
              <a:buSzPts val="2000"/>
              <a:buChar char="○"/>
            </a:pPr>
            <a:r>
              <a:rPr lang="en-GB" sz="2000">
                <a:solidFill>
                  <a:schemeClr val="dk1"/>
                </a:solidFill>
              </a:rPr>
              <a:t>COM6912 Artificial Intelligence Dissertation Project</a:t>
            </a:r>
            <a:endParaRPr sz="2000">
              <a:solidFill>
                <a:schemeClr val="dk1"/>
              </a:solidFill>
            </a:endParaRPr>
          </a:p>
          <a:p>
            <a:pPr indent="0" lvl="0" marL="914400" rtl="0" algn="l">
              <a:lnSpc>
                <a:spcPct val="90000"/>
              </a:lnSpc>
              <a:spcBef>
                <a:spcPts val="1000"/>
              </a:spcBef>
              <a:spcAft>
                <a:spcPts val="0"/>
              </a:spcAft>
              <a:buNone/>
            </a:pPr>
            <a:r>
              <a:t/>
            </a:r>
            <a:endParaRPr sz="2000">
              <a:solidFill>
                <a:schemeClr val="dk1"/>
              </a:solidFill>
            </a:endParaRPr>
          </a:p>
          <a:p>
            <a:pPr indent="-355600" lvl="0" marL="457200" rtl="0" algn="l">
              <a:lnSpc>
                <a:spcPct val="90000"/>
              </a:lnSpc>
              <a:spcBef>
                <a:spcPts val="1000"/>
              </a:spcBef>
              <a:spcAft>
                <a:spcPts val="0"/>
              </a:spcAft>
              <a:buClr>
                <a:schemeClr val="dk1"/>
              </a:buClr>
              <a:buSzPts val="2000"/>
              <a:buChar char="●"/>
            </a:pPr>
            <a:r>
              <a:rPr b="1" lang="en-GB" sz="2000">
                <a:solidFill>
                  <a:schemeClr val="dk1"/>
                </a:solidFill>
              </a:rPr>
              <a:t>Cybersecurity and AI</a:t>
            </a:r>
            <a:endParaRPr b="1" sz="2000">
              <a:solidFill>
                <a:schemeClr val="dk1"/>
              </a:solidFill>
            </a:endParaRPr>
          </a:p>
          <a:p>
            <a:pPr indent="-355600" lvl="1" marL="914400" rtl="0" algn="l">
              <a:lnSpc>
                <a:spcPct val="90000"/>
              </a:lnSpc>
              <a:spcBef>
                <a:spcPts val="1000"/>
              </a:spcBef>
              <a:spcAft>
                <a:spcPts val="1000"/>
              </a:spcAft>
              <a:buClr>
                <a:schemeClr val="dk1"/>
              </a:buClr>
              <a:buSzPts val="2000"/>
              <a:buChar char="○"/>
            </a:pPr>
            <a:r>
              <a:rPr lang="en-GB" sz="2000">
                <a:solidFill>
                  <a:schemeClr val="dk1"/>
                </a:solidFill>
              </a:rPr>
              <a:t>COM6012 Cybersecurity and AI Dissertation Project</a:t>
            </a:r>
            <a:endParaRPr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1672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Project Contacts</a:t>
            </a:r>
            <a:endParaRPr b="1" sz="3600">
              <a:latin typeface="Calibri"/>
              <a:ea typeface="Calibri"/>
              <a:cs typeface="Calibri"/>
              <a:sym typeface="Calibri"/>
            </a:endParaRPr>
          </a:p>
        </p:txBody>
      </p:sp>
      <p:sp>
        <p:nvSpPr>
          <p:cNvPr id="91" name="Google Shape;91;p19"/>
          <p:cNvSpPr txBox="1"/>
          <p:nvPr>
            <p:ph idx="1" type="body"/>
          </p:nvPr>
        </p:nvSpPr>
        <p:spPr>
          <a:xfrm>
            <a:off x="311700" y="1058600"/>
            <a:ext cx="8520600" cy="3552900"/>
          </a:xfrm>
          <a:prstGeom prst="rect">
            <a:avLst/>
          </a:prstGeom>
          <a:noFill/>
          <a:ln>
            <a:noFill/>
          </a:ln>
        </p:spPr>
        <p:txBody>
          <a:bodyPr anchorCtr="0" anchor="t" bIns="34275" lIns="68575" spcFirstLastPara="1" rIns="68575" wrap="square" tIns="34275">
            <a:normAutofit/>
          </a:bodyPr>
          <a:lstStyle/>
          <a:p>
            <a:pPr indent="-355600" lvl="0" marL="457200" rtl="0" algn="l">
              <a:lnSpc>
                <a:spcPct val="90000"/>
              </a:lnSpc>
              <a:spcBef>
                <a:spcPts val="0"/>
              </a:spcBef>
              <a:spcAft>
                <a:spcPts val="0"/>
              </a:spcAft>
              <a:buClr>
                <a:schemeClr val="dk1"/>
              </a:buClr>
              <a:buSzPts val="2000"/>
              <a:buChar char="●"/>
            </a:pPr>
            <a:r>
              <a:rPr b="1" lang="en-GB" sz="2000">
                <a:solidFill>
                  <a:schemeClr val="dk1"/>
                </a:solidFill>
              </a:rPr>
              <a:t>Project Supervisor:</a:t>
            </a:r>
            <a:r>
              <a:rPr lang="en-GB" sz="2000">
                <a:solidFill>
                  <a:schemeClr val="dk1"/>
                </a:solidFill>
              </a:rPr>
              <a:t> Main point of contact for your project.</a:t>
            </a:r>
            <a:endParaRPr sz="2000">
              <a:solidFill>
                <a:schemeClr val="dk1"/>
              </a:solidFill>
            </a:endParaRPr>
          </a:p>
          <a:p>
            <a:pPr indent="-355600" lvl="0" marL="457200" rtl="0" algn="l">
              <a:lnSpc>
                <a:spcPct val="90000"/>
              </a:lnSpc>
              <a:spcBef>
                <a:spcPts val="1000"/>
              </a:spcBef>
              <a:spcAft>
                <a:spcPts val="0"/>
              </a:spcAft>
              <a:buClr>
                <a:schemeClr val="dk1"/>
              </a:buClr>
              <a:buSzPts val="2000"/>
              <a:buChar char="●"/>
            </a:pPr>
            <a:r>
              <a:rPr b="1" lang="en-GB" sz="2000">
                <a:solidFill>
                  <a:schemeClr val="dk1"/>
                </a:solidFill>
              </a:rPr>
              <a:t>COM Education &amp; Student Experience Team</a:t>
            </a:r>
            <a:r>
              <a:rPr lang="en-GB" sz="2000">
                <a:solidFill>
                  <a:schemeClr val="dk1"/>
                </a:solidFill>
              </a:rPr>
              <a:t>: Contact for general questions about dissertation projects (or any other teaching-related matter). Contact via </a:t>
            </a:r>
            <a:r>
              <a:rPr lang="en-GB" sz="2000" u="sng">
                <a:solidFill>
                  <a:schemeClr val="hlink"/>
                </a:solidFill>
                <a:hlinkClick r:id="rId3"/>
              </a:rPr>
              <a:t>com-teaching@sheffield.ac.uk</a:t>
            </a:r>
            <a:r>
              <a:rPr lang="en-GB" sz="2000">
                <a:solidFill>
                  <a:schemeClr val="dk1"/>
                </a:solidFill>
              </a:rPr>
              <a:t> or by visiting second floor. </a:t>
            </a:r>
            <a:endParaRPr sz="2000">
              <a:solidFill>
                <a:schemeClr val="dk1"/>
              </a:solidFill>
            </a:endParaRPr>
          </a:p>
          <a:p>
            <a:pPr indent="-355600" lvl="0" marL="457200" rtl="0" algn="l">
              <a:lnSpc>
                <a:spcPct val="90000"/>
              </a:lnSpc>
              <a:spcBef>
                <a:spcPts val="1000"/>
              </a:spcBef>
              <a:spcAft>
                <a:spcPts val="0"/>
              </a:spcAft>
              <a:buClr>
                <a:schemeClr val="dk1"/>
              </a:buClr>
              <a:buSzPts val="2000"/>
              <a:buChar char="●"/>
            </a:pPr>
            <a:r>
              <a:rPr b="1" lang="en-GB" sz="2000">
                <a:solidFill>
                  <a:schemeClr val="dk1"/>
                </a:solidFill>
              </a:rPr>
              <a:t>Parinya Chalermsook - Project Officer:</a:t>
            </a:r>
            <a:r>
              <a:rPr lang="en-GB" sz="2000">
                <a:solidFill>
                  <a:schemeClr val="dk1"/>
                </a:solidFill>
              </a:rPr>
              <a:t> Oversees project module.</a:t>
            </a:r>
            <a:endParaRPr sz="2000">
              <a:solidFill>
                <a:schemeClr val="dk1"/>
              </a:solidFill>
            </a:endParaRPr>
          </a:p>
          <a:p>
            <a:pPr indent="-355600" lvl="0" marL="457200" rtl="0" algn="l">
              <a:lnSpc>
                <a:spcPct val="90000"/>
              </a:lnSpc>
              <a:spcBef>
                <a:spcPts val="1000"/>
              </a:spcBef>
              <a:spcAft>
                <a:spcPts val="0"/>
              </a:spcAft>
              <a:buClr>
                <a:schemeClr val="dk1"/>
              </a:buClr>
              <a:buSzPts val="2000"/>
              <a:buChar char="●"/>
            </a:pPr>
            <a:r>
              <a:rPr b="1" lang="en-GB" sz="2000">
                <a:solidFill>
                  <a:schemeClr val="dk1"/>
                </a:solidFill>
              </a:rPr>
              <a:t>Mark Stevenson: </a:t>
            </a:r>
            <a:r>
              <a:rPr lang="en-GB" sz="2000">
                <a:solidFill>
                  <a:schemeClr val="dk1"/>
                </a:solidFill>
              </a:rPr>
              <a:t>Delivers project lectures </a:t>
            </a:r>
            <a:endParaRPr sz="2000">
              <a:solidFill>
                <a:schemeClr val="dk1"/>
              </a:solidFill>
            </a:endParaRPr>
          </a:p>
          <a:p>
            <a:pPr indent="0" lvl="0" marL="0" rtl="0" algn="l">
              <a:lnSpc>
                <a:spcPct val="90000"/>
              </a:lnSpc>
              <a:spcBef>
                <a:spcPts val="1000"/>
              </a:spcBef>
              <a:spcAft>
                <a:spcPts val="0"/>
              </a:spcAft>
              <a:buNone/>
            </a:pPr>
            <a:r>
              <a:t/>
            </a:r>
            <a:endParaRPr sz="2000">
              <a:solidFill>
                <a:schemeClr val="dk1"/>
              </a:solidFill>
            </a:endParaRPr>
          </a:p>
          <a:p>
            <a:pPr indent="0" lvl="0" marL="0" rtl="0" algn="l">
              <a:lnSpc>
                <a:spcPct val="90000"/>
              </a:lnSpc>
              <a:spcBef>
                <a:spcPts val="1000"/>
              </a:spcBef>
              <a:spcAft>
                <a:spcPts val="1000"/>
              </a:spcAft>
              <a:buNone/>
            </a:pPr>
            <a:r>
              <a:t/>
            </a:r>
            <a:endParaRPr sz="20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1672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Project Information</a:t>
            </a:r>
            <a:endParaRPr b="1" sz="3600">
              <a:latin typeface="Calibri"/>
              <a:ea typeface="Calibri"/>
              <a:cs typeface="Calibri"/>
              <a:sym typeface="Calibri"/>
            </a:endParaRPr>
          </a:p>
        </p:txBody>
      </p:sp>
      <p:sp>
        <p:nvSpPr>
          <p:cNvPr id="97" name="Google Shape;97;p20"/>
          <p:cNvSpPr txBox="1"/>
          <p:nvPr>
            <p:ph idx="1" type="body"/>
          </p:nvPr>
        </p:nvSpPr>
        <p:spPr>
          <a:xfrm>
            <a:off x="311700" y="918788"/>
            <a:ext cx="8520600" cy="3968700"/>
          </a:xfrm>
          <a:prstGeom prst="rect">
            <a:avLst/>
          </a:prstGeom>
          <a:noFill/>
          <a:ln>
            <a:noFill/>
          </a:ln>
        </p:spPr>
        <p:txBody>
          <a:bodyPr anchorCtr="0" anchor="t" bIns="34275" lIns="68575" spcFirstLastPara="1" rIns="68575" wrap="square" tIns="34275">
            <a:normAutofit/>
          </a:bodyPr>
          <a:lstStyle/>
          <a:p>
            <a:pPr indent="-355600" lvl="0" marL="457200" rtl="0" algn="l">
              <a:spcBef>
                <a:spcPts val="1000"/>
              </a:spcBef>
              <a:spcAft>
                <a:spcPts val="0"/>
              </a:spcAft>
              <a:buClr>
                <a:schemeClr val="dk1"/>
              </a:buClr>
              <a:buSzPts val="2000"/>
              <a:buChar char="●"/>
            </a:pPr>
            <a:r>
              <a:rPr lang="en-GB" sz="2000">
                <a:solidFill>
                  <a:schemeClr val="dk1"/>
                </a:solidFill>
              </a:rPr>
              <a:t>Most </a:t>
            </a:r>
            <a:r>
              <a:rPr lang="en-GB" sz="2000">
                <a:solidFill>
                  <a:schemeClr val="dk1"/>
                </a:solidFill>
              </a:rPr>
              <a:t>information</a:t>
            </a:r>
            <a:r>
              <a:rPr lang="en-GB" sz="2000">
                <a:solidFill>
                  <a:schemeClr val="dk1"/>
                </a:solidFill>
              </a:rPr>
              <a:t> about projects is on the School handbook: </a:t>
            </a:r>
            <a:endParaRPr sz="2000">
              <a:solidFill>
                <a:schemeClr val="dk1"/>
              </a:solidFill>
            </a:endParaRPr>
          </a:p>
          <a:p>
            <a:pPr indent="0" lvl="0" marL="457200" rtl="0" algn="l">
              <a:spcBef>
                <a:spcPts val="1000"/>
              </a:spcBef>
              <a:spcAft>
                <a:spcPts val="0"/>
              </a:spcAft>
              <a:buNone/>
            </a:pPr>
            <a:r>
              <a:rPr lang="en-GB" sz="2000">
                <a:solidFill>
                  <a:schemeClr val="dk1"/>
                </a:solidFill>
              </a:rPr>
              <a:t>https://sites.google.com/sheffield.ac.uk/com-programme-information/programme-information/pgt-dissertation-project</a:t>
            </a:r>
            <a:endParaRPr sz="2000">
              <a:solidFill>
                <a:schemeClr val="dk1"/>
              </a:solidFill>
            </a:endParaRPr>
          </a:p>
          <a:p>
            <a:pPr indent="0" lvl="0" marL="457200" rtl="0" algn="l">
              <a:spcBef>
                <a:spcPts val="1000"/>
              </a:spcBef>
              <a:spcAft>
                <a:spcPts val="0"/>
              </a:spcAft>
              <a:buNone/>
            </a:pPr>
            <a:r>
              <a:t/>
            </a:r>
            <a:endParaRPr sz="2000">
              <a:solidFill>
                <a:schemeClr val="dk1"/>
              </a:solidFill>
            </a:endParaRPr>
          </a:p>
          <a:p>
            <a:pPr indent="-355600" lvl="0" marL="457200" rtl="0" algn="l">
              <a:spcBef>
                <a:spcPts val="1000"/>
              </a:spcBef>
              <a:spcAft>
                <a:spcPts val="1000"/>
              </a:spcAft>
              <a:buClr>
                <a:schemeClr val="dk1"/>
              </a:buClr>
              <a:buSzPts val="2000"/>
              <a:buChar char="●"/>
            </a:pPr>
            <a:r>
              <a:rPr lang="en-GB" sz="2000">
                <a:solidFill>
                  <a:schemeClr val="dk1"/>
                </a:solidFill>
              </a:rPr>
              <a:t>“COM PGT Dissertation Project (2025~26)” Blackboard course</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299500"/>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Aim of Dissertation Project</a:t>
            </a:r>
            <a:endParaRPr b="1" sz="3600">
              <a:latin typeface="Calibri"/>
              <a:ea typeface="Calibri"/>
              <a:cs typeface="Calibri"/>
              <a:sym typeface="Calibri"/>
            </a:endParaRPr>
          </a:p>
        </p:txBody>
      </p:sp>
      <p:sp>
        <p:nvSpPr>
          <p:cNvPr id="103" name="Google Shape;103;p21"/>
          <p:cNvSpPr txBox="1"/>
          <p:nvPr>
            <p:ph idx="1" type="body"/>
          </p:nvPr>
        </p:nvSpPr>
        <p:spPr>
          <a:xfrm>
            <a:off x="311700" y="1311225"/>
            <a:ext cx="8520600" cy="3416400"/>
          </a:xfrm>
          <a:prstGeom prst="rect">
            <a:avLst/>
          </a:prstGeom>
          <a:noFill/>
          <a:ln>
            <a:noFill/>
          </a:ln>
        </p:spPr>
        <p:txBody>
          <a:bodyPr anchorCtr="0" anchor="t" bIns="34275" lIns="68575" spcFirstLastPara="1" rIns="68575" wrap="square" tIns="34275">
            <a:normAutofit/>
          </a:bodyPr>
          <a:lstStyle/>
          <a:p>
            <a:pPr indent="-342900" lvl="0" marL="457200" rtl="0" algn="l">
              <a:lnSpc>
                <a:spcPct val="90000"/>
              </a:lnSpc>
              <a:spcBef>
                <a:spcPts val="0"/>
              </a:spcBef>
              <a:spcAft>
                <a:spcPts val="0"/>
              </a:spcAft>
              <a:buSzPts val="1800"/>
              <a:buChar char="●"/>
            </a:pPr>
            <a:r>
              <a:rPr lang="en-GB">
                <a:solidFill>
                  <a:schemeClr val="dk1"/>
                </a:solidFill>
              </a:rPr>
              <a:t>Opportunity to explore a topic in depth, working closely with an individual </a:t>
            </a:r>
            <a:r>
              <a:rPr lang="en-GB">
                <a:solidFill>
                  <a:schemeClr val="dk1"/>
                </a:solidFill>
              </a:rPr>
              <a:t>member</a:t>
            </a:r>
            <a:r>
              <a:rPr lang="en-GB">
                <a:solidFill>
                  <a:schemeClr val="dk1"/>
                </a:solidFill>
              </a:rPr>
              <a:t> of staff </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Chance to write up an extended piece of work</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More</a:t>
            </a:r>
            <a:r>
              <a:rPr lang="en-GB">
                <a:solidFill>
                  <a:schemeClr val="dk1"/>
                </a:solidFill>
              </a:rPr>
              <a:t> open ended and less structured </a:t>
            </a:r>
            <a:r>
              <a:rPr lang="en-GB">
                <a:solidFill>
                  <a:schemeClr val="dk1"/>
                </a:solidFill>
              </a:rPr>
              <a:t>than</a:t>
            </a:r>
            <a:r>
              <a:rPr lang="en-GB">
                <a:solidFill>
                  <a:schemeClr val="dk1"/>
                </a:solidFill>
              </a:rPr>
              <a:t> most assessments</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Necessary for degree accreditation </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Often provides good material to talk about at interviews etc. </a:t>
            </a:r>
            <a:endParaRPr>
              <a:solidFill>
                <a:schemeClr val="dk1"/>
              </a:solidFill>
            </a:endParaRPr>
          </a:p>
          <a:p>
            <a:pPr indent="0" lvl="0" marL="177800" rtl="0" algn="l">
              <a:lnSpc>
                <a:spcPct val="90000"/>
              </a:lnSpc>
              <a:spcBef>
                <a:spcPts val="1000"/>
              </a:spcBef>
              <a:spcAft>
                <a:spcPts val="0"/>
              </a:spcAft>
              <a:buNone/>
            </a:pPr>
            <a:r>
              <a:t/>
            </a:r>
            <a:endParaRPr>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299500"/>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Your Individual Project</a:t>
            </a:r>
            <a:endParaRPr b="1" sz="3600">
              <a:latin typeface="Calibri"/>
              <a:ea typeface="Calibri"/>
              <a:cs typeface="Calibri"/>
              <a:sym typeface="Calibri"/>
            </a:endParaRPr>
          </a:p>
        </p:txBody>
      </p:sp>
      <p:sp>
        <p:nvSpPr>
          <p:cNvPr id="109" name="Google Shape;109;p22"/>
          <p:cNvSpPr txBox="1"/>
          <p:nvPr>
            <p:ph idx="1" type="body"/>
          </p:nvPr>
        </p:nvSpPr>
        <p:spPr>
          <a:xfrm>
            <a:off x="311700" y="1245075"/>
            <a:ext cx="8520600" cy="3416400"/>
          </a:xfrm>
          <a:prstGeom prst="rect">
            <a:avLst/>
          </a:prstGeom>
          <a:noFill/>
          <a:ln>
            <a:noFill/>
          </a:ln>
        </p:spPr>
        <p:txBody>
          <a:bodyPr anchorCtr="0" anchor="t" bIns="34275" lIns="68575" spcFirstLastPara="1" rIns="68575" wrap="square" tIns="34275">
            <a:normAutofit/>
          </a:bodyPr>
          <a:lstStyle/>
          <a:p>
            <a:pPr indent="-342900" lvl="0" marL="457200" rtl="0" algn="l">
              <a:lnSpc>
                <a:spcPct val="90000"/>
              </a:lnSpc>
              <a:spcBef>
                <a:spcPts val="0"/>
              </a:spcBef>
              <a:spcAft>
                <a:spcPts val="0"/>
              </a:spcAft>
              <a:buSzPts val="1800"/>
              <a:buChar char="●"/>
            </a:pPr>
            <a:r>
              <a:rPr lang="en-GB">
                <a:solidFill>
                  <a:schemeClr val="dk1"/>
                </a:solidFill>
              </a:rPr>
              <a:t>You should have been allocated a </a:t>
            </a:r>
            <a:r>
              <a:rPr b="1" lang="en-GB">
                <a:solidFill>
                  <a:schemeClr val="dk1"/>
                </a:solidFill>
              </a:rPr>
              <a:t>project supervisor</a:t>
            </a:r>
            <a:r>
              <a:rPr lang="en-GB">
                <a:solidFill>
                  <a:schemeClr val="dk1"/>
                </a:solidFill>
              </a:rPr>
              <a:t> who</a:t>
            </a:r>
            <a:r>
              <a:rPr lang="en-GB">
                <a:solidFill>
                  <a:schemeClr val="dk1"/>
                </a:solidFill>
              </a:rPr>
              <a:t> will provide specific guidance on your individual project</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b="1" lang="en-GB">
                <a:solidFill>
                  <a:schemeClr val="dk1"/>
                </a:solidFill>
              </a:rPr>
              <a:t>Get in contact with your supervisor if you haven’t already done so</a:t>
            </a:r>
            <a:endParaRPr b="1">
              <a:solidFill>
                <a:schemeClr val="dk1"/>
              </a:solidFill>
            </a:endParaRPr>
          </a:p>
          <a:p>
            <a:pPr indent="0" lvl="0" marL="457200" rtl="0" algn="l">
              <a:lnSpc>
                <a:spcPct val="90000"/>
              </a:lnSpc>
              <a:spcBef>
                <a:spcPts val="1000"/>
              </a:spcBef>
              <a:spcAft>
                <a:spcPts val="0"/>
              </a:spcAft>
              <a:buNone/>
            </a:pPr>
            <a:r>
              <a:t/>
            </a:r>
            <a:endParaRPr b="1">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You will probably also have been assigned a specific project</a:t>
            </a:r>
            <a:endParaRPr>
              <a:solidFill>
                <a:schemeClr val="dk1"/>
              </a:solidFill>
            </a:endParaRPr>
          </a:p>
          <a:p>
            <a:pPr indent="-342900" lvl="1" marL="914400" rtl="0" algn="l">
              <a:lnSpc>
                <a:spcPct val="90000"/>
              </a:lnSpc>
              <a:spcBef>
                <a:spcPts val="1000"/>
              </a:spcBef>
              <a:spcAft>
                <a:spcPts val="0"/>
              </a:spcAft>
              <a:buClr>
                <a:schemeClr val="dk1"/>
              </a:buClr>
              <a:buSzPts val="1800"/>
              <a:buChar char="○"/>
            </a:pPr>
            <a:r>
              <a:rPr lang="en-GB" sz="1800">
                <a:solidFill>
                  <a:schemeClr val="dk1"/>
                </a:solidFill>
              </a:rPr>
              <a:t>If not then your first priority will be to come up with a project in collaboration with your supervisor</a:t>
            </a:r>
            <a:endParaRPr sz="1800">
              <a:solidFill>
                <a:schemeClr val="dk1"/>
              </a:solidFill>
            </a:endParaRPr>
          </a:p>
          <a:p>
            <a:pPr indent="0" lvl="0" marL="457200" rtl="0" algn="l">
              <a:lnSpc>
                <a:spcPct val="115000"/>
              </a:lnSpc>
              <a:spcBef>
                <a:spcPts val="1000"/>
              </a:spcBef>
              <a:spcAft>
                <a:spcPts val="0"/>
              </a:spcAft>
              <a:buNone/>
            </a:pPr>
            <a:r>
              <a:t/>
            </a:r>
            <a:endParaRPr>
              <a:solidFill>
                <a:schemeClr val="dk1"/>
              </a:solidFill>
            </a:endParaRPr>
          </a:p>
          <a:p>
            <a:pPr indent="0" lvl="0" marL="177800" rtl="0" algn="l">
              <a:lnSpc>
                <a:spcPct val="90000"/>
              </a:lnSpc>
              <a:spcBef>
                <a:spcPts val="1000"/>
              </a:spcBef>
              <a:spcAft>
                <a:spcPts val="0"/>
              </a:spcAft>
              <a:buNone/>
            </a:pPr>
            <a:r>
              <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1548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Main Project Types </a:t>
            </a:r>
            <a:endParaRPr b="1" sz="3600">
              <a:latin typeface="Calibri"/>
              <a:ea typeface="Calibri"/>
              <a:cs typeface="Calibri"/>
              <a:sym typeface="Calibri"/>
            </a:endParaRPr>
          </a:p>
        </p:txBody>
      </p:sp>
      <p:sp>
        <p:nvSpPr>
          <p:cNvPr id="115" name="Google Shape;115;p23"/>
          <p:cNvSpPr txBox="1"/>
          <p:nvPr>
            <p:ph idx="1" type="body"/>
          </p:nvPr>
        </p:nvSpPr>
        <p:spPr>
          <a:xfrm>
            <a:off x="311700" y="975100"/>
            <a:ext cx="8520600" cy="3588900"/>
          </a:xfrm>
          <a:prstGeom prst="rect">
            <a:avLst/>
          </a:prstGeom>
          <a:noFill/>
          <a:ln>
            <a:noFill/>
          </a:ln>
        </p:spPr>
        <p:txBody>
          <a:bodyPr anchorCtr="0" anchor="t" bIns="34275" lIns="68575" spcFirstLastPara="1" rIns="68575" wrap="square" tIns="34275">
            <a:noAutofit/>
          </a:bodyPr>
          <a:lstStyle/>
          <a:p>
            <a:pPr indent="0" lvl="0" marL="0" rtl="0" algn="l">
              <a:lnSpc>
                <a:spcPct val="105000"/>
              </a:lnSpc>
              <a:spcBef>
                <a:spcPts val="0"/>
              </a:spcBef>
              <a:spcAft>
                <a:spcPts val="0"/>
              </a:spcAft>
              <a:buSzPts val="935"/>
              <a:buNone/>
            </a:pPr>
            <a:r>
              <a:rPr lang="en-GB" sz="1630">
                <a:solidFill>
                  <a:schemeClr val="dk1"/>
                </a:solidFill>
              </a:rPr>
              <a:t>Projects within the school generally fall into three main categories:  </a:t>
            </a:r>
            <a:endParaRPr sz="1630">
              <a:solidFill>
                <a:schemeClr val="dk1"/>
              </a:solidFill>
            </a:endParaRPr>
          </a:p>
          <a:p>
            <a:pPr indent="0" lvl="0" marL="457200" rtl="0" algn="l">
              <a:lnSpc>
                <a:spcPct val="105000"/>
              </a:lnSpc>
              <a:spcBef>
                <a:spcPts val="1000"/>
              </a:spcBef>
              <a:spcAft>
                <a:spcPts val="0"/>
              </a:spcAft>
              <a:buSzPts val="935"/>
              <a:buNone/>
            </a:pPr>
            <a:r>
              <a:t/>
            </a:r>
            <a:endParaRPr sz="1630">
              <a:solidFill>
                <a:schemeClr val="dk1"/>
              </a:solidFill>
            </a:endParaRPr>
          </a:p>
          <a:p>
            <a:pPr indent="-141605" lvl="0" marL="177800" rtl="0" algn="l">
              <a:lnSpc>
                <a:spcPct val="105000"/>
              </a:lnSpc>
              <a:spcBef>
                <a:spcPts val="1000"/>
              </a:spcBef>
              <a:spcAft>
                <a:spcPts val="0"/>
              </a:spcAft>
              <a:buClr>
                <a:schemeClr val="dk1"/>
              </a:buClr>
              <a:buSzPts val="1630"/>
              <a:buChar char="●"/>
            </a:pPr>
            <a:r>
              <a:rPr b="1" lang="en-GB" sz="1630">
                <a:solidFill>
                  <a:schemeClr val="dk1"/>
                </a:solidFill>
              </a:rPr>
              <a:t>Experimental</a:t>
            </a:r>
            <a:r>
              <a:rPr lang="en-GB" sz="1630">
                <a:solidFill>
                  <a:schemeClr val="dk1"/>
                </a:solidFill>
              </a:rPr>
              <a:t>: Main goal is to explore a research question, e.g. how well does approach X work when applied to problem Y. Main components: choosing an approach (or approaches), designing experiments to evaluate those approaches, interpreting the results of those experiments. </a:t>
            </a:r>
            <a:endParaRPr sz="1630">
              <a:solidFill>
                <a:schemeClr val="dk1"/>
              </a:solidFill>
            </a:endParaRPr>
          </a:p>
          <a:p>
            <a:pPr indent="-141605" lvl="0" marL="177800" rtl="0" algn="l">
              <a:lnSpc>
                <a:spcPct val="105000"/>
              </a:lnSpc>
              <a:spcBef>
                <a:spcPts val="1000"/>
              </a:spcBef>
              <a:spcAft>
                <a:spcPts val="0"/>
              </a:spcAft>
              <a:buClr>
                <a:schemeClr val="dk1"/>
              </a:buClr>
              <a:buSzPts val="1630"/>
              <a:buChar char="●"/>
            </a:pPr>
            <a:r>
              <a:rPr b="1" lang="en-GB" sz="1630">
                <a:solidFill>
                  <a:schemeClr val="dk1"/>
                </a:solidFill>
              </a:rPr>
              <a:t>Design and Build</a:t>
            </a:r>
            <a:r>
              <a:rPr lang="en-GB" sz="1630">
                <a:solidFill>
                  <a:schemeClr val="dk1"/>
                </a:solidFill>
              </a:rPr>
              <a:t>: Main goal is to develop and evaluate a </a:t>
            </a:r>
            <a:r>
              <a:rPr lang="en-GB" sz="1630">
                <a:solidFill>
                  <a:schemeClr val="dk1"/>
                </a:solidFill>
              </a:rPr>
              <a:t>software</a:t>
            </a:r>
            <a:r>
              <a:rPr lang="en-GB" sz="1630">
                <a:solidFill>
                  <a:schemeClr val="dk1"/>
                </a:solidFill>
              </a:rPr>
              <a:t> artefact. Main components: gather requirements, design and implement software artefact, test and </a:t>
            </a:r>
            <a:r>
              <a:rPr lang="en-GB" sz="1630">
                <a:solidFill>
                  <a:schemeClr val="dk1"/>
                </a:solidFill>
              </a:rPr>
              <a:t>evaluate</a:t>
            </a:r>
            <a:r>
              <a:rPr lang="en-GB" sz="1630">
                <a:solidFill>
                  <a:schemeClr val="dk1"/>
                </a:solidFill>
              </a:rPr>
              <a:t> artefact. </a:t>
            </a:r>
            <a:endParaRPr sz="1630">
              <a:solidFill>
                <a:schemeClr val="dk1"/>
              </a:solidFill>
            </a:endParaRPr>
          </a:p>
          <a:p>
            <a:pPr indent="-141605" lvl="0" marL="177800" rtl="0" algn="l">
              <a:lnSpc>
                <a:spcPct val="105000"/>
              </a:lnSpc>
              <a:spcBef>
                <a:spcPts val="1000"/>
              </a:spcBef>
              <a:spcAft>
                <a:spcPts val="1000"/>
              </a:spcAft>
              <a:buClr>
                <a:schemeClr val="dk1"/>
              </a:buClr>
              <a:buSzPts val="1630"/>
              <a:buChar char="●"/>
            </a:pPr>
            <a:r>
              <a:rPr b="1" lang="en-GB" sz="1630">
                <a:solidFill>
                  <a:schemeClr val="dk1"/>
                </a:solidFill>
              </a:rPr>
              <a:t>Theoretical</a:t>
            </a:r>
            <a:r>
              <a:rPr lang="en-GB" sz="1630">
                <a:solidFill>
                  <a:schemeClr val="dk1"/>
                </a:solidFill>
              </a:rPr>
              <a:t>: Main goal is to explore a theoretical problem within Computer Science. Dissertations in this category tend to concentrate on making and testing conjectures, developing theorems and proofs (where appropriate) and assessing the results, with attention given in suitable cases to possible applications.</a:t>
            </a:r>
            <a:endParaRPr sz="163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385900"/>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Project Timeline</a:t>
            </a:r>
            <a:endParaRPr b="1" sz="3600">
              <a:latin typeface="Calibri"/>
              <a:ea typeface="Calibri"/>
              <a:cs typeface="Calibri"/>
              <a:sym typeface="Calibri"/>
            </a:endParaRPr>
          </a:p>
        </p:txBody>
      </p:sp>
      <p:graphicFrame>
        <p:nvGraphicFramePr>
          <p:cNvPr id="121" name="Google Shape;121;p24"/>
          <p:cNvGraphicFramePr/>
          <p:nvPr/>
        </p:nvGraphicFramePr>
        <p:xfrm>
          <a:off x="1347538" y="1442125"/>
          <a:ext cx="3000000" cy="3000000"/>
        </p:xfrm>
        <a:graphic>
          <a:graphicData uri="http://schemas.openxmlformats.org/drawingml/2006/table">
            <a:tbl>
              <a:tblPr>
                <a:noFill/>
                <a:tableStyleId>{0878FE5D-DF7D-4CC6-A5E9-BA88663D0C6E}</a:tableStyleId>
              </a:tblPr>
              <a:tblGrid>
                <a:gridCol w="2667625"/>
                <a:gridCol w="3781275"/>
              </a:tblGrid>
              <a:tr h="390575">
                <a:tc>
                  <a:txBody>
                    <a:bodyPr/>
                    <a:lstStyle/>
                    <a:p>
                      <a:pPr indent="0" lvl="0" marL="0" rtl="0" algn="l">
                        <a:lnSpc>
                          <a:spcPct val="90000"/>
                        </a:lnSpc>
                        <a:spcBef>
                          <a:spcPts val="800"/>
                        </a:spcBef>
                        <a:spcAft>
                          <a:spcPts val="0"/>
                        </a:spcAft>
                        <a:buNone/>
                      </a:pPr>
                      <a:r>
                        <a:rPr lang="en-GB" sz="1800">
                          <a:solidFill>
                            <a:schemeClr val="dk1"/>
                          </a:solidFill>
                        </a:rPr>
                        <a:t>Start of project period </a:t>
                      </a:r>
                      <a:endParaRPr sz="1800">
                        <a:solidFill>
                          <a:schemeClr val="dk1"/>
                        </a:solidFill>
                      </a:endParaRPr>
                    </a:p>
                  </a:txBody>
                  <a:tcPr marT="91425" marB="91425" marR="91425" marL="91425"/>
                </a:tc>
                <a:tc>
                  <a:txBody>
                    <a:bodyPr/>
                    <a:lstStyle/>
                    <a:p>
                      <a:pPr indent="0" lvl="0" marL="0" rtl="0" algn="l">
                        <a:spcBef>
                          <a:spcPts val="0"/>
                        </a:spcBef>
                        <a:spcAft>
                          <a:spcPts val="0"/>
                        </a:spcAft>
                        <a:buNone/>
                      </a:pPr>
                      <a:r>
                        <a:rPr lang="en-GB" sz="1800"/>
                        <a:t>Monday 15th June (today!) </a:t>
                      </a:r>
                      <a:endParaRPr sz="1800"/>
                    </a:p>
                  </a:txBody>
                  <a:tcPr marT="91425" marB="91425" marR="91425" marL="91425"/>
                </a:tc>
              </a:tr>
              <a:tr h="390575">
                <a:tc>
                  <a:txBody>
                    <a:bodyPr/>
                    <a:lstStyle/>
                    <a:p>
                      <a:pPr indent="0" lvl="0" marL="0" rtl="0" algn="l">
                        <a:lnSpc>
                          <a:spcPct val="90000"/>
                        </a:lnSpc>
                        <a:spcBef>
                          <a:spcPts val="800"/>
                        </a:spcBef>
                        <a:spcAft>
                          <a:spcPts val="0"/>
                        </a:spcAft>
                        <a:buClr>
                          <a:schemeClr val="dk1"/>
                        </a:buClr>
                        <a:buSzPts val="2100"/>
                        <a:buFont typeface="Arial"/>
                        <a:buNone/>
                      </a:pPr>
                      <a:r>
                        <a:rPr lang="en-GB" sz="1800">
                          <a:solidFill>
                            <a:schemeClr val="dk1"/>
                          </a:solidFill>
                        </a:rPr>
                        <a:t>Project Presentation</a:t>
                      </a:r>
                      <a:endParaRPr/>
                    </a:p>
                  </a:txBody>
                  <a:tcPr marT="91425" marB="91425" marR="91425" marL="91425"/>
                </a:tc>
                <a:tc>
                  <a:txBody>
                    <a:bodyPr/>
                    <a:lstStyle/>
                    <a:p>
                      <a:pPr indent="0" lvl="0" marL="0" rtl="0" algn="l">
                        <a:spcBef>
                          <a:spcPts val="0"/>
                        </a:spcBef>
                        <a:spcAft>
                          <a:spcPts val="0"/>
                        </a:spcAft>
                        <a:buNone/>
                      </a:pPr>
                      <a:r>
                        <a:rPr lang="en-GB" sz="1800"/>
                        <a:t>Friday 4th September</a:t>
                      </a:r>
                      <a:r>
                        <a:rPr lang="en-GB" sz="1800"/>
                        <a:t> </a:t>
                      </a:r>
                      <a:endParaRPr sz="1800"/>
                    </a:p>
                  </a:txBody>
                  <a:tcPr marT="91425" marB="91425" marR="91425" marL="91425"/>
                </a:tc>
              </a:tr>
              <a:tr h="523575">
                <a:tc>
                  <a:txBody>
                    <a:bodyPr/>
                    <a:lstStyle/>
                    <a:p>
                      <a:pPr indent="0" lvl="0" marL="0" rtl="0" algn="l">
                        <a:lnSpc>
                          <a:spcPct val="90000"/>
                        </a:lnSpc>
                        <a:spcBef>
                          <a:spcPts val="800"/>
                        </a:spcBef>
                        <a:spcAft>
                          <a:spcPts val="0"/>
                        </a:spcAft>
                        <a:buClr>
                          <a:schemeClr val="dk1"/>
                        </a:buClr>
                        <a:buSzPts val="2100"/>
                        <a:buFont typeface="Arial"/>
                        <a:buNone/>
                      </a:pPr>
                      <a:r>
                        <a:rPr lang="en-GB" sz="1800">
                          <a:solidFill>
                            <a:schemeClr val="dk1"/>
                          </a:solidFill>
                        </a:rPr>
                        <a:t>Final Dissertation</a:t>
                      </a:r>
                      <a:endParaRPr/>
                    </a:p>
                  </a:txBody>
                  <a:tcPr marT="91425" marB="91425" marR="91425" marL="91425"/>
                </a:tc>
                <a:tc>
                  <a:txBody>
                    <a:bodyPr/>
                    <a:lstStyle/>
                    <a:p>
                      <a:pPr indent="0" lvl="0" marL="0" rtl="0" algn="l">
                        <a:spcBef>
                          <a:spcPts val="0"/>
                        </a:spcBef>
                        <a:spcAft>
                          <a:spcPts val="0"/>
                        </a:spcAft>
                        <a:buNone/>
                      </a:pPr>
                      <a:r>
                        <a:rPr lang="en-GB" sz="1800"/>
                        <a:t>Wednesday 16th September 15:00</a:t>
                      </a:r>
                      <a:endParaRPr sz="1800"/>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267650"/>
            <a:ext cx="8520600" cy="572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lang="en-GB"/>
              <a:t>Project Presentation</a:t>
            </a:r>
            <a:endParaRPr/>
          </a:p>
        </p:txBody>
      </p:sp>
      <p:sp>
        <p:nvSpPr>
          <p:cNvPr id="127" name="Google Shape;127;p25"/>
          <p:cNvSpPr txBox="1"/>
          <p:nvPr>
            <p:ph idx="1" type="body"/>
          </p:nvPr>
        </p:nvSpPr>
        <p:spPr>
          <a:xfrm>
            <a:off x="311700" y="1046050"/>
            <a:ext cx="8520600" cy="3529800"/>
          </a:xfrm>
          <a:prstGeom prst="rect">
            <a:avLst/>
          </a:prstGeom>
          <a:noFill/>
          <a:ln>
            <a:noFill/>
          </a:ln>
        </p:spPr>
        <p:txBody>
          <a:bodyPr anchorCtr="0" anchor="t" bIns="34275" lIns="68575" spcFirstLastPara="1" rIns="68575" wrap="square" tIns="34275">
            <a:normAutofit lnSpcReduction="10000"/>
          </a:bodyPr>
          <a:lstStyle/>
          <a:p>
            <a:pPr indent="-342900" lvl="0" marL="457200" rtl="0" algn="l">
              <a:lnSpc>
                <a:spcPct val="90000"/>
              </a:lnSpc>
              <a:spcBef>
                <a:spcPts val="1000"/>
              </a:spcBef>
              <a:spcAft>
                <a:spcPts val="0"/>
              </a:spcAft>
              <a:buClr>
                <a:schemeClr val="dk1"/>
              </a:buClr>
              <a:buSzPts val="1800"/>
              <a:buChar char="●"/>
            </a:pPr>
            <a:r>
              <a:rPr lang="en-GB">
                <a:solidFill>
                  <a:schemeClr val="dk1"/>
                </a:solidFill>
              </a:rPr>
              <a:t>Around a week before the deadline for the final dissertation in a large </a:t>
            </a:r>
            <a:r>
              <a:rPr lang="en-GB">
                <a:solidFill>
                  <a:schemeClr val="dk1"/>
                </a:solidFill>
              </a:rPr>
              <a:t>computer</a:t>
            </a:r>
            <a:r>
              <a:rPr lang="en-GB">
                <a:solidFill>
                  <a:schemeClr val="dk1"/>
                </a:solidFill>
              </a:rPr>
              <a:t> room (or rooms). </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Opportunity to demonstrate your ability to describe your project and explain its main findings.</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Your second marker (or their delegate) will attend your presentation.</a:t>
            </a:r>
            <a:endParaRPr>
              <a:solidFill>
                <a:schemeClr val="dk1"/>
              </a:solidFill>
            </a:endParaRPr>
          </a:p>
          <a:p>
            <a:pPr indent="-342900" lvl="0" marL="457200" rtl="0" algn="l">
              <a:lnSpc>
                <a:spcPct val="90000"/>
              </a:lnSpc>
              <a:spcBef>
                <a:spcPts val="1000"/>
              </a:spcBef>
              <a:spcAft>
                <a:spcPts val="0"/>
              </a:spcAft>
              <a:buClr>
                <a:schemeClr val="dk1"/>
              </a:buClr>
              <a:buSzPts val="1800"/>
              <a:buChar char="●"/>
            </a:pPr>
            <a:r>
              <a:rPr lang="en-GB">
                <a:solidFill>
                  <a:schemeClr val="dk1"/>
                </a:solidFill>
              </a:rPr>
              <a:t>Choose one of the following methods to present your </a:t>
            </a:r>
            <a:r>
              <a:rPr lang="en-GB">
                <a:solidFill>
                  <a:schemeClr val="dk1"/>
                </a:solidFill>
              </a:rPr>
              <a:t>project</a:t>
            </a:r>
            <a:r>
              <a:rPr lang="en-GB">
                <a:solidFill>
                  <a:schemeClr val="dk1"/>
                </a:solidFill>
              </a:rPr>
              <a:t> :</a:t>
            </a:r>
            <a:endParaRPr>
              <a:solidFill>
                <a:schemeClr val="dk1"/>
              </a:solidFill>
            </a:endParaRPr>
          </a:p>
          <a:p>
            <a:pPr indent="-317500" lvl="1" marL="914400" rtl="0" algn="l">
              <a:lnSpc>
                <a:spcPct val="90000"/>
              </a:lnSpc>
              <a:spcBef>
                <a:spcPts val="1000"/>
              </a:spcBef>
              <a:spcAft>
                <a:spcPts val="0"/>
              </a:spcAft>
              <a:buClr>
                <a:schemeClr val="dk1"/>
              </a:buClr>
              <a:buSzPts val="1400"/>
              <a:buAutoNum type="alphaLcPeriod"/>
            </a:pPr>
            <a:r>
              <a:rPr lang="en-GB">
                <a:solidFill>
                  <a:schemeClr val="dk1"/>
                </a:solidFill>
              </a:rPr>
              <a:t>A one-page information sheet, like a poster, to be displayed on a computer screen.</a:t>
            </a:r>
            <a:endParaRPr>
              <a:solidFill>
                <a:schemeClr val="dk1"/>
              </a:solidFill>
            </a:endParaRPr>
          </a:p>
          <a:p>
            <a:pPr indent="-317500" lvl="1" marL="914400" rtl="0" algn="l">
              <a:lnSpc>
                <a:spcPct val="90000"/>
              </a:lnSpc>
              <a:spcBef>
                <a:spcPts val="1000"/>
              </a:spcBef>
              <a:spcAft>
                <a:spcPts val="0"/>
              </a:spcAft>
              <a:buClr>
                <a:schemeClr val="dk1"/>
              </a:buClr>
              <a:buSzPts val="1400"/>
              <a:buAutoNum type="alphaLcPeriod"/>
            </a:pPr>
            <a:r>
              <a:rPr lang="en-GB">
                <a:solidFill>
                  <a:schemeClr val="dk1"/>
                </a:solidFill>
              </a:rPr>
              <a:t>A short set of PowerPoint (or Keynote) slides that support your presentation talk.</a:t>
            </a:r>
            <a:endParaRPr>
              <a:solidFill>
                <a:schemeClr val="dk1"/>
              </a:solidFill>
            </a:endParaRPr>
          </a:p>
          <a:p>
            <a:pPr indent="-317500" lvl="1" marL="914400" rtl="0" algn="l">
              <a:lnSpc>
                <a:spcPct val="90000"/>
              </a:lnSpc>
              <a:spcBef>
                <a:spcPts val="1000"/>
              </a:spcBef>
              <a:spcAft>
                <a:spcPts val="0"/>
              </a:spcAft>
              <a:buClr>
                <a:schemeClr val="dk1"/>
              </a:buClr>
              <a:buSzPts val="1400"/>
              <a:buAutoNum type="alphaLcPeriod"/>
            </a:pPr>
            <a:r>
              <a:rPr lang="en-GB">
                <a:solidFill>
                  <a:schemeClr val="dk1"/>
                </a:solidFill>
              </a:rPr>
              <a:t>A video</a:t>
            </a:r>
            <a:endParaRPr>
              <a:solidFill>
                <a:schemeClr val="dk1"/>
              </a:solidFill>
            </a:endParaRPr>
          </a:p>
          <a:p>
            <a:pPr indent="-342900" lvl="0" marL="457200" rtl="0" algn="l">
              <a:lnSpc>
                <a:spcPct val="90000"/>
              </a:lnSpc>
              <a:spcBef>
                <a:spcPts val="1000"/>
              </a:spcBef>
              <a:spcAft>
                <a:spcPts val="1000"/>
              </a:spcAft>
              <a:buClr>
                <a:schemeClr val="dk1"/>
              </a:buClr>
              <a:buSzPts val="1800"/>
              <a:buChar char="●"/>
            </a:pPr>
            <a:r>
              <a:rPr lang="en-GB">
                <a:solidFill>
                  <a:schemeClr val="dk1"/>
                </a:solidFill>
              </a:rPr>
              <a:t>Keep your </a:t>
            </a:r>
            <a:r>
              <a:rPr lang="en-GB">
                <a:solidFill>
                  <a:schemeClr val="dk1"/>
                </a:solidFill>
              </a:rPr>
              <a:t>presentation</a:t>
            </a:r>
            <a:r>
              <a:rPr lang="en-GB">
                <a:solidFill>
                  <a:schemeClr val="dk1"/>
                </a:solidFill>
              </a:rPr>
              <a:t> </a:t>
            </a:r>
            <a:r>
              <a:rPr b="1" lang="en-GB">
                <a:solidFill>
                  <a:schemeClr val="dk1"/>
                </a:solidFill>
              </a:rPr>
              <a:t>concise and focussed on the key </a:t>
            </a:r>
            <a:r>
              <a:rPr b="1" lang="en-GB">
                <a:solidFill>
                  <a:schemeClr val="dk1"/>
                </a:solidFill>
              </a:rPr>
              <a:t>points</a:t>
            </a:r>
            <a:r>
              <a:rPr lang="en-GB">
                <a:solidFill>
                  <a:schemeClr val="dk1"/>
                </a:solidFill>
              </a:rPr>
              <a:t> from your project. Demonstrate your ability to identify and communicate the core information and avoid a “brain dump”!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985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3000"/>
              <a:t>Final Dissertation</a:t>
            </a:r>
            <a:endParaRPr b="1" sz="3000"/>
          </a:p>
        </p:txBody>
      </p:sp>
      <p:sp>
        <p:nvSpPr>
          <p:cNvPr id="133" name="Google Shape;133;p26"/>
          <p:cNvSpPr txBox="1"/>
          <p:nvPr>
            <p:ph idx="1" type="body"/>
          </p:nvPr>
        </p:nvSpPr>
        <p:spPr>
          <a:xfrm>
            <a:off x="138050" y="733125"/>
            <a:ext cx="8892900" cy="3826200"/>
          </a:xfrm>
          <a:prstGeom prst="rect">
            <a:avLst/>
          </a:prstGeom>
        </p:spPr>
        <p:txBody>
          <a:bodyPr anchorCtr="0" anchor="t" bIns="91425" lIns="91425" spcFirstLastPara="1" rIns="91425" wrap="square" tIns="91425">
            <a:normAutofit/>
          </a:bodyPr>
          <a:lstStyle/>
          <a:p>
            <a:pPr indent="-342900" lvl="0" marL="457200" rtl="0" algn="l">
              <a:lnSpc>
                <a:spcPct val="90000"/>
              </a:lnSpc>
              <a:spcBef>
                <a:spcPts val="800"/>
              </a:spcBef>
              <a:spcAft>
                <a:spcPts val="0"/>
              </a:spcAft>
              <a:buSzPts val="1800"/>
              <a:buChar char="●"/>
            </a:pPr>
            <a:r>
              <a:rPr lang="en-GB">
                <a:solidFill>
                  <a:schemeClr val="dk1"/>
                </a:solidFill>
              </a:rPr>
              <a:t>Length: </a:t>
            </a:r>
            <a:r>
              <a:rPr lang="en-GB">
                <a:solidFill>
                  <a:schemeClr val="dk1"/>
                </a:solidFill>
              </a:rPr>
              <a:t>between 10,000 and 20,000 words</a:t>
            </a:r>
            <a:r>
              <a:rPr lang="en-GB">
                <a:solidFill>
                  <a:schemeClr val="dk1"/>
                </a:solidFill>
              </a:rPr>
              <a:t> (not including references and appendices etc)</a:t>
            </a:r>
            <a:endParaRPr>
              <a:solidFill>
                <a:schemeClr val="dk1"/>
              </a:solidFill>
            </a:endParaRPr>
          </a:p>
          <a:p>
            <a:pPr indent="-342900" lvl="0" marL="457200" rtl="0" algn="l">
              <a:spcBef>
                <a:spcPts val="1000"/>
              </a:spcBef>
              <a:spcAft>
                <a:spcPts val="0"/>
              </a:spcAft>
              <a:buClr>
                <a:schemeClr val="dk1"/>
              </a:buClr>
              <a:buSzPts val="1800"/>
              <a:buChar char="●"/>
            </a:pPr>
            <a:r>
              <a:rPr lang="en-GB">
                <a:solidFill>
                  <a:schemeClr val="dk1"/>
                </a:solidFill>
              </a:rPr>
              <a:t>Structure d</a:t>
            </a:r>
            <a:r>
              <a:rPr lang="en-GB">
                <a:solidFill>
                  <a:schemeClr val="dk1"/>
                </a:solidFill>
              </a:rPr>
              <a:t>epends on the type of project, discuss with your supervisor</a:t>
            </a:r>
            <a:endParaRPr>
              <a:solidFill>
                <a:schemeClr val="dk1"/>
              </a:solidFill>
            </a:endParaRPr>
          </a:p>
          <a:p>
            <a:pPr indent="0" lvl="0" marL="0" rtl="0" algn="l">
              <a:spcBef>
                <a:spcPts val="1200"/>
              </a:spcBef>
              <a:spcAft>
                <a:spcPts val="1200"/>
              </a:spcAft>
              <a:buNone/>
            </a:pPr>
            <a:r>
              <a:t/>
            </a:r>
            <a:endParaRPr/>
          </a:p>
        </p:txBody>
      </p:sp>
      <p:graphicFrame>
        <p:nvGraphicFramePr>
          <p:cNvPr id="134" name="Google Shape;134;p26"/>
          <p:cNvGraphicFramePr/>
          <p:nvPr/>
        </p:nvGraphicFramePr>
        <p:xfrm>
          <a:off x="311700" y="1826875"/>
          <a:ext cx="3000000" cy="3000000"/>
        </p:xfrm>
        <a:graphic>
          <a:graphicData uri="http://schemas.openxmlformats.org/drawingml/2006/table">
            <a:tbl>
              <a:tblPr>
                <a:noFill/>
                <a:tableStyleId>{0878FE5D-DF7D-4CC6-A5E9-BA88663D0C6E}</a:tableStyleId>
              </a:tblPr>
              <a:tblGrid>
                <a:gridCol w="2681100"/>
                <a:gridCol w="2899175"/>
                <a:gridCol w="2634375"/>
              </a:tblGrid>
              <a:tr h="438500">
                <a:tc>
                  <a:txBody>
                    <a:bodyPr/>
                    <a:lstStyle/>
                    <a:p>
                      <a:pPr indent="0" lvl="0" marL="0" rtl="0" algn="l">
                        <a:spcBef>
                          <a:spcPts val="0"/>
                        </a:spcBef>
                        <a:spcAft>
                          <a:spcPts val="0"/>
                        </a:spcAft>
                        <a:buNone/>
                      </a:pPr>
                      <a:r>
                        <a:rPr b="1" lang="en-GB"/>
                        <a:t>Design and Build</a:t>
                      </a:r>
                      <a:endParaRPr b="1"/>
                    </a:p>
                  </a:txBody>
                  <a:tcPr marT="91425" marB="91425" marR="91425" marL="91425"/>
                </a:tc>
                <a:tc>
                  <a:txBody>
                    <a:bodyPr/>
                    <a:lstStyle/>
                    <a:p>
                      <a:pPr indent="0" lvl="0" marL="0" rtl="0" algn="l">
                        <a:spcBef>
                          <a:spcPts val="0"/>
                        </a:spcBef>
                        <a:spcAft>
                          <a:spcPts val="0"/>
                        </a:spcAft>
                        <a:buNone/>
                      </a:pPr>
                      <a:r>
                        <a:rPr b="1" lang="en-GB"/>
                        <a:t>Experimental </a:t>
                      </a:r>
                      <a:endParaRPr b="1"/>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GB"/>
                        <a:t>Theoretical </a:t>
                      </a:r>
                      <a:endParaRPr b="1"/>
                    </a:p>
                  </a:txBody>
                  <a:tcPr marT="91425" marB="91425" marR="91425" marL="91425"/>
                </a:tc>
              </a:tr>
              <a:tr h="364100">
                <a:tc>
                  <a:txBody>
                    <a:bodyPr/>
                    <a:lstStyle/>
                    <a:p>
                      <a:pPr indent="0" lvl="0" marL="0" rtl="0" algn="l">
                        <a:spcBef>
                          <a:spcPts val="0"/>
                        </a:spcBef>
                        <a:spcAft>
                          <a:spcPts val="0"/>
                        </a:spcAft>
                        <a:buNone/>
                      </a:pPr>
                      <a:r>
                        <a:rPr lang="en-GB"/>
                        <a:t>Introduction</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GB"/>
                        <a:t>Introduction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Introduction</a:t>
                      </a:r>
                      <a:endParaRPr/>
                    </a:p>
                  </a:txBody>
                  <a:tcPr marT="91425" marB="91425" marR="91425" marL="91425">
                    <a:lnL cap="flat" cmpd="sng" w="9525">
                      <a:solidFill>
                        <a:srgbClr val="9E9E9E"/>
                      </a:solidFill>
                      <a:prstDash val="solid"/>
                      <a:round/>
                      <a:headEnd len="sm" w="sm" type="none"/>
                      <a:tailEnd len="sm" w="sm" type="none"/>
                    </a:lnL>
                  </a:tcPr>
                </a:tc>
              </a:tr>
              <a:tr h="243175">
                <a:tc>
                  <a:txBody>
                    <a:bodyPr/>
                    <a:lstStyle/>
                    <a:p>
                      <a:pPr indent="0" lvl="0" marL="0" rtl="0" algn="l">
                        <a:spcBef>
                          <a:spcPts val="0"/>
                        </a:spcBef>
                        <a:spcAft>
                          <a:spcPts val="0"/>
                        </a:spcAft>
                        <a:buNone/>
                      </a:pPr>
                      <a:r>
                        <a:rPr lang="en-GB"/>
                        <a:t>Literature Review</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GB"/>
                        <a:t>Literature Review</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GB"/>
                        <a:t>Technical Preliminaries </a:t>
                      </a:r>
                      <a:endParaRPr/>
                    </a:p>
                  </a:txBody>
                  <a:tcPr marT="91425" marB="91425" marR="91425" marL="91425">
                    <a:lnL cap="flat" cmpd="sng" w="9525">
                      <a:solidFill>
                        <a:srgbClr val="9E9E9E"/>
                      </a:solidFill>
                      <a:prstDash val="solid"/>
                      <a:round/>
                      <a:headEnd len="sm" w="sm" type="none"/>
                      <a:tailEnd len="sm" w="sm" type="none"/>
                    </a:lnL>
                  </a:tcPr>
                </a:tc>
              </a:tr>
              <a:tr h="373375">
                <a:tc>
                  <a:txBody>
                    <a:bodyPr/>
                    <a:lstStyle/>
                    <a:p>
                      <a:pPr indent="0" lvl="0" marL="0" rtl="0" algn="l">
                        <a:spcBef>
                          <a:spcPts val="0"/>
                        </a:spcBef>
                        <a:spcAft>
                          <a:spcPts val="0"/>
                        </a:spcAft>
                        <a:buNone/>
                      </a:pPr>
                      <a:r>
                        <a:rPr lang="en-GB"/>
                        <a:t>Requirements and analysis</a:t>
                      </a:r>
                      <a:endParaRPr/>
                    </a:p>
                  </a:txBody>
                  <a:tcPr marT="91425" marB="91425" marR="91425" marL="91425"/>
                </a:tc>
                <a:tc>
                  <a:txBody>
                    <a:bodyPr/>
                    <a:lstStyle/>
                    <a:p>
                      <a:pPr indent="0" lvl="0" marL="0" rtl="0" algn="l">
                        <a:spcBef>
                          <a:spcPts val="0"/>
                        </a:spcBef>
                        <a:spcAft>
                          <a:spcPts val="0"/>
                        </a:spcAft>
                        <a:buNone/>
                      </a:pPr>
                      <a:r>
                        <a:rPr lang="en-GB"/>
                        <a:t>Approach</a:t>
                      </a:r>
                      <a:endParaRPr/>
                    </a:p>
                  </a:txBody>
                  <a:tcPr marT="91425" marB="91425" marR="91425" marL="91425">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i="1" lang="en-GB"/>
                        <a:t>Series of chapters </a:t>
                      </a:r>
                      <a:endParaRPr i="1"/>
                    </a:p>
                  </a:txBody>
                  <a:tcPr marT="91425" marB="91425" marR="91425" marL="91425" anchor="ctr"/>
                </a:tc>
              </a:tr>
              <a:tr h="354775">
                <a:tc>
                  <a:txBody>
                    <a:bodyPr/>
                    <a:lstStyle/>
                    <a:p>
                      <a:pPr indent="0" lvl="0" marL="0" rtl="0" algn="l">
                        <a:spcBef>
                          <a:spcPts val="0"/>
                        </a:spcBef>
                        <a:spcAft>
                          <a:spcPts val="0"/>
                        </a:spcAft>
                        <a:buNone/>
                      </a:pPr>
                      <a:r>
                        <a:rPr lang="en-GB"/>
                        <a:t>Design</a:t>
                      </a:r>
                      <a:endParaRPr/>
                    </a:p>
                  </a:txBody>
                  <a:tcPr marT="91425" marB="91425" marR="91425" marL="91425"/>
                </a:tc>
                <a:tc>
                  <a:txBody>
                    <a:bodyPr/>
                    <a:lstStyle/>
                    <a:p>
                      <a:pPr indent="0" lvl="0" marL="0" rtl="0" algn="l">
                        <a:spcBef>
                          <a:spcPts val="0"/>
                        </a:spcBef>
                        <a:spcAft>
                          <a:spcPts val="0"/>
                        </a:spcAft>
                        <a:buNone/>
                      </a:pPr>
                      <a:r>
                        <a:rPr lang="en-GB"/>
                        <a:t>Experiments</a:t>
                      </a:r>
                      <a:endParaRPr/>
                    </a:p>
                  </a:txBody>
                  <a:tcPr marT="91425" marB="91425" marR="91425" marL="91425"/>
                </a:tc>
                <a:tc>
                  <a:txBody>
                    <a:bodyPr/>
                    <a:lstStyle/>
                    <a:p>
                      <a:pPr indent="0" lvl="0" marL="0" rtl="0" algn="l">
                        <a:spcBef>
                          <a:spcPts val="0"/>
                        </a:spcBef>
                        <a:spcAft>
                          <a:spcPts val="0"/>
                        </a:spcAft>
                        <a:buNone/>
                      </a:pPr>
                      <a:r>
                        <a:rPr lang="en-GB">
                          <a:solidFill>
                            <a:schemeClr val="dk1"/>
                          </a:solidFill>
                        </a:rPr>
                        <a:t>Discussion and Conclusions</a:t>
                      </a:r>
                      <a:endParaRPr/>
                    </a:p>
                  </a:txBody>
                  <a:tcPr marT="91425" marB="91425" marR="91425" marL="91425" anchor="ctr"/>
                </a:tc>
              </a:tr>
              <a:tr h="336200">
                <a:tc>
                  <a:txBody>
                    <a:bodyPr/>
                    <a:lstStyle/>
                    <a:p>
                      <a:pPr indent="0" lvl="0" marL="0" rtl="0" algn="l">
                        <a:spcBef>
                          <a:spcPts val="0"/>
                        </a:spcBef>
                        <a:spcAft>
                          <a:spcPts val="0"/>
                        </a:spcAft>
                        <a:buNone/>
                      </a:pPr>
                      <a:r>
                        <a:rPr lang="en-GB"/>
                        <a:t>Implementation and Testing</a:t>
                      </a:r>
                      <a:endParaRPr/>
                    </a:p>
                  </a:txBody>
                  <a:tcPr marT="91425" marB="91425" marR="91425" marL="91425"/>
                </a:tc>
                <a:tc>
                  <a:txBody>
                    <a:bodyPr/>
                    <a:lstStyle/>
                    <a:p>
                      <a:pPr indent="0" lvl="0" marL="0" rtl="0" algn="l">
                        <a:spcBef>
                          <a:spcPts val="0"/>
                        </a:spcBef>
                        <a:spcAft>
                          <a:spcPts val="0"/>
                        </a:spcAft>
                        <a:buNone/>
                      </a:pPr>
                      <a:r>
                        <a:rPr lang="en-GB">
                          <a:solidFill>
                            <a:schemeClr val="dk1"/>
                          </a:solidFill>
                        </a:rPr>
                        <a:t>Results and Discussion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36200">
                <a:tc>
                  <a:txBody>
                    <a:bodyPr/>
                    <a:lstStyle/>
                    <a:p>
                      <a:pPr indent="0" lvl="0" marL="0" rtl="0" algn="l">
                        <a:spcBef>
                          <a:spcPts val="0"/>
                        </a:spcBef>
                        <a:spcAft>
                          <a:spcPts val="0"/>
                        </a:spcAft>
                        <a:buNone/>
                      </a:pPr>
                      <a:r>
                        <a:rPr lang="en-GB"/>
                        <a:t>Results and Discussion</a:t>
                      </a:r>
                      <a:endParaRPr/>
                    </a:p>
                  </a:txBody>
                  <a:tcPr marT="91425" marB="91425" marR="91425" marL="91425"/>
                </a:tc>
                <a:tc>
                  <a:txBody>
                    <a:bodyPr/>
                    <a:lstStyle/>
                    <a:p>
                      <a:pPr indent="0" lvl="0" marL="0" rtl="0" algn="l">
                        <a:spcBef>
                          <a:spcPts val="0"/>
                        </a:spcBef>
                        <a:spcAft>
                          <a:spcPts val="0"/>
                        </a:spcAft>
                        <a:buNone/>
                      </a:pPr>
                      <a:r>
                        <a:rPr lang="en-GB"/>
                        <a:t>Conclusions</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r h="326875">
                <a:tc>
                  <a:txBody>
                    <a:bodyPr/>
                    <a:lstStyle/>
                    <a:p>
                      <a:pPr indent="0" lvl="0" marL="0" rtl="0" algn="l">
                        <a:spcBef>
                          <a:spcPts val="0"/>
                        </a:spcBef>
                        <a:spcAft>
                          <a:spcPts val="0"/>
                        </a:spcAft>
                        <a:buNone/>
                      </a:pPr>
                      <a:r>
                        <a:rPr lang="en-GB"/>
                        <a:t>Conclusion</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rPr b="1" lang="en-GB"/>
              <a:t>Dissertation: Assessment and Feedback</a:t>
            </a:r>
            <a:endParaRPr b="1"/>
          </a:p>
        </p:txBody>
      </p:sp>
      <p:sp>
        <p:nvSpPr>
          <p:cNvPr id="140" name="Google Shape;140;p27"/>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p>
            <a:pPr indent="-190500" lvl="0" marL="177800" rtl="0" algn="l">
              <a:lnSpc>
                <a:spcPct val="90000"/>
              </a:lnSpc>
              <a:spcBef>
                <a:spcPts val="0"/>
              </a:spcBef>
              <a:spcAft>
                <a:spcPts val="0"/>
              </a:spcAft>
              <a:buSzPts val="2400"/>
              <a:buChar char="●"/>
            </a:pPr>
            <a:r>
              <a:rPr lang="en-GB" sz="2400">
                <a:solidFill>
                  <a:schemeClr val="dk1"/>
                </a:solidFill>
              </a:rPr>
              <a:t>Examined by your supervisor and the second examiner independently who will then agree on a final mark</a:t>
            </a:r>
            <a:endParaRPr sz="2400">
              <a:solidFill>
                <a:schemeClr val="dk1"/>
              </a:solidFill>
            </a:endParaRPr>
          </a:p>
          <a:p>
            <a:pPr indent="-190500" lvl="0" marL="177800" rtl="0" algn="l">
              <a:lnSpc>
                <a:spcPct val="90000"/>
              </a:lnSpc>
              <a:spcBef>
                <a:spcPts val="1000"/>
              </a:spcBef>
              <a:spcAft>
                <a:spcPts val="0"/>
              </a:spcAft>
              <a:buClr>
                <a:schemeClr val="dk1"/>
              </a:buClr>
              <a:buSzPts val="2400"/>
              <a:buChar char="●"/>
            </a:pPr>
            <a:r>
              <a:rPr lang="en-GB" sz="2400">
                <a:solidFill>
                  <a:schemeClr val="dk1"/>
                </a:solidFill>
              </a:rPr>
              <a:t>The presentation and dissertation are worth 100% of your final mark.</a:t>
            </a:r>
            <a:endParaRPr sz="2400">
              <a:solidFill>
                <a:schemeClr val="dk1"/>
              </a:solidFill>
            </a:endParaRPr>
          </a:p>
          <a:p>
            <a:pPr indent="-381000" lvl="1" marL="914400" rtl="0" algn="l">
              <a:lnSpc>
                <a:spcPct val="90000"/>
              </a:lnSpc>
              <a:spcBef>
                <a:spcPts val="1000"/>
              </a:spcBef>
              <a:spcAft>
                <a:spcPts val="0"/>
              </a:spcAft>
              <a:buClr>
                <a:schemeClr val="dk1"/>
              </a:buClr>
              <a:buSzPts val="2400"/>
              <a:buChar char="○"/>
            </a:pPr>
            <a:r>
              <a:rPr lang="en-GB" sz="2400">
                <a:solidFill>
                  <a:schemeClr val="dk1"/>
                </a:solidFill>
              </a:rPr>
              <a:t>Much of which rides on the quality of the final dissertation</a:t>
            </a:r>
            <a:endParaRPr sz="2400">
              <a:solidFill>
                <a:schemeClr val="dk1"/>
              </a:solidFill>
            </a:endParaRPr>
          </a:p>
          <a:p>
            <a:pPr indent="-381000" lvl="0" marL="457200" rtl="0" algn="l">
              <a:lnSpc>
                <a:spcPct val="90000"/>
              </a:lnSpc>
              <a:spcBef>
                <a:spcPts val="1000"/>
              </a:spcBef>
              <a:spcAft>
                <a:spcPts val="1000"/>
              </a:spcAft>
              <a:buClr>
                <a:schemeClr val="dk1"/>
              </a:buClr>
              <a:buSzPts val="2400"/>
              <a:buChar char="●"/>
            </a:pPr>
            <a:r>
              <a:rPr lang="en-GB" sz="2400">
                <a:solidFill>
                  <a:schemeClr val="dk1"/>
                </a:solidFill>
              </a:rPr>
              <a:t>Written f</a:t>
            </a:r>
            <a:r>
              <a:rPr lang="en-GB" sz="2400">
                <a:solidFill>
                  <a:schemeClr val="dk1"/>
                </a:solidFill>
              </a:rPr>
              <a:t>eedback will be provided, and possibly also additional feedback directly from your supervisor</a:t>
            </a:r>
            <a:endParaRPr sz="2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311700" y="2085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Getting the Most Out of Your</a:t>
            </a:r>
            <a:r>
              <a:rPr b="1" lang="en-GB" sz="3600">
                <a:latin typeface="Calibri"/>
                <a:ea typeface="Calibri"/>
                <a:cs typeface="Calibri"/>
                <a:sym typeface="Calibri"/>
              </a:rPr>
              <a:t> Project </a:t>
            </a:r>
            <a:endParaRPr b="1" sz="3600">
              <a:latin typeface="Calibri"/>
              <a:ea typeface="Calibri"/>
              <a:cs typeface="Calibri"/>
              <a:sym typeface="Calibri"/>
            </a:endParaRPr>
          </a:p>
        </p:txBody>
      </p:sp>
      <p:sp>
        <p:nvSpPr>
          <p:cNvPr id="146" name="Google Shape;146;p28"/>
          <p:cNvSpPr txBox="1"/>
          <p:nvPr>
            <p:ph idx="1" type="body"/>
          </p:nvPr>
        </p:nvSpPr>
        <p:spPr>
          <a:xfrm>
            <a:off x="240750" y="910300"/>
            <a:ext cx="8520600" cy="3653700"/>
          </a:xfrm>
          <a:prstGeom prst="rect">
            <a:avLst/>
          </a:prstGeom>
          <a:noFill/>
          <a:ln>
            <a:noFill/>
          </a:ln>
        </p:spPr>
        <p:txBody>
          <a:bodyPr anchorCtr="0" anchor="t" bIns="34275" lIns="68575" spcFirstLastPara="1" rIns="68575" wrap="square" tIns="34275">
            <a:noAutofit/>
          </a:bodyPr>
          <a:lstStyle/>
          <a:p>
            <a:pPr indent="-381000" lvl="0" marL="457200" rtl="0" algn="l">
              <a:spcBef>
                <a:spcPts val="0"/>
              </a:spcBef>
              <a:spcAft>
                <a:spcPts val="0"/>
              </a:spcAft>
              <a:buClr>
                <a:schemeClr val="dk1"/>
              </a:buClr>
              <a:buSzPts val="2400"/>
              <a:buChar char="●"/>
            </a:pPr>
            <a:r>
              <a:rPr lang="en-GB" sz="2400">
                <a:solidFill>
                  <a:schemeClr val="dk1"/>
                </a:solidFill>
              </a:rPr>
              <a:t>Your</a:t>
            </a:r>
            <a:r>
              <a:rPr lang="en-GB" sz="2400">
                <a:solidFill>
                  <a:schemeClr val="dk1"/>
                </a:solidFill>
              </a:rPr>
              <a:t> project will very much be </a:t>
            </a:r>
            <a:r>
              <a:rPr b="1" lang="en-GB" sz="2400">
                <a:solidFill>
                  <a:schemeClr val="dk1"/>
                </a:solidFill>
              </a:rPr>
              <a:t>what you make it</a:t>
            </a:r>
            <a:endParaRPr b="1" sz="2400">
              <a:solidFill>
                <a:schemeClr val="dk1"/>
              </a:solidFill>
            </a:endParaRPr>
          </a:p>
          <a:p>
            <a:pPr indent="-342900" lvl="1" marL="914400" rtl="0" algn="l">
              <a:spcBef>
                <a:spcPts val="0"/>
              </a:spcBef>
              <a:spcAft>
                <a:spcPts val="0"/>
              </a:spcAft>
              <a:buClr>
                <a:schemeClr val="dk1"/>
              </a:buClr>
              <a:buSzPts val="1800"/>
              <a:buChar char="○"/>
            </a:pPr>
            <a:r>
              <a:rPr lang="en-GB" sz="1800">
                <a:solidFill>
                  <a:schemeClr val="dk1"/>
                </a:solidFill>
              </a:rPr>
              <a:t>Your supervisor is a guide, but you do the work</a:t>
            </a:r>
            <a:endParaRPr sz="1800">
              <a:solidFill>
                <a:schemeClr val="dk1"/>
              </a:solidFill>
            </a:endParaRPr>
          </a:p>
          <a:p>
            <a:pPr indent="0" lvl="0" marL="914400" rtl="0" algn="l">
              <a:spcBef>
                <a:spcPts val="1000"/>
              </a:spcBef>
              <a:spcAft>
                <a:spcPts val="0"/>
              </a:spcAft>
              <a:buNone/>
            </a:pPr>
            <a:r>
              <a:t/>
            </a:r>
            <a:endParaRPr sz="900">
              <a:solidFill>
                <a:schemeClr val="dk1"/>
              </a:solidFill>
            </a:endParaRPr>
          </a:p>
          <a:p>
            <a:pPr indent="-381000" lvl="0" marL="457200" rtl="0" algn="l">
              <a:lnSpc>
                <a:spcPct val="115000"/>
              </a:lnSpc>
              <a:spcBef>
                <a:spcPts val="1000"/>
              </a:spcBef>
              <a:spcAft>
                <a:spcPts val="0"/>
              </a:spcAft>
              <a:buClr>
                <a:schemeClr val="dk1"/>
              </a:buClr>
              <a:buSzPts val="2400"/>
              <a:buChar char="●"/>
            </a:pPr>
            <a:r>
              <a:rPr lang="en-GB" sz="2400">
                <a:solidFill>
                  <a:schemeClr val="dk1"/>
                </a:solidFill>
              </a:rPr>
              <a:t>Time </a:t>
            </a:r>
            <a:r>
              <a:rPr lang="en-GB" sz="2400">
                <a:solidFill>
                  <a:schemeClr val="dk1"/>
                </a:solidFill>
              </a:rPr>
              <a:t>management</a:t>
            </a:r>
            <a:r>
              <a:rPr lang="en-GB" sz="2400">
                <a:solidFill>
                  <a:schemeClr val="dk1"/>
                </a:solidFill>
              </a:rPr>
              <a:t> is key</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Try to make steady progress and avoid leaving </a:t>
            </a:r>
            <a:r>
              <a:rPr lang="en-GB" sz="1800">
                <a:solidFill>
                  <a:schemeClr val="dk1"/>
                </a:solidFill>
              </a:rPr>
              <a:t>everything</a:t>
            </a:r>
            <a:r>
              <a:rPr lang="en-GB" sz="1800">
                <a:solidFill>
                  <a:schemeClr val="dk1"/>
                </a:solidFill>
              </a:rPr>
              <a:t> until close to the final deadline </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September is closer than you think! </a:t>
            </a:r>
            <a:endParaRPr sz="1800">
              <a:solidFill>
                <a:schemeClr val="dk1"/>
              </a:solidFill>
            </a:endParaRPr>
          </a:p>
          <a:p>
            <a:pPr indent="0" lvl="0" marL="914400" rtl="0" algn="l">
              <a:lnSpc>
                <a:spcPct val="115000"/>
              </a:lnSpc>
              <a:spcBef>
                <a:spcPts val="0"/>
              </a:spcBef>
              <a:spcAft>
                <a:spcPts val="0"/>
              </a:spcAft>
              <a:buNone/>
            </a:pPr>
            <a:r>
              <a:t/>
            </a:r>
            <a:endParaRPr sz="900">
              <a:solidFill>
                <a:schemeClr val="dk1"/>
              </a:solidFill>
            </a:endParaRPr>
          </a:p>
          <a:p>
            <a:pPr indent="-381000" lvl="0" marL="457200" rtl="0" algn="l">
              <a:lnSpc>
                <a:spcPct val="115000"/>
              </a:lnSpc>
              <a:spcBef>
                <a:spcPts val="0"/>
              </a:spcBef>
              <a:spcAft>
                <a:spcPts val="0"/>
              </a:spcAft>
              <a:buClr>
                <a:schemeClr val="dk1"/>
              </a:buClr>
              <a:buSzPts val="2400"/>
              <a:buChar char="●"/>
            </a:pPr>
            <a:r>
              <a:rPr lang="en-GB" sz="2400">
                <a:solidFill>
                  <a:schemeClr val="dk1"/>
                </a:solidFill>
              </a:rPr>
              <a:t>Be organised </a:t>
            </a:r>
            <a:endParaRPr sz="2400">
              <a:solidFill>
                <a:schemeClr val="dk1"/>
              </a:solidFill>
            </a:endParaRPr>
          </a:p>
          <a:p>
            <a:pPr indent="-342900" lvl="1" marL="914400" rtl="0" algn="l">
              <a:spcBef>
                <a:spcPts val="0"/>
              </a:spcBef>
              <a:spcAft>
                <a:spcPts val="0"/>
              </a:spcAft>
              <a:buClr>
                <a:schemeClr val="dk1"/>
              </a:buClr>
              <a:buSzPts val="1800"/>
              <a:buChar char="○"/>
            </a:pPr>
            <a:r>
              <a:rPr lang="en-GB" sz="1800">
                <a:solidFill>
                  <a:schemeClr val="dk1"/>
                </a:solidFill>
              </a:rPr>
              <a:t>Use your knowledge of project management techniques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GB" sz="1800">
                <a:solidFill>
                  <a:schemeClr val="dk1"/>
                </a:solidFill>
              </a:rPr>
              <a:t>Keep </a:t>
            </a:r>
            <a:r>
              <a:rPr lang="en-GB" sz="1800">
                <a:solidFill>
                  <a:schemeClr val="dk1"/>
                </a:solidFill>
              </a:rPr>
              <a:t>notes, e.g. reading, meetings with supervisor</a:t>
            </a:r>
            <a:endParaRPr sz="1800">
              <a:solidFill>
                <a:schemeClr val="dk1"/>
              </a:solidFill>
            </a:endParaRPr>
          </a:p>
          <a:p>
            <a:pPr indent="-342900" lvl="1" marL="914400" rtl="0" algn="l">
              <a:spcBef>
                <a:spcPts val="0"/>
              </a:spcBef>
              <a:spcAft>
                <a:spcPts val="0"/>
              </a:spcAft>
              <a:buClr>
                <a:schemeClr val="dk1"/>
              </a:buClr>
              <a:buSzPts val="1800"/>
              <a:buChar char="○"/>
            </a:pPr>
            <a:r>
              <a:rPr lang="en-GB" sz="1800">
                <a:solidFill>
                  <a:schemeClr val="dk1"/>
                </a:solidFill>
              </a:rPr>
              <a:t>Have a plan and stick to it. Know what you’ll do if it doesn’t work. </a:t>
            </a:r>
            <a:endParaRPr sz="1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9"/>
          <p:cNvSpPr txBox="1"/>
          <p:nvPr>
            <p:ph type="title"/>
          </p:nvPr>
        </p:nvSpPr>
        <p:spPr>
          <a:xfrm>
            <a:off x="311700" y="213425"/>
            <a:ext cx="8520600" cy="572700"/>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3600"/>
              <a:buFont typeface="Calibri"/>
              <a:buNone/>
            </a:pPr>
            <a:r>
              <a:rPr b="1" lang="en-GB" sz="3600">
                <a:latin typeface="Calibri"/>
                <a:ea typeface="Calibri"/>
                <a:cs typeface="Calibri"/>
                <a:sym typeface="Calibri"/>
              </a:rPr>
              <a:t>Relationship with Your Supervisor</a:t>
            </a:r>
            <a:endParaRPr b="1" sz="3600">
              <a:latin typeface="Calibri"/>
              <a:ea typeface="Calibri"/>
              <a:cs typeface="Calibri"/>
              <a:sym typeface="Calibri"/>
            </a:endParaRPr>
          </a:p>
        </p:txBody>
      </p:sp>
      <p:sp>
        <p:nvSpPr>
          <p:cNvPr id="152" name="Google Shape;152;p29"/>
          <p:cNvSpPr txBox="1"/>
          <p:nvPr>
            <p:ph idx="1" type="body"/>
          </p:nvPr>
        </p:nvSpPr>
        <p:spPr>
          <a:xfrm>
            <a:off x="187650" y="964750"/>
            <a:ext cx="8768700" cy="3996000"/>
          </a:xfrm>
          <a:prstGeom prst="rect">
            <a:avLst/>
          </a:prstGeom>
          <a:noFill/>
          <a:ln>
            <a:noFill/>
          </a:ln>
        </p:spPr>
        <p:txBody>
          <a:bodyPr anchorCtr="0" anchor="t" bIns="34275" lIns="68575" spcFirstLastPara="1" rIns="68575" wrap="square" tIns="34275">
            <a:normAutofit/>
          </a:bodyPr>
          <a:lstStyle/>
          <a:p>
            <a:pPr indent="-342900" lvl="0" marL="457200" rtl="0" algn="l">
              <a:lnSpc>
                <a:spcPct val="115000"/>
              </a:lnSpc>
              <a:spcBef>
                <a:spcPts val="0"/>
              </a:spcBef>
              <a:spcAft>
                <a:spcPts val="0"/>
              </a:spcAft>
              <a:buClr>
                <a:schemeClr val="dk1"/>
              </a:buClr>
              <a:buSzPts val="1800"/>
              <a:buChar char="●"/>
            </a:pPr>
            <a:r>
              <a:rPr lang="en-GB">
                <a:solidFill>
                  <a:schemeClr val="dk1"/>
                </a:solidFill>
              </a:rPr>
              <a:t>Important to establish a good working relationship with your supervisor  </a:t>
            </a:r>
            <a:endParaRPr>
              <a:solidFill>
                <a:schemeClr val="dk1"/>
              </a:solidFill>
            </a:endParaRPr>
          </a:p>
          <a:p>
            <a:pPr indent="-342900" lvl="0" marL="457200" rtl="0" algn="l">
              <a:lnSpc>
                <a:spcPct val="115000"/>
              </a:lnSpc>
              <a:spcBef>
                <a:spcPts val="1000"/>
              </a:spcBef>
              <a:spcAft>
                <a:spcPts val="0"/>
              </a:spcAft>
              <a:buClr>
                <a:schemeClr val="dk1"/>
              </a:buClr>
              <a:buSzPts val="1800"/>
              <a:buChar char="●"/>
            </a:pPr>
            <a:r>
              <a:rPr lang="en-GB">
                <a:solidFill>
                  <a:schemeClr val="dk1"/>
                </a:solidFill>
              </a:rPr>
              <a:t>Supervisors have different styles - good to set expectations early</a:t>
            </a:r>
            <a:endParaRPr>
              <a:solidFill>
                <a:schemeClr val="dk1"/>
              </a:solidFill>
            </a:endParaRPr>
          </a:p>
          <a:p>
            <a:pPr indent="-342900" lvl="0" marL="457200" rtl="0" algn="l">
              <a:lnSpc>
                <a:spcPct val="115000"/>
              </a:lnSpc>
              <a:spcBef>
                <a:spcPts val="1000"/>
              </a:spcBef>
              <a:spcAft>
                <a:spcPts val="0"/>
              </a:spcAft>
              <a:buClr>
                <a:schemeClr val="dk1"/>
              </a:buClr>
              <a:buSzPts val="1800"/>
              <a:buChar char="●"/>
            </a:pPr>
            <a:r>
              <a:rPr lang="en-GB">
                <a:solidFill>
                  <a:schemeClr val="dk1"/>
                </a:solidFill>
              </a:rPr>
              <a:t>Agree on meeting frequency</a:t>
            </a:r>
            <a:endParaRPr>
              <a:solidFill>
                <a:schemeClr val="dk1"/>
              </a:solidFill>
            </a:endParaRPr>
          </a:p>
          <a:p>
            <a:pPr indent="-330200" lvl="1" marL="914400" rtl="0" algn="l">
              <a:lnSpc>
                <a:spcPct val="115000"/>
              </a:lnSpc>
              <a:spcBef>
                <a:spcPts val="1000"/>
              </a:spcBef>
              <a:spcAft>
                <a:spcPts val="0"/>
              </a:spcAft>
              <a:buClr>
                <a:schemeClr val="dk1"/>
              </a:buClr>
              <a:buSzPts val="1600"/>
              <a:buChar char="○"/>
            </a:pPr>
            <a:r>
              <a:rPr lang="en-GB" sz="1600">
                <a:solidFill>
                  <a:schemeClr val="dk1"/>
                </a:solidFill>
              </a:rPr>
              <a:t>Default expectation is for 30 mins per fortnight (but may vary)</a:t>
            </a:r>
            <a:endParaRPr sz="1600">
              <a:solidFill>
                <a:schemeClr val="dk1"/>
              </a:solidFill>
            </a:endParaRPr>
          </a:p>
          <a:p>
            <a:pPr indent="-330200" lvl="1" marL="914400" rtl="0" algn="l">
              <a:lnSpc>
                <a:spcPct val="115000"/>
              </a:lnSpc>
              <a:spcBef>
                <a:spcPts val="1000"/>
              </a:spcBef>
              <a:spcAft>
                <a:spcPts val="0"/>
              </a:spcAft>
              <a:buClr>
                <a:schemeClr val="dk1"/>
              </a:buClr>
              <a:buSzPts val="1600"/>
              <a:buChar char="○"/>
            </a:pPr>
            <a:r>
              <a:rPr lang="en-GB" sz="1600">
                <a:solidFill>
                  <a:schemeClr val="dk1"/>
                </a:solidFill>
              </a:rPr>
              <a:t>Attend meetings as agreed, avoid being early/late/absent without warning (applies to both sides!) </a:t>
            </a:r>
            <a:endParaRPr sz="1600">
              <a:solidFill>
                <a:schemeClr val="dk1"/>
              </a:solidFill>
            </a:endParaRPr>
          </a:p>
          <a:p>
            <a:pPr indent="-342900" lvl="0" marL="457200" rtl="0" algn="l">
              <a:lnSpc>
                <a:spcPct val="115000"/>
              </a:lnSpc>
              <a:spcBef>
                <a:spcPts val="1000"/>
              </a:spcBef>
              <a:spcAft>
                <a:spcPts val="0"/>
              </a:spcAft>
              <a:buClr>
                <a:schemeClr val="dk1"/>
              </a:buClr>
              <a:buSzPts val="1800"/>
              <a:buChar char="●"/>
            </a:pPr>
            <a:r>
              <a:rPr lang="en-GB">
                <a:solidFill>
                  <a:schemeClr val="dk1"/>
                </a:solidFill>
              </a:rPr>
              <a:t>Your supervisor can provide feedback on written work</a:t>
            </a:r>
            <a:endParaRPr>
              <a:solidFill>
                <a:schemeClr val="dk1"/>
              </a:solidFill>
            </a:endParaRPr>
          </a:p>
          <a:p>
            <a:pPr indent="-330200" lvl="1" marL="914400" rtl="0" algn="l">
              <a:lnSpc>
                <a:spcPct val="115000"/>
              </a:lnSpc>
              <a:spcBef>
                <a:spcPts val="1000"/>
              </a:spcBef>
              <a:spcAft>
                <a:spcPts val="0"/>
              </a:spcAft>
              <a:buClr>
                <a:schemeClr val="dk1"/>
              </a:buClr>
              <a:buSzPts val="1600"/>
              <a:buChar char="○"/>
            </a:pPr>
            <a:r>
              <a:rPr lang="en-GB" sz="1600">
                <a:solidFill>
                  <a:schemeClr val="dk1"/>
                </a:solidFill>
              </a:rPr>
              <a:t>Ensure you give them a reasonable amount of time to read and comment</a:t>
            </a:r>
            <a:endParaRPr sz="1600">
              <a:solidFill>
                <a:schemeClr val="dk1"/>
              </a:solidFill>
            </a:endParaRPr>
          </a:p>
          <a:p>
            <a:pPr indent="-330200" lvl="1" marL="914400" rtl="0" algn="l">
              <a:lnSpc>
                <a:spcPct val="115000"/>
              </a:lnSpc>
              <a:spcBef>
                <a:spcPts val="1000"/>
              </a:spcBef>
              <a:spcAft>
                <a:spcPts val="1000"/>
              </a:spcAft>
              <a:buClr>
                <a:schemeClr val="dk1"/>
              </a:buClr>
              <a:buSzPts val="1600"/>
              <a:buChar char="○"/>
            </a:pPr>
            <a:r>
              <a:rPr lang="en-GB" sz="1600">
                <a:solidFill>
                  <a:schemeClr val="dk1"/>
                </a:solidFill>
              </a:rPr>
              <a:t>They are not a proof reader or English teacher.</a:t>
            </a:r>
            <a:endParaRPr sz="16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